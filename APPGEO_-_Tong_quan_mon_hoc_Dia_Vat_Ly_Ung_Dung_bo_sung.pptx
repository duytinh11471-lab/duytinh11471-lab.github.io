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12192000"/>
  <p:notesSz cx="6858000" cy="9144000"/>
  <p:embeddedFontLst>
    <p:embeddedFont>
      <p:font typeface="Arimo"/>
      <p:regular r:id="rId41"/>
      <p:bold r:id="rId42"/>
      <p:italic r:id="rId43"/>
      <p:boldItalic r:id="rId44"/>
    </p:embeddedFont>
    <p:embeddedFont>
      <p:font typeface="Tahoma"/>
      <p:regular r:id="rId45"/>
      <p:bold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34ADD44-C0DA-4FB1-B19D-C19CBA4B34DB}">
  <a:tblStyle styleId="{734ADD44-C0DA-4FB1-B19D-C19CBA4B34DB}"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34895A6-C1AE-4BC2-889E-3C33AFCB4900}"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AF6FF"/>
          </a:solidFill>
        </a:fill>
      </a:tcStyle>
    </a:wholeTbl>
    <a:band1H>
      <a:tcTxStyle/>
      <a:tcStyle>
        <a:fill>
          <a:solidFill>
            <a:srgbClr val="D2ECFF"/>
          </a:solidFill>
        </a:fill>
      </a:tcStyle>
    </a:band1H>
    <a:band2H>
      <a:tcTxStyle/>
    </a:band2H>
    <a:band1V>
      <a:tcTxStyle/>
      <a:tcStyle>
        <a:fill>
          <a:solidFill>
            <a:srgbClr val="D2ECFF"/>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Arimo-bold.fntdata"/><Relationship Id="rId41" Type="http://schemas.openxmlformats.org/officeDocument/2006/relationships/font" Target="fonts/Arimo-regular.fntdata"/><Relationship Id="rId22" Type="http://schemas.openxmlformats.org/officeDocument/2006/relationships/slide" Target="slides/slide17.xml"/><Relationship Id="rId44" Type="http://schemas.openxmlformats.org/officeDocument/2006/relationships/font" Target="fonts/Arimo-boldItalic.fntdata"/><Relationship Id="rId21" Type="http://schemas.openxmlformats.org/officeDocument/2006/relationships/slide" Target="slides/slide16.xml"/><Relationship Id="rId43" Type="http://schemas.openxmlformats.org/officeDocument/2006/relationships/font" Target="fonts/Arimo-italic.fntdata"/><Relationship Id="rId24" Type="http://schemas.openxmlformats.org/officeDocument/2006/relationships/slide" Target="slides/slide19.xml"/><Relationship Id="rId46" Type="http://schemas.openxmlformats.org/officeDocument/2006/relationships/font" Target="fonts/Tahoma-bold.fntdata"/><Relationship Id="rId23" Type="http://schemas.openxmlformats.org/officeDocument/2006/relationships/slide" Target="slides/slide18.xml"/><Relationship Id="rId45" Type="http://schemas.openxmlformats.org/officeDocument/2006/relationships/font" Target="fonts/Tahoma-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vi-V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5" name="Google Shape;4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vi-V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16" name="Shape 16"/>
        <p:cNvGrpSpPr/>
        <p:nvPr/>
      </p:nvGrpSpPr>
      <p:grpSpPr>
        <a:xfrm>
          <a:off x="0" y="0"/>
          <a:ext cx="0" cy="0"/>
          <a:chOff x="0" y="0"/>
          <a:chExt cx="0" cy="0"/>
        </a:xfrm>
      </p:grpSpPr>
      <p:pic>
        <p:nvPicPr>
          <p:cNvPr descr="logoBan.png" id="17" name="Google Shape;17;p2"/>
          <p:cNvPicPr preferRelativeResize="0"/>
          <p:nvPr/>
        </p:nvPicPr>
        <p:blipFill rotWithShape="1">
          <a:blip r:embed="rId2">
            <a:alphaModFix/>
          </a:blip>
          <a:srcRect b="0" l="0" r="0" t="0"/>
          <a:stretch/>
        </p:blipFill>
        <p:spPr>
          <a:xfrm>
            <a:off x="203201" y="152400"/>
            <a:ext cx="908051" cy="990600"/>
          </a:xfrm>
          <a:prstGeom prst="rect">
            <a:avLst/>
          </a:prstGeom>
          <a:noFill/>
          <a:ln>
            <a:noFill/>
          </a:ln>
          <a:effectLst>
            <a:outerShdw blurRad="50800" rotWithShape="0" algn="tl" dir="2700000" dist="38100">
              <a:srgbClr val="000000">
                <a:alpha val="40000"/>
              </a:srgbClr>
            </a:outerShdw>
          </a:effectLst>
        </p:spPr>
      </p:pic>
      <p:sp>
        <p:nvSpPr>
          <p:cNvPr id="18" name="Google Shape;18;p2"/>
          <p:cNvSpPr txBox="1"/>
          <p:nvPr>
            <p:ph type="ctrTitle"/>
          </p:nvPr>
        </p:nvSpPr>
        <p:spPr>
          <a:xfrm>
            <a:off x="1524000" y="1371600"/>
            <a:ext cx="9144000" cy="1447800"/>
          </a:xfrm>
          <a:prstGeom prst="rect">
            <a:avLst/>
          </a:prstGeom>
          <a:noFill/>
          <a:ln>
            <a:noFill/>
          </a:ln>
        </p:spPr>
        <p:txBody>
          <a:bodyPr anchorCtr="0" anchor="t" bIns="46025" lIns="92075" spcFirstLastPara="1" rIns="92075" wrap="square" tIns="46025">
            <a:normAutofit/>
          </a:bodyPr>
          <a:lstStyle>
            <a:lvl1pPr lvl="0" algn="r">
              <a:spcBef>
                <a:spcPts val="0"/>
              </a:spcBef>
              <a:spcAft>
                <a:spcPts val="0"/>
              </a:spcAft>
              <a:buSzPts val="1400"/>
              <a:buNone/>
              <a:defRPr b="1" sz="4400">
                <a:solidFill>
                  <a:srgbClr val="0070C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9" name="Google Shape;19;p2"/>
          <p:cNvSpPr txBox="1"/>
          <p:nvPr>
            <p:ph idx="1" type="subTitle"/>
          </p:nvPr>
        </p:nvSpPr>
        <p:spPr>
          <a:xfrm>
            <a:off x="1625600" y="4114800"/>
            <a:ext cx="9144000" cy="990600"/>
          </a:xfrm>
          <a:prstGeom prst="rect">
            <a:avLst/>
          </a:prstGeom>
          <a:noFill/>
          <a:ln>
            <a:noFill/>
          </a:ln>
        </p:spPr>
        <p:txBody>
          <a:bodyPr anchorCtr="0" anchor="t" bIns="46025" lIns="0" spcFirstLastPara="1" rIns="0" wrap="square" tIns="46025">
            <a:noAutofit/>
          </a:bodyPr>
          <a:lstStyle>
            <a:lvl1pPr lvl="0" algn="r">
              <a:lnSpc>
                <a:spcPct val="120000"/>
              </a:lnSpc>
              <a:spcBef>
                <a:spcPts val="0"/>
              </a:spcBef>
              <a:spcAft>
                <a:spcPts val="0"/>
              </a:spcAft>
              <a:buSzPts val="1800"/>
              <a:buNone/>
              <a:defRPr sz="2000">
                <a:solidFill>
                  <a:srgbClr val="0070C0"/>
                </a:solidFill>
                <a:latin typeface="Tahoma"/>
                <a:ea typeface="Tahoma"/>
                <a:cs typeface="Tahoma"/>
                <a:sym typeface="Tahoma"/>
              </a:defRPr>
            </a:lvl1pPr>
            <a:lvl2pPr lvl="1" algn="ctr">
              <a:lnSpc>
                <a:spcPct val="120000"/>
              </a:lnSpc>
              <a:spcBef>
                <a:spcPts val="600"/>
              </a:spcBef>
              <a:spcAft>
                <a:spcPts val="0"/>
              </a:spcAft>
              <a:buSzPts val="1800"/>
              <a:buNone/>
              <a:defRPr/>
            </a:lvl2pPr>
            <a:lvl3pPr lvl="2" algn="ctr">
              <a:lnSpc>
                <a:spcPct val="120000"/>
              </a:lnSpc>
              <a:spcBef>
                <a:spcPts val="600"/>
              </a:spcBef>
              <a:spcAft>
                <a:spcPts val="0"/>
              </a:spcAft>
              <a:buSzPts val="1440"/>
              <a:buNone/>
              <a:defRPr/>
            </a:lvl3pPr>
            <a:lvl4pPr lvl="3" algn="ctr">
              <a:lnSpc>
                <a:spcPct val="120000"/>
              </a:lnSpc>
              <a:spcBef>
                <a:spcPts val="600"/>
              </a:spcBef>
              <a:spcAft>
                <a:spcPts val="0"/>
              </a:spcAft>
              <a:buSzPts val="1440"/>
              <a:buNone/>
              <a:defRPr/>
            </a:lvl4pPr>
            <a:lvl5pPr lvl="4" algn="ctr">
              <a:spcBef>
                <a:spcPts val="600"/>
              </a:spcBef>
              <a:spcAft>
                <a:spcPts val="0"/>
              </a:spcAft>
              <a:buSzPts val="1800"/>
              <a:buNone/>
              <a:defRPr/>
            </a:lvl5pPr>
            <a:lvl6pPr lvl="5" algn="ctr">
              <a:lnSpc>
                <a:spcPct val="90000"/>
              </a:lnSpc>
              <a:spcBef>
                <a:spcPts val="500"/>
              </a:spcBef>
              <a:spcAft>
                <a:spcPts val="0"/>
              </a:spcAft>
              <a:buClr>
                <a:schemeClr val="dk1"/>
              </a:buClr>
              <a:buSzPts val="1800"/>
              <a:buNone/>
              <a:defRPr/>
            </a:lvl6pPr>
            <a:lvl7pPr lvl="6" algn="ctr">
              <a:lnSpc>
                <a:spcPct val="90000"/>
              </a:lnSpc>
              <a:spcBef>
                <a:spcPts val="500"/>
              </a:spcBef>
              <a:spcAft>
                <a:spcPts val="0"/>
              </a:spcAft>
              <a:buClr>
                <a:schemeClr val="dk1"/>
              </a:buClr>
              <a:buSzPts val="1800"/>
              <a:buNone/>
              <a:defRPr/>
            </a:lvl7pPr>
            <a:lvl8pPr lvl="7" algn="ctr">
              <a:lnSpc>
                <a:spcPct val="90000"/>
              </a:lnSpc>
              <a:spcBef>
                <a:spcPts val="500"/>
              </a:spcBef>
              <a:spcAft>
                <a:spcPts val="0"/>
              </a:spcAft>
              <a:buClr>
                <a:schemeClr val="dk1"/>
              </a:buClr>
              <a:buSzPts val="1800"/>
              <a:buNone/>
              <a:defRPr/>
            </a:lvl8pPr>
            <a:lvl9pPr lvl="8" algn="ctr">
              <a:lnSpc>
                <a:spcPct val="90000"/>
              </a:lnSpc>
              <a:spcBef>
                <a:spcPts val="500"/>
              </a:spcBef>
              <a:spcAft>
                <a:spcPts val="0"/>
              </a:spcAft>
              <a:buClr>
                <a:schemeClr val="dk1"/>
              </a:buClr>
              <a:buSzPts val="1800"/>
              <a:buNone/>
              <a:defRPr/>
            </a:lvl9pPr>
          </a:lstStyle>
          <a:p/>
        </p:txBody>
      </p:sp>
    </p:spTree>
  </p:cSld>
  <p:clrMapOvr>
    <a:masterClrMapping/>
  </p:clrMapOvr>
  <p:transition spd="slow">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1727200" y="-42863"/>
            <a:ext cx="9907880" cy="692151"/>
          </a:xfrm>
          <a:prstGeom prst="rect">
            <a:avLst/>
          </a:prstGeom>
          <a:noFill/>
          <a:ln>
            <a:noFill/>
          </a:ln>
        </p:spPr>
        <p:txBody>
          <a:bodyPr anchorCtr="0" anchor="ctr" bIns="46025" lIns="92075" spcFirstLastPara="1" rIns="92075" wrap="square" tIns="46025">
            <a:noAutofit/>
          </a:bodyPr>
          <a:lstStyle>
            <a:lvl1pPr lvl="0" algn="r">
              <a:spcBef>
                <a:spcPts val="0"/>
              </a:spcBef>
              <a:spcAft>
                <a:spcPts val="0"/>
              </a:spcAft>
              <a:buSzPts val="1400"/>
              <a:buNone/>
              <a:defRPr>
                <a:solidFill>
                  <a:srgbClr val="24488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22" name="Google Shape;22;p3"/>
          <p:cNvSpPr txBox="1"/>
          <p:nvPr>
            <p:ph idx="1" type="body"/>
          </p:nvPr>
        </p:nvSpPr>
        <p:spPr>
          <a:xfrm>
            <a:off x="527057" y="1066800"/>
            <a:ext cx="11338983" cy="5410200"/>
          </a:xfrm>
          <a:prstGeom prst="rect">
            <a:avLst/>
          </a:prstGeom>
          <a:noFill/>
          <a:ln>
            <a:noFill/>
          </a:ln>
        </p:spPr>
        <p:txBody>
          <a:bodyPr anchorCtr="0" anchor="t" bIns="46025" lIns="0" spcFirstLastPara="1" rIns="0" wrap="square" tIns="46025">
            <a:noAutofit/>
          </a:bodyPr>
          <a:lstStyle>
            <a:lvl1pPr indent="-388620" lvl="0" marL="457200" algn="l">
              <a:lnSpc>
                <a:spcPct val="120000"/>
              </a:lnSpc>
              <a:spcBef>
                <a:spcPts val="0"/>
              </a:spcBef>
              <a:spcAft>
                <a:spcPts val="0"/>
              </a:spcAft>
              <a:buSzPts val="2520"/>
              <a:buChar char="❖"/>
              <a:defRPr/>
            </a:lvl1pPr>
            <a:lvl2pPr indent="-381000" lvl="1" marL="914400" algn="just">
              <a:lnSpc>
                <a:spcPct val="120000"/>
              </a:lnSpc>
              <a:spcBef>
                <a:spcPts val="600"/>
              </a:spcBef>
              <a:spcAft>
                <a:spcPts val="0"/>
              </a:spcAft>
              <a:buSzPts val="2400"/>
              <a:buChar char="▪"/>
              <a:defRPr/>
            </a:lvl2pPr>
            <a:lvl3pPr indent="-330200" lvl="2" marL="1371600" algn="just">
              <a:lnSpc>
                <a:spcPct val="120000"/>
              </a:lnSpc>
              <a:spcBef>
                <a:spcPts val="600"/>
              </a:spcBef>
              <a:spcAft>
                <a:spcPts val="0"/>
              </a:spcAft>
              <a:buSzPts val="1600"/>
              <a:buChar char="−"/>
              <a:defRPr/>
            </a:lvl3pPr>
            <a:lvl4pPr indent="-330200" lvl="3" marL="1828800" algn="just">
              <a:lnSpc>
                <a:spcPct val="120000"/>
              </a:lnSpc>
              <a:spcBef>
                <a:spcPts val="600"/>
              </a:spcBef>
              <a:spcAft>
                <a:spcPts val="0"/>
              </a:spcAft>
              <a:buSzPts val="1600"/>
              <a:buChar char="✔"/>
              <a:defRPr/>
            </a:lvl4pPr>
            <a:lvl5pPr indent="-330200" lvl="4" marL="2286000" algn="l">
              <a:lnSpc>
                <a:spcPct val="120000"/>
              </a:lnSpc>
              <a:spcBef>
                <a:spcPts val="600"/>
              </a:spcBef>
              <a:spcAft>
                <a:spcPts val="0"/>
              </a:spcAft>
              <a:buSzPts val="1600"/>
              <a:buFont typeface="Arimo"/>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2" type="sldNum"/>
          </p:nvPr>
        </p:nvSpPr>
        <p:spPr>
          <a:xfrm>
            <a:off x="11231857" y="6583372"/>
            <a:ext cx="806451" cy="311149"/>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b="0" i="0" sz="1400" u="none" cap="none" strike="noStrike">
                <a:solidFill>
                  <a:srgbClr val="336699"/>
                </a:solidFill>
                <a:latin typeface="Arial"/>
                <a:ea typeface="Arial"/>
                <a:cs typeface="Arial"/>
                <a:sym typeface="Arial"/>
              </a:defRPr>
            </a:lvl1pPr>
            <a:lvl2pPr indent="0" lvl="1" marL="0" marR="0" rtl="0" algn="ctr">
              <a:spcBef>
                <a:spcPts val="0"/>
              </a:spcBef>
              <a:buNone/>
              <a:defRPr b="0" i="0" sz="1400" u="none" cap="none" strike="noStrike">
                <a:solidFill>
                  <a:srgbClr val="336699"/>
                </a:solidFill>
                <a:latin typeface="Arial"/>
                <a:ea typeface="Arial"/>
                <a:cs typeface="Arial"/>
                <a:sym typeface="Arial"/>
              </a:defRPr>
            </a:lvl2pPr>
            <a:lvl3pPr indent="0" lvl="2" marL="0" marR="0" rtl="0" algn="ctr">
              <a:spcBef>
                <a:spcPts val="0"/>
              </a:spcBef>
              <a:buNone/>
              <a:defRPr b="0" i="0" sz="1400" u="none" cap="none" strike="noStrike">
                <a:solidFill>
                  <a:srgbClr val="336699"/>
                </a:solidFill>
                <a:latin typeface="Arial"/>
                <a:ea typeface="Arial"/>
                <a:cs typeface="Arial"/>
                <a:sym typeface="Arial"/>
              </a:defRPr>
            </a:lvl3pPr>
            <a:lvl4pPr indent="0" lvl="3" marL="0" marR="0" rtl="0" algn="ctr">
              <a:spcBef>
                <a:spcPts val="0"/>
              </a:spcBef>
              <a:buNone/>
              <a:defRPr b="0" i="0" sz="1400" u="none" cap="none" strike="noStrike">
                <a:solidFill>
                  <a:srgbClr val="336699"/>
                </a:solidFill>
                <a:latin typeface="Arial"/>
                <a:ea typeface="Arial"/>
                <a:cs typeface="Arial"/>
                <a:sym typeface="Arial"/>
              </a:defRPr>
            </a:lvl4pPr>
            <a:lvl5pPr indent="0" lvl="4" marL="0" marR="0" rtl="0" algn="ctr">
              <a:spcBef>
                <a:spcPts val="0"/>
              </a:spcBef>
              <a:buNone/>
              <a:defRPr b="0" i="0" sz="1400" u="none" cap="none" strike="noStrike">
                <a:solidFill>
                  <a:srgbClr val="336699"/>
                </a:solidFill>
                <a:latin typeface="Arial"/>
                <a:ea typeface="Arial"/>
                <a:cs typeface="Arial"/>
                <a:sym typeface="Arial"/>
              </a:defRPr>
            </a:lvl5pPr>
            <a:lvl6pPr indent="0" lvl="5" marL="0" marR="0" rtl="0" algn="ctr">
              <a:spcBef>
                <a:spcPts val="0"/>
              </a:spcBef>
              <a:buNone/>
              <a:defRPr b="0" i="0" sz="1400" u="none" cap="none" strike="noStrike">
                <a:solidFill>
                  <a:srgbClr val="336699"/>
                </a:solidFill>
                <a:latin typeface="Arial"/>
                <a:ea typeface="Arial"/>
                <a:cs typeface="Arial"/>
                <a:sym typeface="Arial"/>
              </a:defRPr>
            </a:lvl6pPr>
            <a:lvl7pPr indent="0" lvl="6" marL="0" marR="0" rtl="0" algn="ctr">
              <a:spcBef>
                <a:spcPts val="0"/>
              </a:spcBef>
              <a:buNone/>
              <a:defRPr b="0" i="0" sz="1400" u="none" cap="none" strike="noStrike">
                <a:solidFill>
                  <a:srgbClr val="336699"/>
                </a:solidFill>
                <a:latin typeface="Arial"/>
                <a:ea typeface="Arial"/>
                <a:cs typeface="Arial"/>
                <a:sym typeface="Arial"/>
              </a:defRPr>
            </a:lvl7pPr>
            <a:lvl8pPr indent="0" lvl="7" marL="0" marR="0" rtl="0" algn="ctr">
              <a:spcBef>
                <a:spcPts val="0"/>
              </a:spcBef>
              <a:buNone/>
              <a:defRPr b="0" i="0" sz="1400" u="none" cap="none" strike="noStrike">
                <a:solidFill>
                  <a:srgbClr val="336699"/>
                </a:solidFill>
                <a:latin typeface="Arial"/>
                <a:ea typeface="Arial"/>
                <a:cs typeface="Arial"/>
                <a:sym typeface="Arial"/>
              </a:defRPr>
            </a:lvl8pPr>
            <a:lvl9pPr indent="0" lvl="8" marL="0" marR="0" rtl="0" algn="ctr">
              <a:spcBef>
                <a:spcPts val="0"/>
              </a:spcBef>
              <a:buNone/>
              <a:defRPr b="0" i="0" sz="1400" u="none" cap="none" strike="noStrike">
                <a:solidFill>
                  <a:srgbClr val="336699"/>
                </a:solidFill>
                <a:latin typeface="Arial"/>
                <a:ea typeface="Arial"/>
                <a:cs typeface="Arial"/>
                <a:sym typeface="Arial"/>
              </a:defRPr>
            </a:lvl9pPr>
          </a:lstStyle>
          <a:p>
            <a:pPr indent="0" lvl="0" marL="0" rtl="0" algn="ctr">
              <a:spcBef>
                <a:spcPts val="0"/>
              </a:spcBef>
              <a:spcAft>
                <a:spcPts val="0"/>
              </a:spcAft>
              <a:buNone/>
            </a:pPr>
            <a:r>
              <a:rPr lang="vi-VN"/>
              <a:t> </a:t>
            </a:r>
            <a:fld id="{00000000-1234-1234-1234-123412341234}" type="slidenum">
              <a:rPr lang="vi-VN"/>
              <a:t>‹#›</a:t>
            </a:fld>
            <a:endParaRPr/>
          </a:p>
        </p:txBody>
      </p:sp>
    </p:spTree>
  </p:cSld>
  <p:clrMapOvr>
    <a:masterClrMapping/>
  </p:clrMapOvr>
  <p:transition spd="slow">
    <p:fade thruBlk="1"/>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pic>
        <p:nvPicPr>
          <p:cNvPr id="26" name="Google Shape;26;p5"/>
          <p:cNvPicPr preferRelativeResize="0"/>
          <p:nvPr/>
        </p:nvPicPr>
        <p:blipFill rotWithShape="1">
          <a:blip r:embed="rId2">
            <a:alphaModFix/>
          </a:blip>
          <a:srcRect b="53872" l="20000" r="39250" t="19442"/>
          <a:stretch/>
        </p:blipFill>
        <p:spPr>
          <a:xfrm>
            <a:off x="2641600" y="2133601"/>
            <a:ext cx="6624285" cy="2301228"/>
          </a:xfrm>
          <a:prstGeom prst="rect">
            <a:avLst/>
          </a:prstGeom>
          <a:noFill/>
          <a:ln>
            <a:noFill/>
          </a:ln>
        </p:spPr>
      </p:pic>
      <p:cxnSp>
        <p:nvCxnSpPr>
          <p:cNvPr id="27" name="Google Shape;27;p5"/>
          <p:cNvCxnSpPr/>
          <p:nvPr/>
        </p:nvCxnSpPr>
        <p:spPr>
          <a:xfrm>
            <a:off x="6710439" y="5257800"/>
            <a:ext cx="4787900" cy="0"/>
          </a:xfrm>
          <a:prstGeom prst="straightConnector1">
            <a:avLst/>
          </a:prstGeom>
          <a:noFill/>
          <a:ln cap="flat" cmpd="thickThin" w="57150">
            <a:solidFill>
              <a:srgbClr val="0087CB"/>
            </a:solidFill>
            <a:prstDash val="solid"/>
            <a:round/>
            <a:headEnd len="med" w="med" type="none"/>
            <a:tailEnd len="med" w="med" type="none"/>
          </a:ln>
        </p:spPr>
      </p:cxnSp>
      <p:sp>
        <p:nvSpPr>
          <p:cNvPr id="28" name="Google Shape;28;p5"/>
          <p:cNvSpPr/>
          <p:nvPr/>
        </p:nvSpPr>
        <p:spPr>
          <a:xfrm>
            <a:off x="2475077" y="153081"/>
            <a:ext cx="7922683" cy="85566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400"/>
              <a:buFont typeface="Tahoma"/>
              <a:buNone/>
            </a:pPr>
            <a:r>
              <a:rPr b="0" i="0" lang="vi-VN" sz="2400" u="none" cap="none" strike="noStrike">
                <a:solidFill>
                  <a:srgbClr val="0070C0"/>
                </a:solidFill>
                <a:latin typeface="Tahoma"/>
                <a:ea typeface="Tahoma"/>
                <a:cs typeface="Tahoma"/>
                <a:sym typeface="Tahoma"/>
              </a:rPr>
              <a:t>VIETNAM OIL AND GAS GROUP</a:t>
            </a:r>
            <a:endParaRPr/>
          </a:p>
          <a:p>
            <a:pPr indent="0" lvl="0" marL="0" marR="0" rtl="0" algn="ctr">
              <a:lnSpc>
                <a:spcPct val="100000"/>
              </a:lnSpc>
              <a:spcBef>
                <a:spcPts val="300"/>
              </a:spcBef>
              <a:spcAft>
                <a:spcPts val="0"/>
              </a:spcAft>
              <a:buClr>
                <a:srgbClr val="0070C0"/>
              </a:buClr>
              <a:buSzPts val="2300"/>
              <a:buFont typeface="Tahoma"/>
              <a:buNone/>
            </a:pPr>
            <a:r>
              <a:rPr b="1" i="0" lang="vi-VN" sz="2300" u="none" cap="none" strike="noStrike">
                <a:solidFill>
                  <a:srgbClr val="0070C0"/>
                </a:solidFill>
                <a:latin typeface="Tahoma"/>
                <a:ea typeface="Tahoma"/>
                <a:cs typeface="Tahoma"/>
                <a:sym typeface="Tahoma"/>
              </a:rPr>
              <a:t>PETROVIETNAM UNIVERSITY</a:t>
            </a:r>
            <a:endParaRPr/>
          </a:p>
        </p:txBody>
      </p:sp>
      <p:sp>
        <p:nvSpPr>
          <p:cNvPr id="29" name="Google Shape;29;p5"/>
          <p:cNvSpPr txBox="1"/>
          <p:nvPr>
            <p:ph idx="1" type="subTitle"/>
          </p:nvPr>
        </p:nvSpPr>
        <p:spPr>
          <a:xfrm>
            <a:off x="812800" y="3505200"/>
            <a:ext cx="10363200" cy="1524000"/>
          </a:xfrm>
          <a:prstGeom prst="rect">
            <a:avLst/>
          </a:prstGeom>
          <a:noFill/>
          <a:ln>
            <a:noFill/>
          </a:ln>
        </p:spPr>
        <p:txBody>
          <a:bodyPr anchorCtr="0" anchor="t" bIns="45700" lIns="91425" spcFirstLastPara="1" rIns="91425" wrap="square" tIns="45700">
            <a:noAutofit/>
          </a:bodyPr>
          <a:lstStyle>
            <a:lvl1pPr lvl="0" algn="ctr">
              <a:lnSpc>
                <a:spcPct val="120000"/>
              </a:lnSpc>
              <a:spcBef>
                <a:spcPts val="0"/>
              </a:spcBef>
              <a:spcAft>
                <a:spcPts val="0"/>
              </a:spcAft>
              <a:buSzPts val="3240"/>
              <a:buFont typeface="Noto Sans Symbols"/>
              <a:buNone/>
              <a:defRPr b="1" sz="3600">
                <a:solidFill>
                  <a:srgbClr val="244884"/>
                </a:solidFill>
              </a:defRPr>
            </a:lvl1pPr>
            <a:lvl2pPr lvl="1" algn="just">
              <a:lnSpc>
                <a:spcPct val="120000"/>
              </a:lnSpc>
              <a:spcBef>
                <a:spcPts val="600"/>
              </a:spcBef>
              <a:spcAft>
                <a:spcPts val="0"/>
              </a:spcAft>
              <a:buSzPts val="1800"/>
              <a:buChar char="▪"/>
              <a:defRPr/>
            </a:lvl2pPr>
            <a:lvl3pPr lvl="2" algn="just">
              <a:lnSpc>
                <a:spcPct val="120000"/>
              </a:lnSpc>
              <a:spcBef>
                <a:spcPts val="600"/>
              </a:spcBef>
              <a:spcAft>
                <a:spcPts val="0"/>
              </a:spcAft>
              <a:buSzPts val="1440"/>
              <a:buChar char="−"/>
              <a:defRPr/>
            </a:lvl3pPr>
            <a:lvl4pPr lvl="3" algn="just">
              <a:lnSpc>
                <a:spcPct val="120000"/>
              </a:lnSpc>
              <a:spcBef>
                <a:spcPts val="600"/>
              </a:spcBef>
              <a:spcAft>
                <a:spcPts val="0"/>
              </a:spcAft>
              <a:buSzPts val="1440"/>
              <a:buChar char="✔"/>
              <a:defRPr/>
            </a:lvl4pPr>
            <a:lvl5pPr lvl="4" algn="l">
              <a:spcBef>
                <a:spcPts val="600"/>
              </a:spcBef>
              <a:spcAft>
                <a:spcPts val="0"/>
              </a:spcAft>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30" name="Google Shape;30;p5"/>
          <p:cNvSpPr txBox="1"/>
          <p:nvPr>
            <p:ph type="title"/>
          </p:nvPr>
        </p:nvSpPr>
        <p:spPr>
          <a:xfrm>
            <a:off x="1243660" y="1981209"/>
            <a:ext cx="9907880" cy="692151"/>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cxnSp>
        <p:nvCxnSpPr>
          <p:cNvPr id="31" name="Google Shape;31;p5"/>
          <p:cNvCxnSpPr/>
          <p:nvPr/>
        </p:nvCxnSpPr>
        <p:spPr>
          <a:xfrm>
            <a:off x="632583" y="5257800"/>
            <a:ext cx="4787900" cy="0"/>
          </a:xfrm>
          <a:prstGeom prst="straightConnector1">
            <a:avLst/>
          </a:prstGeom>
          <a:noFill/>
          <a:ln cap="flat" cmpd="thickThin" w="57150">
            <a:solidFill>
              <a:srgbClr val="0087CB"/>
            </a:solidFill>
            <a:prstDash val="solid"/>
            <a:round/>
            <a:headEnd len="med" w="med" type="none"/>
            <a:tailEnd len="med" w="med" type="none"/>
          </a:ln>
        </p:spPr>
      </p:cxnSp>
      <p:cxnSp>
        <p:nvCxnSpPr>
          <p:cNvPr id="32" name="Google Shape;32;p5"/>
          <p:cNvCxnSpPr/>
          <p:nvPr/>
        </p:nvCxnSpPr>
        <p:spPr>
          <a:xfrm flipH="1" rot="10800000">
            <a:off x="3161065" y="1008739"/>
            <a:ext cx="6642817" cy="27495"/>
          </a:xfrm>
          <a:prstGeom prst="straightConnector1">
            <a:avLst/>
          </a:prstGeom>
          <a:noFill/>
          <a:ln cap="flat" cmpd="thickThin" w="57150">
            <a:solidFill>
              <a:srgbClr val="0087CB"/>
            </a:solidFill>
            <a:prstDash val="solid"/>
            <a:round/>
            <a:headEnd len="med" w="med" type="none"/>
            <a:tailEnd len="med" w="med" type="none"/>
          </a:ln>
        </p:spPr>
      </p:cxnSp>
    </p:spTree>
  </p:cSld>
  <p:clrMapOvr>
    <a:masterClrMapping/>
  </p:clrMapOvr>
  <p:transition spd="slow">
    <p:fade thruBlk="1"/>
  </p:transition>
  <p:extLst>
    <p:ext uri="{DCECCB84-F9BA-43D5-87BE-67443E8EF086}">
      <p15:sldGuideLst>
        <p15:guide id="1"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3" name="Shape 33"/>
        <p:cNvGrpSpPr/>
        <p:nvPr/>
      </p:nvGrpSpPr>
      <p:grpSpPr>
        <a:xfrm>
          <a:off x="0" y="0"/>
          <a:ext cx="0" cy="0"/>
          <a:chOff x="0" y="0"/>
          <a:chExt cx="0" cy="0"/>
        </a:xfrm>
      </p:grpSpPr>
      <p:sp>
        <p:nvSpPr>
          <p:cNvPr id="34" name="Google Shape;34;p6"/>
          <p:cNvSpPr txBox="1"/>
          <p:nvPr>
            <p:ph type="title"/>
          </p:nvPr>
        </p:nvSpPr>
        <p:spPr>
          <a:xfrm>
            <a:off x="1693636" y="-42863"/>
            <a:ext cx="9990365" cy="692151"/>
          </a:xfrm>
          <a:prstGeom prst="rect">
            <a:avLst/>
          </a:prstGeom>
          <a:noFill/>
          <a:ln>
            <a:noFill/>
          </a:ln>
        </p:spPr>
        <p:txBody>
          <a:bodyPr anchorCtr="0" anchor="ctr" bIns="46025" lIns="92075" spcFirstLastPara="1" rIns="92075" wrap="square" tIns="46025">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35" name="Google Shape;35;p6"/>
          <p:cNvSpPr txBox="1"/>
          <p:nvPr>
            <p:ph idx="1" type="body"/>
          </p:nvPr>
        </p:nvSpPr>
        <p:spPr>
          <a:xfrm>
            <a:off x="508000" y="1066800"/>
            <a:ext cx="11277600" cy="5410200"/>
          </a:xfrm>
          <a:prstGeom prst="rect">
            <a:avLst/>
          </a:prstGeom>
          <a:noFill/>
          <a:ln>
            <a:noFill/>
          </a:ln>
        </p:spPr>
        <p:txBody>
          <a:bodyPr anchorCtr="0" anchor="t" bIns="46025" lIns="0" spcFirstLastPara="1" rIns="0" wrap="square" tIns="46025">
            <a:noAutofit/>
          </a:bodyPr>
          <a:lstStyle>
            <a:lvl1pPr indent="-388620" lvl="0" marL="457200" algn="l">
              <a:lnSpc>
                <a:spcPct val="120000"/>
              </a:lnSpc>
              <a:spcBef>
                <a:spcPts val="0"/>
              </a:spcBef>
              <a:spcAft>
                <a:spcPts val="0"/>
              </a:spcAft>
              <a:buSzPts val="2520"/>
              <a:buChar char="❖"/>
              <a:defRPr/>
            </a:lvl1pPr>
            <a:lvl2pPr indent="-381000" lvl="1" marL="914400" algn="just">
              <a:lnSpc>
                <a:spcPct val="120000"/>
              </a:lnSpc>
              <a:spcBef>
                <a:spcPts val="600"/>
              </a:spcBef>
              <a:spcAft>
                <a:spcPts val="0"/>
              </a:spcAft>
              <a:buSzPts val="2400"/>
              <a:buChar char="▪"/>
              <a:defRPr/>
            </a:lvl2pPr>
            <a:lvl3pPr indent="-330200" lvl="2" marL="1371600" algn="just">
              <a:lnSpc>
                <a:spcPct val="120000"/>
              </a:lnSpc>
              <a:spcBef>
                <a:spcPts val="600"/>
              </a:spcBef>
              <a:spcAft>
                <a:spcPts val="0"/>
              </a:spcAft>
              <a:buSzPts val="1600"/>
              <a:buChar char="−"/>
              <a:defRPr/>
            </a:lvl3pPr>
            <a:lvl4pPr indent="-330200" lvl="3" marL="1828800" algn="just">
              <a:lnSpc>
                <a:spcPct val="120000"/>
              </a:lnSpc>
              <a:spcBef>
                <a:spcPts val="600"/>
              </a:spcBef>
              <a:spcAft>
                <a:spcPts val="0"/>
              </a:spcAft>
              <a:buSzPts val="1600"/>
              <a:buChar char="✔"/>
              <a:defRPr/>
            </a:lvl4pPr>
            <a:lvl5pPr indent="-330200" lvl="4" marL="2286000" algn="l">
              <a:lnSpc>
                <a:spcPct val="120000"/>
              </a:lnSpc>
              <a:spcBef>
                <a:spcPts val="600"/>
              </a:spcBef>
              <a:spcAft>
                <a:spcPts val="0"/>
              </a:spcAft>
              <a:buSzPts val="1600"/>
              <a:buFont typeface="Arimo"/>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12" type="sldNum"/>
          </p:nvPr>
        </p:nvSpPr>
        <p:spPr>
          <a:xfrm>
            <a:off x="11231857" y="6583372"/>
            <a:ext cx="806451" cy="311149"/>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400">
                <a:solidFill>
                  <a:srgbClr val="336699"/>
                </a:solidFill>
                <a:latin typeface="Arial"/>
                <a:ea typeface="Arial"/>
                <a:cs typeface="Arial"/>
                <a:sym typeface="Arial"/>
              </a:defRPr>
            </a:lvl1pPr>
            <a:lvl2pPr indent="0" lvl="1" marL="0" marR="0" rtl="0" algn="ctr">
              <a:spcBef>
                <a:spcPts val="0"/>
              </a:spcBef>
              <a:buNone/>
              <a:defRPr sz="1400">
                <a:solidFill>
                  <a:srgbClr val="336699"/>
                </a:solidFill>
                <a:latin typeface="Arial"/>
                <a:ea typeface="Arial"/>
                <a:cs typeface="Arial"/>
                <a:sym typeface="Arial"/>
              </a:defRPr>
            </a:lvl2pPr>
            <a:lvl3pPr indent="0" lvl="2" marL="0" marR="0" rtl="0" algn="ctr">
              <a:spcBef>
                <a:spcPts val="0"/>
              </a:spcBef>
              <a:buNone/>
              <a:defRPr sz="1400">
                <a:solidFill>
                  <a:srgbClr val="336699"/>
                </a:solidFill>
                <a:latin typeface="Arial"/>
                <a:ea typeface="Arial"/>
                <a:cs typeface="Arial"/>
                <a:sym typeface="Arial"/>
              </a:defRPr>
            </a:lvl3pPr>
            <a:lvl4pPr indent="0" lvl="3" marL="0" marR="0" rtl="0" algn="ctr">
              <a:spcBef>
                <a:spcPts val="0"/>
              </a:spcBef>
              <a:buNone/>
              <a:defRPr sz="1400">
                <a:solidFill>
                  <a:srgbClr val="336699"/>
                </a:solidFill>
                <a:latin typeface="Arial"/>
                <a:ea typeface="Arial"/>
                <a:cs typeface="Arial"/>
                <a:sym typeface="Arial"/>
              </a:defRPr>
            </a:lvl4pPr>
            <a:lvl5pPr indent="0" lvl="4" marL="0" marR="0" rtl="0" algn="ctr">
              <a:spcBef>
                <a:spcPts val="0"/>
              </a:spcBef>
              <a:buNone/>
              <a:defRPr sz="1400">
                <a:solidFill>
                  <a:srgbClr val="336699"/>
                </a:solidFill>
                <a:latin typeface="Arial"/>
                <a:ea typeface="Arial"/>
                <a:cs typeface="Arial"/>
                <a:sym typeface="Arial"/>
              </a:defRPr>
            </a:lvl5pPr>
            <a:lvl6pPr indent="0" lvl="5" marL="0" marR="0" rtl="0" algn="ctr">
              <a:spcBef>
                <a:spcPts val="0"/>
              </a:spcBef>
              <a:buNone/>
              <a:defRPr sz="1400">
                <a:solidFill>
                  <a:srgbClr val="336699"/>
                </a:solidFill>
                <a:latin typeface="Arial"/>
                <a:ea typeface="Arial"/>
                <a:cs typeface="Arial"/>
                <a:sym typeface="Arial"/>
              </a:defRPr>
            </a:lvl6pPr>
            <a:lvl7pPr indent="0" lvl="6" marL="0" marR="0" rtl="0" algn="ctr">
              <a:spcBef>
                <a:spcPts val="0"/>
              </a:spcBef>
              <a:buNone/>
              <a:defRPr sz="1400">
                <a:solidFill>
                  <a:srgbClr val="336699"/>
                </a:solidFill>
                <a:latin typeface="Arial"/>
                <a:ea typeface="Arial"/>
                <a:cs typeface="Arial"/>
                <a:sym typeface="Arial"/>
              </a:defRPr>
            </a:lvl7pPr>
            <a:lvl8pPr indent="0" lvl="7" marL="0" marR="0" rtl="0" algn="ctr">
              <a:spcBef>
                <a:spcPts val="0"/>
              </a:spcBef>
              <a:buNone/>
              <a:defRPr sz="1400">
                <a:solidFill>
                  <a:srgbClr val="336699"/>
                </a:solidFill>
                <a:latin typeface="Arial"/>
                <a:ea typeface="Arial"/>
                <a:cs typeface="Arial"/>
                <a:sym typeface="Arial"/>
              </a:defRPr>
            </a:lvl8pPr>
            <a:lvl9pPr indent="0" lvl="8" marL="0" marR="0" rtl="0" algn="ctr">
              <a:spcBef>
                <a:spcPts val="0"/>
              </a:spcBef>
              <a:buNone/>
              <a:defRPr sz="1400">
                <a:solidFill>
                  <a:srgbClr val="336699"/>
                </a:solidFill>
                <a:latin typeface="Arial"/>
                <a:ea typeface="Arial"/>
                <a:cs typeface="Arial"/>
                <a:sym typeface="Arial"/>
              </a:defRPr>
            </a:lvl9pPr>
          </a:lstStyle>
          <a:p>
            <a:pPr indent="0" lvl="0" marL="0" rtl="0" algn="ctr">
              <a:spcBef>
                <a:spcPts val="0"/>
              </a:spcBef>
              <a:spcAft>
                <a:spcPts val="0"/>
              </a:spcAft>
              <a:buNone/>
            </a:pPr>
            <a:r>
              <a:rPr lang="vi-VN"/>
              <a:t> </a:t>
            </a:r>
            <a:fld id="{00000000-1234-1234-1234-123412341234}" type="slidenum">
              <a:rPr lang="vi-VN"/>
              <a:t>‹#›</a:t>
            </a:fld>
            <a:endParaRPr/>
          </a:p>
        </p:txBody>
      </p:sp>
    </p:spTree>
  </p:cSld>
  <p:clrMapOvr>
    <a:masterClrMapping/>
  </p:clrMapOvr>
  <p:transition spd="slow">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37" name="Shape 37"/>
        <p:cNvGrpSpPr/>
        <p:nvPr/>
      </p:nvGrpSpPr>
      <p:grpSpPr>
        <a:xfrm>
          <a:off x="0" y="0"/>
          <a:ext cx="0" cy="0"/>
          <a:chOff x="0" y="0"/>
          <a:chExt cx="0" cy="0"/>
        </a:xfrm>
      </p:grpSpPr>
      <p:sp>
        <p:nvSpPr>
          <p:cNvPr id="38" name="Google Shape;38;p7"/>
          <p:cNvSpPr txBox="1"/>
          <p:nvPr>
            <p:ph type="title"/>
          </p:nvPr>
        </p:nvSpPr>
        <p:spPr>
          <a:xfrm>
            <a:off x="1693333" y="-42863"/>
            <a:ext cx="9990667" cy="692151"/>
          </a:xfrm>
          <a:prstGeom prst="rect">
            <a:avLst/>
          </a:prstGeom>
          <a:noFill/>
          <a:ln>
            <a:noFill/>
          </a:ln>
        </p:spPr>
        <p:txBody>
          <a:bodyPr anchorCtr="0" anchor="ctr" bIns="46025" lIns="92075" spcFirstLastPara="1" rIns="92075" wrap="square" tIns="46025">
            <a:noAutofit/>
          </a:bodyPr>
          <a:lstStyle>
            <a:lvl1pPr lvl="0" algn="r">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39" name="Google Shape;39;p7"/>
          <p:cNvSpPr txBox="1"/>
          <p:nvPr>
            <p:ph idx="1" type="body"/>
          </p:nvPr>
        </p:nvSpPr>
        <p:spPr>
          <a:xfrm>
            <a:off x="406400" y="1066800"/>
            <a:ext cx="11277600" cy="5410200"/>
          </a:xfrm>
          <a:prstGeom prst="rect">
            <a:avLst/>
          </a:prstGeom>
          <a:noFill/>
          <a:ln>
            <a:noFill/>
          </a:ln>
        </p:spPr>
        <p:txBody>
          <a:bodyPr anchorCtr="0" anchor="t" bIns="46025" lIns="0" spcFirstLastPara="1" rIns="0" wrap="square" tIns="46025">
            <a:noAutofit/>
          </a:bodyPr>
          <a:lstStyle>
            <a:lvl1pPr indent="-388620" lvl="0" marL="457200" algn="l">
              <a:lnSpc>
                <a:spcPct val="120000"/>
              </a:lnSpc>
              <a:spcBef>
                <a:spcPts val="0"/>
              </a:spcBef>
              <a:spcAft>
                <a:spcPts val="0"/>
              </a:spcAft>
              <a:buSzPts val="2520"/>
              <a:buChar char="❖"/>
              <a:defRPr/>
            </a:lvl1pPr>
            <a:lvl2pPr indent="-381000" lvl="1" marL="914400" algn="just">
              <a:lnSpc>
                <a:spcPct val="120000"/>
              </a:lnSpc>
              <a:spcBef>
                <a:spcPts val="600"/>
              </a:spcBef>
              <a:spcAft>
                <a:spcPts val="0"/>
              </a:spcAft>
              <a:buSzPts val="2400"/>
              <a:buChar char="▪"/>
              <a:defRPr/>
            </a:lvl2pPr>
            <a:lvl3pPr indent="-330200" lvl="2" marL="1371600" algn="just">
              <a:lnSpc>
                <a:spcPct val="120000"/>
              </a:lnSpc>
              <a:spcBef>
                <a:spcPts val="600"/>
              </a:spcBef>
              <a:spcAft>
                <a:spcPts val="0"/>
              </a:spcAft>
              <a:buSzPts val="1600"/>
              <a:buChar char="−"/>
              <a:defRPr/>
            </a:lvl3pPr>
            <a:lvl4pPr indent="-330200" lvl="3" marL="1828800" algn="just">
              <a:lnSpc>
                <a:spcPct val="120000"/>
              </a:lnSpc>
              <a:spcBef>
                <a:spcPts val="600"/>
              </a:spcBef>
              <a:spcAft>
                <a:spcPts val="0"/>
              </a:spcAft>
              <a:buSzPts val="1600"/>
              <a:buChar char="✔"/>
              <a:defRPr/>
            </a:lvl4pPr>
            <a:lvl5pPr indent="-330200" lvl="4" marL="2286000" algn="l">
              <a:lnSpc>
                <a:spcPct val="120000"/>
              </a:lnSpc>
              <a:spcBef>
                <a:spcPts val="600"/>
              </a:spcBef>
              <a:spcAft>
                <a:spcPts val="0"/>
              </a:spcAft>
              <a:buSzPts val="1600"/>
              <a:buFont typeface="Arimo"/>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7"/>
          <p:cNvSpPr txBox="1"/>
          <p:nvPr>
            <p:ph idx="12" type="sldNum"/>
          </p:nvPr>
        </p:nvSpPr>
        <p:spPr>
          <a:xfrm>
            <a:off x="11231857" y="6583372"/>
            <a:ext cx="806451" cy="311149"/>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400">
                <a:solidFill>
                  <a:srgbClr val="336699"/>
                </a:solidFill>
                <a:latin typeface="Arial"/>
                <a:ea typeface="Arial"/>
                <a:cs typeface="Arial"/>
                <a:sym typeface="Arial"/>
              </a:defRPr>
            </a:lvl1pPr>
            <a:lvl2pPr indent="0" lvl="1" marL="0" marR="0" rtl="0" algn="ctr">
              <a:spcBef>
                <a:spcPts val="0"/>
              </a:spcBef>
              <a:buNone/>
              <a:defRPr sz="1400">
                <a:solidFill>
                  <a:srgbClr val="336699"/>
                </a:solidFill>
                <a:latin typeface="Arial"/>
                <a:ea typeface="Arial"/>
                <a:cs typeface="Arial"/>
                <a:sym typeface="Arial"/>
              </a:defRPr>
            </a:lvl2pPr>
            <a:lvl3pPr indent="0" lvl="2" marL="0" marR="0" rtl="0" algn="ctr">
              <a:spcBef>
                <a:spcPts val="0"/>
              </a:spcBef>
              <a:buNone/>
              <a:defRPr sz="1400">
                <a:solidFill>
                  <a:srgbClr val="336699"/>
                </a:solidFill>
                <a:latin typeface="Arial"/>
                <a:ea typeface="Arial"/>
                <a:cs typeface="Arial"/>
                <a:sym typeface="Arial"/>
              </a:defRPr>
            </a:lvl3pPr>
            <a:lvl4pPr indent="0" lvl="3" marL="0" marR="0" rtl="0" algn="ctr">
              <a:spcBef>
                <a:spcPts val="0"/>
              </a:spcBef>
              <a:buNone/>
              <a:defRPr sz="1400">
                <a:solidFill>
                  <a:srgbClr val="336699"/>
                </a:solidFill>
                <a:latin typeface="Arial"/>
                <a:ea typeface="Arial"/>
                <a:cs typeface="Arial"/>
                <a:sym typeface="Arial"/>
              </a:defRPr>
            </a:lvl4pPr>
            <a:lvl5pPr indent="0" lvl="4" marL="0" marR="0" rtl="0" algn="ctr">
              <a:spcBef>
                <a:spcPts val="0"/>
              </a:spcBef>
              <a:buNone/>
              <a:defRPr sz="1400">
                <a:solidFill>
                  <a:srgbClr val="336699"/>
                </a:solidFill>
                <a:latin typeface="Arial"/>
                <a:ea typeface="Arial"/>
                <a:cs typeface="Arial"/>
                <a:sym typeface="Arial"/>
              </a:defRPr>
            </a:lvl5pPr>
            <a:lvl6pPr indent="0" lvl="5" marL="0" marR="0" rtl="0" algn="ctr">
              <a:spcBef>
                <a:spcPts val="0"/>
              </a:spcBef>
              <a:buNone/>
              <a:defRPr sz="1400">
                <a:solidFill>
                  <a:srgbClr val="336699"/>
                </a:solidFill>
                <a:latin typeface="Arial"/>
                <a:ea typeface="Arial"/>
                <a:cs typeface="Arial"/>
                <a:sym typeface="Arial"/>
              </a:defRPr>
            </a:lvl6pPr>
            <a:lvl7pPr indent="0" lvl="6" marL="0" marR="0" rtl="0" algn="ctr">
              <a:spcBef>
                <a:spcPts val="0"/>
              </a:spcBef>
              <a:buNone/>
              <a:defRPr sz="1400">
                <a:solidFill>
                  <a:srgbClr val="336699"/>
                </a:solidFill>
                <a:latin typeface="Arial"/>
                <a:ea typeface="Arial"/>
                <a:cs typeface="Arial"/>
                <a:sym typeface="Arial"/>
              </a:defRPr>
            </a:lvl7pPr>
            <a:lvl8pPr indent="0" lvl="7" marL="0" marR="0" rtl="0" algn="ctr">
              <a:spcBef>
                <a:spcPts val="0"/>
              </a:spcBef>
              <a:buNone/>
              <a:defRPr sz="1400">
                <a:solidFill>
                  <a:srgbClr val="336699"/>
                </a:solidFill>
                <a:latin typeface="Arial"/>
                <a:ea typeface="Arial"/>
                <a:cs typeface="Arial"/>
                <a:sym typeface="Arial"/>
              </a:defRPr>
            </a:lvl8pPr>
            <a:lvl9pPr indent="0" lvl="8" marL="0" marR="0" rtl="0" algn="ctr">
              <a:spcBef>
                <a:spcPts val="0"/>
              </a:spcBef>
              <a:buNone/>
              <a:defRPr sz="1400">
                <a:solidFill>
                  <a:srgbClr val="336699"/>
                </a:solidFill>
                <a:latin typeface="Arial"/>
                <a:ea typeface="Arial"/>
                <a:cs typeface="Arial"/>
                <a:sym typeface="Arial"/>
              </a:defRPr>
            </a:lvl9pPr>
          </a:lstStyle>
          <a:p>
            <a:pPr indent="0" lvl="0" marL="0" rtl="0" algn="ctr">
              <a:spcBef>
                <a:spcPts val="0"/>
              </a:spcBef>
              <a:spcAft>
                <a:spcPts val="0"/>
              </a:spcAft>
              <a:buNone/>
            </a:pPr>
            <a:r>
              <a:rPr lang="vi-VN"/>
              <a:t> </a:t>
            </a:r>
            <a:fld id="{00000000-1234-1234-1234-123412341234}" type="slidenum">
              <a:rPr lang="vi-VN"/>
              <a:t>‹#›</a:t>
            </a:fld>
            <a:endParaRPr/>
          </a:p>
        </p:txBody>
      </p:sp>
    </p:spTree>
  </p:cSld>
  <p:clrMapOvr>
    <a:masterClrMapping/>
  </p:clrMapOvr>
  <p:transition spd="slow">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41" name="Shape 41"/>
        <p:cNvGrpSpPr/>
        <p:nvPr/>
      </p:nvGrpSpPr>
      <p:grpSpPr>
        <a:xfrm>
          <a:off x="0" y="0"/>
          <a:ext cx="0" cy="0"/>
          <a:chOff x="0" y="0"/>
          <a:chExt cx="0" cy="0"/>
        </a:xfrm>
      </p:grpSpPr>
      <p:sp>
        <p:nvSpPr>
          <p:cNvPr id="42" name="Google Shape;42;p8"/>
          <p:cNvSpPr txBox="1"/>
          <p:nvPr>
            <p:ph type="title"/>
          </p:nvPr>
        </p:nvSpPr>
        <p:spPr>
          <a:xfrm>
            <a:off x="1693333" y="-42863"/>
            <a:ext cx="9990667" cy="692151"/>
          </a:xfrm>
          <a:prstGeom prst="rect">
            <a:avLst/>
          </a:prstGeom>
          <a:noFill/>
          <a:ln>
            <a:noFill/>
          </a:ln>
        </p:spPr>
        <p:txBody>
          <a:bodyPr anchorCtr="0" anchor="ctr" bIns="46025" lIns="92075" spcFirstLastPara="1" rIns="92075" wrap="square" tIns="4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Tree>
  </p:cSld>
  <p:clrMapOvr>
    <a:masterClrMapping/>
  </p:clrMapOvr>
  <p:transition spd="slow">
    <p:fade thruBlk="1"/>
  </p:transition>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10" Type="http://schemas.openxmlformats.org/officeDocument/2006/relationships/theme" Target="../theme/theme2.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mt="25000"/>
          </a:blip>
          <a:stretch>
            <a:fillRect/>
          </a:stretch>
        </a:blipFill>
      </p:bgPr>
    </p:bg>
    <p:spTree>
      <p:nvGrpSpPr>
        <p:cNvPr id="9" name="Shape 9"/>
        <p:cNvGrpSpPr/>
        <p:nvPr/>
      </p:nvGrpSpPr>
      <p:grpSpPr>
        <a:xfrm>
          <a:off x="0" y="0"/>
          <a:ext cx="0" cy="0"/>
          <a:chOff x="0" y="0"/>
          <a:chExt cx="0" cy="0"/>
        </a:xfrm>
      </p:grpSpPr>
      <p:sp>
        <p:nvSpPr>
          <p:cNvPr id="10" name="Google Shape;10;p1"/>
          <p:cNvSpPr txBox="1"/>
          <p:nvPr>
            <p:ph idx="1" type="body"/>
          </p:nvPr>
        </p:nvSpPr>
        <p:spPr>
          <a:xfrm>
            <a:off x="527057" y="1066800"/>
            <a:ext cx="11338983" cy="5410200"/>
          </a:xfrm>
          <a:prstGeom prst="rect">
            <a:avLst/>
          </a:prstGeom>
          <a:noFill/>
          <a:ln>
            <a:noFill/>
          </a:ln>
        </p:spPr>
        <p:txBody>
          <a:bodyPr anchorCtr="0" anchor="t" bIns="46025" lIns="0" spcFirstLastPara="1" rIns="0" wrap="square" tIns="46025">
            <a:noAutofit/>
          </a:bodyPr>
          <a:lstStyle>
            <a:lvl1pPr indent="-388620" lvl="0" marL="457200" marR="0" rtl="0" algn="l">
              <a:lnSpc>
                <a:spcPct val="120000"/>
              </a:lnSpc>
              <a:spcBef>
                <a:spcPts val="0"/>
              </a:spcBef>
              <a:spcAft>
                <a:spcPts val="0"/>
              </a:spcAft>
              <a:buClr>
                <a:srgbClr val="A50021"/>
              </a:buClr>
              <a:buSzPts val="2520"/>
              <a:buFont typeface="Noto Sans Symbols"/>
              <a:buChar char="❖"/>
              <a:defRPr b="0" i="0" sz="2800" u="none" cap="none" strike="noStrike">
                <a:solidFill>
                  <a:srgbClr val="003366"/>
                </a:solidFill>
                <a:latin typeface="Arial"/>
                <a:ea typeface="Arial"/>
                <a:cs typeface="Arial"/>
                <a:sym typeface="Arial"/>
              </a:defRPr>
            </a:lvl1pPr>
            <a:lvl2pPr indent="-381000" lvl="1" marL="914400" marR="0" rtl="0" algn="just">
              <a:lnSpc>
                <a:spcPct val="120000"/>
              </a:lnSpc>
              <a:spcBef>
                <a:spcPts val="600"/>
              </a:spcBef>
              <a:spcAft>
                <a:spcPts val="0"/>
              </a:spcAft>
              <a:buClr>
                <a:srgbClr val="A50021"/>
              </a:buClr>
              <a:buSzPts val="2400"/>
              <a:buFont typeface="Noto Sans Symbols"/>
              <a:buChar char="▪"/>
              <a:defRPr b="0" i="0" sz="2400" u="none" cap="none" strike="noStrike">
                <a:solidFill>
                  <a:srgbClr val="003366"/>
                </a:solidFill>
                <a:latin typeface="Arial"/>
                <a:ea typeface="Arial"/>
                <a:cs typeface="Arial"/>
                <a:sym typeface="Arial"/>
              </a:defRPr>
            </a:lvl2pPr>
            <a:lvl3pPr indent="-330200" lvl="2" marL="1371600" marR="0" rtl="0" algn="just">
              <a:lnSpc>
                <a:spcPct val="120000"/>
              </a:lnSpc>
              <a:spcBef>
                <a:spcPts val="600"/>
              </a:spcBef>
              <a:spcAft>
                <a:spcPts val="0"/>
              </a:spcAft>
              <a:buClr>
                <a:srgbClr val="A50021"/>
              </a:buClr>
              <a:buSzPts val="1600"/>
              <a:buFont typeface="Arial"/>
              <a:buChar char="−"/>
              <a:defRPr b="0" i="0" sz="2000" u="none" cap="none" strike="noStrike">
                <a:solidFill>
                  <a:srgbClr val="003366"/>
                </a:solidFill>
                <a:latin typeface="Arial"/>
                <a:ea typeface="Arial"/>
                <a:cs typeface="Arial"/>
                <a:sym typeface="Arial"/>
              </a:defRPr>
            </a:lvl3pPr>
            <a:lvl4pPr indent="-330200" lvl="3" marL="1828800" marR="0" rtl="0" algn="just">
              <a:lnSpc>
                <a:spcPct val="120000"/>
              </a:lnSpc>
              <a:spcBef>
                <a:spcPts val="600"/>
              </a:spcBef>
              <a:spcAft>
                <a:spcPts val="0"/>
              </a:spcAft>
              <a:buClr>
                <a:srgbClr val="A50021"/>
              </a:buClr>
              <a:buSzPts val="1600"/>
              <a:buFont typeface="Noto Sans Symbols"/>
              <a:buChar char="✔"/>
              <a:defRPr b="0" i="0" sz="2000" u="none" cap="none" strike="noStrike">
                <a:solidFill>
                  <a:srgbClr val="003366"/>
                </a:solidFill>
                <a:latin typeface="Arial"/>
                <a:ea typeface="Arial"/>
                <a:cs typeface="Arial"/>
                <a:sym typeface="Arial"/>
              </a:defRPr>
            </a:lvl4pPr>
            <a:lvl5pPr indent="-330200" lvl="4" marL="2286000" marR="0" rtl="0" algn="l">
              <a:spcBef>
                <a:spcPts val="600"/>
              </a:spcBef>
              <a:spcAft>
                <a:spcPts val="0"/>
              </a:spcAft>
              <a:buClr>
                <a:srgbClr val="663300"/>
              </a:buClr>
              <a:buSzPts val="1600"/>
              <a:buFont typeface="Arimo"/>
              <a:buChar char="»"/>
              <a:defRPr b="0" i="0" sz="1600" u="none" cap="none" strike="noStrike">
                <a:solidFill>
                  <a:schemeClr val="dk1"/>
                </a:solidFill>
                <a:latin typeface="Arimo"/>
                <a:ea typeface="Arimo"/>
                <a:cs typeface="Arimo"/>
                <a:sym typeface="Arim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 name="Google Shape;11;p1"/>
          <p:cNvSpPr txBox="1"/>
          <p:nvPr>
            <p:ph type="title"/>
          </p:nvPr>
        </p:nvSpPr>
        <p:spPr>
          <a:xfrm>
            <a:off x="1693333" y="-42863"/>
            <a:ext cx="9990667" cy="692151"/>
          </a:xfrm>
          <a:prstGeom prst="rect">
            <a:avLst/>
          </a:prstGeom>
          <a:noFill/>
          <a:ln>
            <a:noFill/>
          </a:ln>
        </p:spPr>
        <p:txBody>
          <a:bodyPr anchorCtr="0" anchor="ctr" bIns="46025" lIns="92075" spcFirstLastPara="1" rIns="92075" wrap="square" tIns="46025">
            <a:noAutofit/>
          </a:bodyPr>
          <a:lstStyle>
            <a:lvl1pPr lvl="0" marR="0" rtl="0" algn="l">
              <a:spcBef>
                <a:spcPts val="0"/>
              </a:spcBef>
              <a:spcAft>
                <a:spcPts val="0"/>
              </a:spcAft>
              <a:buSzPts val="1400"/>
              <a:buNone/>
              <a:defRPr b="1" i="0" sz="3200" u="none" cap="none" strike="noStrike">
                <a:solidFill>
                  <a:srgbClr val="244882"/>
                </a:solidFill>
                <a:latin typeface="Tahoma"/>
                <a:ea typeface="Tahoma"/>
                <a:cs typeface="Tahoma"/>
                <a:sym typeface="Tahoma"/>
              </a:defRPr>
            </a:lvl1pPr>
            <a:lvl2pPr lvl="1" marR="0" rtl="0" algn="l">
              <a:spcBef>
                <a:spcPts val="0"/>
              </a:spcBef>
              <a:spcAft>
                <a:spcPts val="0"/>
              </a:spcAft>
              <a:buSzPts val="1400"/>
              <a:buNone/>
              <a:defRPr b="1" i="0" sz="3200" u="none" cap="none" strike="noStrike">
                <a:solidFill>
                  <a:srgbClr val="244882"/>
                </a:solidFill>
                <a:latin typeface="Tahoma"/>
                <a:ea typeface="Tahoma"/>
                <a:cs typeface="Tahoma"/>
                <a:sym typeface="Tahoma"/>
              </a:defRPr>
            </a:lvl2pPr>
            <a:lvl3pPr lvl="2" marR="0" rtl="0" algn="l">
              <a:spcBef>
                <a:spcPts val="0"/>
              </a:spcBef>
              <a:spcAft>
                <a:spcPts val="0"/>
              </a:spcAft>
              <a:buSzPts val="1400"/>
              <a:buNone/>
              <a:defRPr b="1" i="0" sz="3200" u="none" cap="none" strike="noStrike">
                <a:solidFill>
                  <a:srgbClr val="244882"/>
                </a:solidFill>
                <a:latin typeface="Tahoma"/>
                <a:ea typeface="Tahoma"/>
                <a:cs typeface="Tahoma"/>
                <a:sym typeface="Tahoma"/>
              </a:defRPr>
            </a:lvl3pPr>
            <a:lvl4pPr lvl="3" marR="0" rtl="0" algn="l">
              <a:spcBef>
                <a:spcPts val="0"/>
              </a:spcBef>
              <a:spcAft>
                <a:spcPts val="0"/>
              </a:spcAft>
              <a:buSzPts val="1400"/>
              <a:buNone/>
              <a:defRPr b="1" i="0" sz="3200" u="none" cap="none" strike="noStrike">
                <a:solidFill>
                  <a:srgbClr val="244882"/>
                </a:solidFill>
                <a:latin typeface="Tahoma"/>
                <a:ea typeface="Tahoma"/>
                <a:cs typeface="Tahoma"/>
                <a:sym typeface="Tahoma"/>
              </a:defRPr>
            </a:lvl4pPr>
            <a:lvl5pPr lvl="4" marR="0" rtl="0" algn="l">
              <a:spcBef>
                <a:spcPts val="0"/>
              </a:spcBef>
              <a:spcAft>
                <a:spcPts val="0"/>
              </a:spcAft>
              <a:buSzPts val="1400"/>
              <a:buNone/>
              <a:defRPr b="1" i="0" sz="3200" u="none" cap="none" strike="noStrike">
                <a:solidFill>
                  <a:srgbClr val="244882"/>
                </a:solidFill>
                <a:latin typeface="Tahoma"/>
                <a:ea typeface="Tahoma"/>
                <a:cs typeface="Tahoma"/>
                <a:sym typeface="Tahoma"/>
              </a:defRPr>
            </a:lvl5pPr>
            <a:lvl6pPr lvl="5" marR="0" rtl="0" algn="r">
              <a:spcBef>
                <a:spcPts val="0"/>
              </a:spcBef>
              <a:spcAft>
                <a:spcPts val="0"/>
              </a:spcAft>
              <a:buSzPts val="1400"/>
              <a:buNone/>
              <a:defRPr b="1" i="0" sz="2400" u="none" cap="none" strike="noStrike">
                <a:solidFill>
                  <a:schemeClr val="lt1"/>
                </a:solidFill>
                <a:latin typeface="Tahoma"/>
                <a:ea typeface="Tahoma"/>
                <a:cs typeface="Tahoma"/>
                <a:sym typeface="Tahoma"/>
              </a:defRPr>
            </a:lvl6pPr>
            <a:lvl7pPr lvl="6" marR="0" rtl="0" algn="r">
              <a:spcBef>
                <a:spcPts val="0"/>
              </a:spcBef>
              <a:spcAft>
                <a:spcPts val="0"/>
              </a:spcAft>
              <a:buSzPts val="1400"/>
              <a:buNone/>
              <a:defRPr b="1" i="0" sz="2400" u="none" cap="none" strike="noStrike">
                <a:solidFill>
                  <a:schemeClr val="lt1"/>
                </a:solidFill>
                <a:latin typeface="Tahoma"/>
                <a:ea typeface="Tahoma"/>
                <a:cs typeface="Tahoma"/>
                <a:sym typeface="Tahoma"/>
              </a:defRPr>
            </a:lvl7pPr>
            <a:lvl8pPr lvl="7" marR="0" rtl="0" algn="r">
              <a:spcBef>
                <a:spcPts val="0"/>
              </a:spcBef>
              <a:spcAft>
                <a:spcPts val="0"/>
              </a:spcAft>
              <a:buSzPts val="1400"/>
              <a:buNone/>
              <a:defRPr b="1" i="0" sz="2400" u="none" cap="none" strike="noStrike">
                <a:solidFill>
                  <a:schemeClr val="lt1"/>
                </a:solidFill>
                <a:latin typeface="Tahoma"/>
                <a:ea typeface="Tahoma"/>
                <a:cs typeface="Tahoma"/>
                <a:sym typeface="Tahoma"/>
              </a:defRPr>
            </a:lvl8pPr>
            <a:lvl9pPr lvl="8" marR="0" rtl="0" algn="r">
              <a:spcBef>
                <a:spcPts val="0"/>
              </a:spcBef>
              <a:spcAft>
                <a:spcPts val="0"/>
              </a:spcAft>
              <a:buSzPts val="1400"/>
              <a:buNone/>
              <a:defRPr b="1" i="0" sz="2400" u="none" cap="none" strike="noStrike">
                <a:solidFill>
                  <a:schemeClr val="lt1"/>
                </a:solidFill>
                <a:latin typeface="Tahoma"/>
                <a:ea typeface="Tahoma"/>
                <a:cs typeface="Tahoma"/>
                <a:sym typeface="Tahoma"/>
              </a:defRPr>
            </a:lvl9pPr>
          </a:lstStyle>
          <a:p/>
        </p:txBody>
      </p:sp>
      <p:pic>
        <p:nvPicPr>
          <p:cNvPr id="12" name="Google Shape;12;p1"/>
          <p:cNvPicPr preferRelativeResize="0"/>
          <p:nvPr/>
        </p:nvPicPr>
        <p:blipFill rotWithShape="1">
          <a:blip r:embed="rId2">
            <a:alphaModFix/>
          </a:blip>
          <a:srcRect b="53700" l="23405" r="43564" t="20030"/>
          <a:stretch/>
        </p:blipFill>
        <p:spPr>
          <a:xfrm>
            <a:off x="139700" y="72229"/>
            <a:ext cx="1398128" cy="590552"/>
          </a:xfrm>
          <a:prstGeom prst="rect">
            <a:avLst/>
          </a:prstGeom>
          <a:noFill/>
          <a:ln>
            <a:noFill/>
          </a:ln>
        </p:spPr>
      </p:pic>
      <p:sp>
        <p:nvSpPr>
          <p:cNvPr id="13" name="Google Shape;13;p1"/>
          <p:cNvSpPr/>
          <p:nvPr/>
        </p:nvSpPr>
        <p:spPr>
          <a:xfrm rot="10800000">
            <a:off x="1693336" y="639772"/>
            <a:ext cx="9984317" cy="46037"/>
          </a:xfrm>
          <a:prstGeom prst="rect">
            <a:avLst/>
          </a:prstGeom>
          <a:solidFill>
            <a:srgbClr val="0087C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4" name="Google Shape;14;p1"/>
          <p:cNvSpPr/>
          <p:nvPr/>
        </p:nvSpPr>
        <p:spPr>
          <a:xfrm rot="10800000">
            <a:off x="548223" y="6545272"/>
            <a:ext cx="11338983" cy="26987"/>
          </a:xfrm>
          <a:prstGeom prst="rect">
            <a:avLst/>
          </a:prstGeom>
          <a:solidFill>
            <a:srgbClr val="0087C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244882"/>
              </a:solidFill>
              <a:latin typeface="Arial"/>
              <a:ea typeface="Arial"/>
              <a:cs typeface="Arial"/>
              <a:sym typeface="Arial"/>
            </a:endParaRPr>
          </a:p>
        </p:txBody>
      </p:sp>
      <p:sp>
        <p:nvSpPr>
          <p:cNvPr id="15" name="Google Shape;15;p1"/>
          <p:cNvSpPr txBox="1"/>
          <p:nvPr/>
        </p:nvSpPr>
        <p:spPr>
          <a:xfrm>
            <a:off x="252251" y="4361793"/>
            <a:ext cx="24630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36699"/>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Lst>
  <p:transition spd="slow">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9"/>
          <p:cNvSpPr/>
          <p:nvPr/>
        </p:nvSpPr>
        <p:spPr>
          <a:xfrm>
            <a:off x="150140" y="6472345"/>
            <a:ext cx="11844133" cy="205678"/>
          </a:xfrm>
          <a:prstGeom prst="rect">
            <a:avLst/>
          </a:prstGeom>
          <a:solidFill>
            <a:schemeClr val="lt1"/>
          </a:solidFill>
          <a:ln>
            <a:noFill/>
          </a:ln>
        </p:spPr>
        <p:txBody>
          <a:bodyPr anchorCtr="0" anchor="b" bIns="46025" lIns="92075" spcFirstLastPara="1" rIns="92075" wrap="square" tIns="460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2"/>
              </a:solidFill>
              <a:latin typeface="Tahoma"/>
              <a:ea typeface="Tahoma"/>
              <a:cs typeface="Tahoma"/>
              <a:sym typeface="Tahoma"/>
            </a:endParaRPr>
          </a:p>
        </p:txBody>
      </p:sp>
      <p:sp>
        <p:nvSpPr>
          <p:cNvPr id="49" name="Google Shape;49;p9"/>
          <p:cNvSpPr/>
          <p:nvPr/>
        </p:nvSpPr>
        <p:spPr>
          <a:xfrm>
            <a:off x="1603948" y="524656"/>
            <a:ext cx="10309425" cy="194865"/>
          </a:xfrm>
          <a:prstGeom prst="rect">
            <a:avLst/>
          </a:prstGeom>
          <a:solidFill>
            <a:schemeClr val="lt1"/>
          </a:solidFill>
          <a:ln>
            <a:noFill/>
          </a:ln>
        </p:spPr>
        <p:txBody>
          <a:bodyPr anchorCtr="0" anchor="b" bIns="46025" lIns="92075" spcFirstLastPara="1" rIns="92075" wrap="square" tIns="46025">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2"/>
              </a:solidFill>
              <a:latin typeface="Tahoma"/>
              <a:ea typeface="Tahoma"/>
              <a:cs typeface="Tahoma"/>
              <a:sym typeface="Tahoma"/>
            </a:endParaRPr>
          </a:p>
        </p:txBody>
      </p:sp>
      <p:pic>
        <p:nvPicPr>
          <p:cNvPr id="50" name="Google Shape;50;p9"/>
          <p:cNvPicPr preferRelativeResize="0"/>
          <p:nvPr/>
        </p:nvPicPr>
        <p:blipFill rotWithShape="1">
          <a:blip r:embed="rId3">
            <a:alphaModFix/>
          </a:blip>
          <a:srcRect b="0" l="0" r="0" t="0"/>
          <a:stretch/>
        </p:blipFill>
        <p:spPr>
          <a:xfrm>
            <a:off x="104931" y="64625"/>
            <a:ext cx="1499017" cy="1391535"/>
          </a:xfrm>
          <a:prstGeom prst="rect">
            <a:avLst/>
          </a:prstGeom>
          <a:noFill/>
          <a:ln>
            <a:noFill/>
          </a:ln>
        </p:spPr>
      </p:pic>
      <p:sp>
        <p:nvSpPr>
          <p:cNvPr id="51" name="Google Shape;51;p9"/>
          <p:cNvSpPr txBox="1"/>
          <p:nvPr/>
        </p:nvSpPr>
        <p:spPr>
          <a:xfrm>
            <a:off x="557252" y="226441"/>
            <a:ext cx="11634748"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B050"/>
              </a:buClr>
              <a:buSzPts val="2400"/>
              <a:buFont typeface="Tahoma"/>
              <a:buNone/>
            </a:pPr>
            <a:r>
              <a:rPr b="1" i="0" lang="vi-VN" sz="2400" u="none" cap="none" strike="noStrike">
                <a:solidFill>
                  <a:srgbClr val="00B050"/>
                </a:solidFill>
                <a:latin typeface="Tahoma"/>
                <a:ea typeface="Tahoma"/>
                <a:cs typeface="Tahoma"/>
                <a:sym typeface="Tahoma"/>
              </a:rPr>
              <a:t>TẬP ĐOÀN CÔNG NGHIỆP – NĂNG LƯỢNG QUỐC GIA VIỆT NAM</a:t>
            </a:r>
            <a:endParaRPr/>
          </a:p>
          <a:p>
            <a:pPr indent="0" lvl="0" marL="0" marR="0" rtl="0" algn="ctr">
              <a:lnSpc>
                <a:spcPct val="100000"/>
              </a:lnSpc>
              <a:spcBef>
                <a:spcPts val="0"/>
              </a:spcBef>
              <a:spcAft>
                <a:spcPts val="0"/>
              </a:spcAft>
              <a:buClr>
                <a:srgbClr val="00B050"/>
              </a:buClr>
              <a:buSzPts val="2400"/>
              <a:buFont typeface="Tahoma"/>
              <a:buNone/>
            </a:pPr>
            <a:r>
              <a:rPr b="1" i="0" lang="vi-VN" sz="2400" u="none" cap="none" strike="noStrike">
                <a:solidFill>
                  <a:srgbClr val="00B050"/>
                </a:solidFill>
                <a:latin typeface="Tahoma"/>
                <a:ea typeface="Tahoma"/>
                <a:cs typeface="Tahoma"/>
                <a:sym typeface="Tahoma"/>
              </a:rPr>
              <a:t>TRƯỜNG ĐẠI HỌC DẦU KHÍ VIỆT NAM</a:t>
            </a:r>
            <a:endParaRPr/>
          </a:p>
        </p:txBody>
      </p:sp>
      <p:sp>
        <p:nvSpPr>
          <p:cNvPr id="52" name="Google Shape;52;p9"/>
          <p:cNvSpPr txBox="1"/>
          <p:nvPr>
            <p:ph type="ctrTitle"/>
          </p:nvPr>
        </p:nvSpPr>
        <p:spPr>
          <a:xfrm>
            <a:off x="275428" y="1736140"/>
            <a:ext cx="11634748" cy="634363"/>
          </a:xfrm>
          <a:prstGeom prst="rect">
            <a:avLst/>
          </a:prstGeom>
          <a:noFill/>
          <a:ln>
            <a:noFill/>
          </a:ln>
        </p:spPr>
        <p:txBody>
          <a:bodyPr anchorCtr="0" anchor="t" bIns="46025" lIns="92075" spcFirstLastPara="1" rIns="92075" wrap="square" tIns="46025">
            <a:noAutofit/>
          </a:bodyPr>
          <a:lstStyle/>
          <a:p>
            <a:pPr indent="0" lvl="0" marL="0" rtl="0" algn="ctr">
              <a:spcBef>
                <a:spcPts val="0"/>
              </a:spcBef>
              <a:spcAft>
                <a:spcPts val="0"/>
              </a:spcAft>
              <a:buNone/>
            </a:pPr>
            <a:r>
              <a:rPr lang="vi-VN" sz="4000">
                <a:solidFill>
                  <a:srgbClr val="00327F"/>
                </a:solidFill>
              </a:rPr>
              <a:t>TỔNG QUAN MÔN HỌC</a:t>
            </a:r>
            <a:br>
              <a:rPr lang="vi-VN" sz="4000">
                <a:solidFill>
                  <a:srgbClr val="00327F"/>
                </a:solidFill>
              </a:rPr>
            </a:br>
            <a:endParaRPr sz="4000">
              <a:solidFill>
                <a:srgbClr val="00327F"/>
              </a:solidFill>
            </a:endParaRPr>
          </a:p>
        </p:txBody>
      </p:sp>
      <p:cxnSp>
        <p:nvCxnSpPr>
          <p:cNvPr id="53" name="Google Shape;53;p9"/>
          <p:cNvCxnSpPr/>
          <p:nvPr/>
        </p:nvCxnSpPr>
        <p:spPr>
          <a:xfrm>
            <a:off x="4794117" y="1227481"/>
            <a:ext cx="3106202" cy="0"/>
          </a:xfrm>
          <a:prstGeom prst="straightConnector1">
            <a:avLst/>
          </a:prstGeom>
          <a:noFill/>
          <a:ln cap="flat" cmpd="sng" w="28575">
            <a:solidFill>
              <a:srgbClr val="006633"/>
            </a:solidFill>
            <a:prstDash val="solid"/>
            <a:miter lim="8000"/>
            <a:headEnd len="sm" w="sm" type="none"/>
            <a:tailEnd len="sm" w="sm" type="none"/>
          </a:ln>
        </p:spPr>
      </p:cxnSp>
      <p:sp>
        <p:nvSpPr>
          <p:cNvPr id="54" name="Google Shape;54;p9"/>
          <p:cNvSpPr txBox="1"/>
          <p:nvPr/>
        </p:nvSpPr>
        <p:spPr>
          <a:xfrm>
            <a:off x="11587162" y="6375860"/>
            <a:ext cx="604838" cy="3111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6699"/>
              </a:buClr>
              <a:buSzPts val="1800"/>
              <a:buFont typeface="Arial"/>
              <a:buNone/>
            </a:pPr>
            <a:r>
              <a:rPr b="0" i="0" lang="vi-VN" sz="1800" u="none" cap="none" strike="noStrike">
                <a:solidFill>
                  <a:srgbClr val="336699"/>
                </a:solidFill>
                <a:latin typeface="Arial"/>
                <a:ea typeface="Arial"/>
                <a:cs typeface="Arial"/>
                <a:sym typeface="Arial"/>
              </a:rPr>
              <a:t> </a:t>
            </a:r>
            <a:endParaRPr/>
          </a:p>
        </p:txBody>
      </p:sp>
      <p:graphicFrame>
        <p:nvGraphicFramePr>
          <p:cNvPr id="55" name="Google Shape;55;p9"/>
          <p:cNvGraphicFramePr/>
          <p:nvPr/>
        </p:nvGraphicFramePr>
        <p:xfrm>
          <a:off x="5684197" y="4729625"/>
          <a:ext cx="3000000" cy="3000000"/>
        </p:xfrm>
        <a:graphic>
          <a:graphicData uri="http://schemas.openxmlformats.org/drawingml/2006/table">
            <a:tbl>
              <a:tblPr bandRow="1" firstRow="1">
                <a:noFill/>
                <a:tableStyleId>{734ADD44-C0DA-4FB1-B19D-C19CBA4B34DB}</a:tableStyleId>
              </a:tblPr>
              <a:tblGrid>
                <a:gridCol w="2443400"/>
                <a:gridCol w="5233950"/>
              </a:tblGrid>
              <a:tr h="370850">
                <a:tc>
                  <a:txBody>
                    <a:bodyPr/>
                    <a:lstStyle/>
                    <a:p>
                      <a:pPr indent="0" lvl="0" marL="0" marR="0" rtl="0" algn="l">
                        <a:spcBef>
                          <a:spcPts val="0"/>
                        </a:spcBef>
                        <a:spcAft>
                          <a:spcPts val="0"/>
                        </a:spcAft>
                        <a:buNone/>
                      </a:pPr>
                      <a:r>
                        <a:rPr b="1" i="1" lang="vi-VN" sz="1800" u="none" cap="none" strike="noStrike">
                          <a:solidFill>
                            <a:srgbClr val="002060"/>
                          </a:solidFill>
                        </a:rPr>
                        <a:t>Sinh viên thực hiện:</a:t>
                      </a:r>
                      <a:endParaRPr/>
                    </a:p>
                  </a:txBody>
                  <a:tcPr marT="45725" marB="45725" marR="91450" marL="91450"/>
                </a:tc>
                <a:tc>
                  <a:txBody>
                    <a:bodyPr/>
                    <a:lstStyle/>
                    <a:p>
                      <a:pPr indent="0" lvl="0" marL="0" marR="0" rtl="0" algn="l">
                        <a:spcBef>
                          <a:spcPts val="0"/>
                        </a:spcBef>
                        <a:spcAft>
                          <a:spcPts val="0"/>
                        </a:spcAft>
                        <a:buNone/>
                      </a:pPr>
                      <a:r>
                        <a:rPr b="1" i="1" lang="vi-VN" sz="1800">
                          <a:solidFill>
                            <a:srgbClr val="002060"/>
                          </a:solidFill>
                        </a:rPr>
                        <a:t>Nguyễn Duy Tính</a:t>
                      </a:r>
                      <a:endParaRPr b="1" i="1" sz="1800">
                        <a:solidFill>
                          <a:srgbClr val="002060"/>
                        </a:solidFill>
                      </a:endParaRPr>
                    </a:p>
                  </a:txBody>
                  <a:tcPr marT="45725" marB="45725" marR="91450" marL="91450"/>
                </a:tc>
              </a:tr>
              <a:tr h="370850">
                <a:tc>
                  <a:txBody>
                    <a:bodyPr/>
                    <a:lstStyle/>
                    <a:p>
                      <a:pPr indent="0" lvl="0" marL="0" marR="0" rtl="0" algn="l">
                        <a:spcBef>
                          <a:spcPts val="0"/>
                        </a:spcBef>
                        <a:spcAft>
                          <a:spcPts val="0"/>
                        </a:spcAft>
                        <a:buNone/>
                      </a:pPr>
                      <a:r>
                        <a:rPr i="1" lang="vi-VN" sz="1800">
                          <a:solidFill>
                            <a:srgbClr val="002060"/>
                          </a:solidFill>
                        </a:rPr>
                        <a:t>Giảng viên phụ trách:</a:t>
                      </a:r>
                      <a:endParaRPr/>
                    </a:p>
                  </a:txBody>
                  <a:tcPr marT="45725" marB="45725" marR="91450" marL="91450"/>
                </a:tc>
                <a:tc>
                  <a:txBody>
                    <a:bodyPr/>
                    <a:lstStyle/>
                    <a:p>
                      <a:pPr indent="0" lvl="0" marL="0" marR="0" rtl="0" algn="l">
                        <a:spcBef>
                          <a:spcPts val="0"/>
                        </a:spcBef>
                        <a:spcAft>
                          <a:spcPts val="0"/>
                        </a:spcAft>
                        <a:buNone/>
                      </a:pPr>
                      <a:r>
                        <a:rPr i="1" lang="vi-VN" sz="1800">
                          <a:solidFill>
                            <a:srgbClr val="002060"/>
                          </a:solidFill>
                        </a:rPr>
                        <a:t>TS. Phạm Huy Giao (Dr. P. H. Giao)</a:t>
                      </a:r>
                      <a:endParaRPr/>
                    </a:p>
                  </a:txBody>
                  <a:tcPr marT="45725" marB="45725" marR="91450" marL="91450"/>
                </a:tc>
              </a:tr>
            </a:tbl>
          </a:graphicData>
        </a:graphic>
      </p:graphicFrame>
      <p:sp>
        <p:nvSpPr>
          <p:cNvPr id="56" name="Google Shape;56;p9"/>
          <p:cNvSpPr txBox="1"/>
          <p:nvPr/>
        </p:nvSpPr>
        <p:spPr>
          <a:xfrm>
            <a:off x="3538868" y="6390518"/>
            <a:ext cx="506667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vi-VN" sz="1800" u="none" cap="none" strike="noStrike">
                <a:solidFill>
                  <a:srgbClr val="00327F"/>
                </a:solidFill>
                <a:latin typeface="Arial"/>
                <a:ea typeface="Arial"/>
                <a:cs typeface="Arial"/>
                <a:sym typeface="Arial"/>
              </a:rPr>
              <a:t>Thành phố Hồ Chí Minh, năm 2026</a:t>
            </a:r>
            <a:endParaRPr b="0" i="0" sz="1800" u="none" cap="none" strike="noStrike">
              <a:solidFill>
                <a:srgbClr val="00327F"/>
              </a:solidFill>
              <a:latin typeface="Arial"/>
              <a:ea typeface="Arial"/>
              <a:cs typeface="Arial"/>
              <a:sym typeface="Arial"/>
            </a:endParaRPr>
          </a:p>
        </p:txBody>
      </p:sp>
      <p:sp>
        <p:nvSpPr>
          <p:cNvPr id="57" name="Google Shape;57;p9"/>
          <p:cNvSpPr txBox="1"/>
          <p:nvPr/>
        </p:nvSpPr>
        <p:spPr>
          <a:xfrm>
            <a:off x="278626" y="2588573"/>
            <a:ext cx="11634748" cy="881540"/>
          </a:xfrm>
          <a:prstGeom prst="rect">
            <a:avLst/>
          </a:prstGeom>
          <a:noFill/>
          <a:ln>
            <a:noFill/>
          </a:ln>
        </p:spPr>
        <p:txBody>
          <a:bodyPr anchorCtr="0" anchor="t" bIns="46025" lIns="92075" spcFirstLastPara="1" rIns="92075" wrap="square" tIns="46025">
            <a:noAutofit/>
          </a:bodyPr>
          <a:lstStyle/>
          <a:p>
            <a:pPr indent="0" lvl="0" marL="0" marR="0" rtl="0" algn="ctr">
              <a:spcBef>
                <a:spcPts val="0"/>
              </a:spcBef>
              <a:spcAft>
                <a:spcPts val="0"/>
              </a:spcAft>
              <a:buNone/>
            </a:pPr>
            <a:r>
              <a:rPr b="1" i="0" lang="vi-VN" sz="2800" u="none" cap="none" strike="noStrike">
                <a:solidFill>
                  <a:srgbClr val="004CBF"/>
                </a:solidFill>
                <a:latin typeface="Tahoma"/>
                <a:ea typeface="Tahoma"/>
                <a:cs typeface="Tahoma"/>
                <a:sym typeface="Tahoma"/>
              </a:rPr>
              <a:t>ĐỊA VẬT LÝ ỨNG DỤNG (APPLIED GEOPHYSICS – APPGEO)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gtEl>
                                        <p:attrNameLst>
                                          <p:attrName>style.visibility</p:attrName>
                                        </p:attrNameLst>
                                      </p:cBhvr>
                                      <p:to>
                                        <p:strVal val="visible"/>
                                      </p:to>
                                    </p:set>
                                    <p:animEffect filter="fade" transition="in">
                                      <p:cBhvr>
                                        <p:cTn dur="500"/>
                                        <p:tgtEl>
                                          <p:spTgt spid="52"/>
                                        </p:tgtEl>
                                      </p:cBhvr>
                                    </p:animEffect>
                                  </p:childTnLst>
                                </p:cTn>
                              </p:par>
                            </p:childTnLst>
                          </p:cTn>
                        </p:par>
                        <p:par>
                          <p:cTn fill="hold">
                            <p:stCondLst>
                              <p:cond delay="500"/>
                            </p:stCondLst>
                            <p:childTnLst>
                              <p:par>
                                <p:cTn fill="hold" nodeType="afterEffect" presetClass="entr" presetID="10" presetSubtype="0">
                                  <p:stCondLst>
                                    <p:cond delay="250"/>
                                  </p:stCondLst>
                                  <p:childTnLst>
                                    <p:set>
                                      <p:cBhvr>
                                        <p:cTn dur="1" fill="hold">
                                          <p:stCondLst>
                                            <p:cond delay="0"/>
                                          </p:stCondLst>
                                        </p:cTn>
                                        <p:tgtEl>
                                          <p:spTgt spid="57"/>
                                        </p:tgtEl>
                                        <p:attrNameLst>
                                          <p:attrName>style.visibility</p:attrName>
                                        </p:attrNameLst>
                                      </p:cBhvr>
                                      <p:to>
                                        <p:strVal val="visible"/>
                                      </p:to>
                                    </p:set>
                                    <p:animEffect filter="fade" transition="in">
                                      <p:cBhvr>
                                        <p:cTn dur="500"/>
                                        <p:tgtEl>
                                          <p:spTgt spid="57"/>
                                        </p:tgtEl>
                                      </p:cBhvr>
                                    </p:animEffect>
                                  </p:childTnLst>
                                </p:cTn>
                              </p:par>
                            </p:childTnLst>
                          </p:cTn>
                        </p:par>
                        <p:par>
                          <p:cTn fill="hold">
                            <p:stCondLst>
                              <p:cond delay="1000"/>
                            </p:stCondLst>
                            <p:childTnLst>
                              <p:par>
                                <p:cTn fill="hold" nodeType="afterEffect" presetClass="entr" presetID="2" presetSubtype="4">
                                  <p:stCondLst>
                                    <p:cond delay="25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500"/>
                                        <p:tgtEl>
                                          <p:spTgt spid="5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0"/>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400"/>
              <a:t>MỤC ĐÍCH CỦA BÀI TRÌNH BÀY</a:t>
            </a:r>
            <a:endParaRPr/>
          </a:p>
        </p:txBody>
      </p:sp>
      <p:sp>
        <p:nvSpPr>
          <p:cNvPr id="63" name="Google Shape;63;p10"/>
          <p:cNvSpPr/>
          <p:nvPr/>
        </p:nvSpPr>
        <p:spPr>
          <a:xfrm>
            <a:off x="502920" y="1024128"/>
            <a:ext cx="11155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600"/>
              <a:buFont typeface="Arial"/>
              <a:buNone/>
            </a:pPr>
            <a:r>
              <a:rPr b="0" i="1" lang="vi-VN" sz="1600" u="none" cap="none" strike="noStrike">
                <a:solidFill>
                  <a:srgbClr val="444444"/>
                </a:solidFill>
                <a:latin typeface="Arial"/>
                <a:ea typeface="Arial"/>
                <a:cs typeface="Arial"/>
                <a:sym typeface="Arial"/>
              </a:rPr>
              <a:t>Giúp người nghe có cái nhìn tổng quan, có hệ thống về môn học trước khi đi vào từng chương.</a:t>
            </a:r>
            <a:endParaRPr/>
          </a:p>
        </p:txBody>
      </p:sp>
      <p:sp>
        <p:nvSpPr>
          <p:cNvPr id="64" name="Google Shape;64;p10"/>
          <p:cNvSpPr/>
          <p:nvPr/>
        </p:nvSpPr>
        <p:spPr>
          <a:xfrm>
            <a:off x="502920" y="1645920"/>
            <a:ext cx="5349240" cy="1874519"/>
          </a:xfrm>
          <a:prstGeom prst="roundRect">
            <a:avLst>
              <a:gd fmla="val 8000" name="adj"/>
            </a:avLst>
          </a:prstGeom>
          <a:solidFill>
            <a:srgbClr val="EEF3F9"/>
          </a:solidFill>
          <a:ln>
            <a:noFill/>
          </a:ln>
          <a:effectLst>
            <a:outerShdw blurRad="63500" rotWithShape="0" algn="t" dir="5400000" dist="19050">
              <a:srgbClr val="000000">
                <a:alpha val="18039"/>
              </a:srgbClr>
            </a:outerShdw>
          </a:effectLst>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 name="Google Shape;65;p10"/>
          <p:cNvSpPr/>
          <p:nvPr/>
        </p:nvSpPr>
        <p:spPr>
          <a:xfrm>
            <a:off x="731520" y="2263140"/>
            <a:ext cx="640080" cy="640080"/>
          </a:xfrm>
          <a:prstGeom prst="ellipse">
            <a:avLst/>
          </a:prstGeom>
          <a:solidFill>
            <a:srgbClr val="244882"/>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ial"/>
              <a:buNone/>
            </a:pPr>
            <a:r>
              <a:rPr b="1" i="0" lang="vi-VN" sz="2000">
                <a:solidFill>
                  <a:srgbClr val="FFFFFF"/>
                </a:solidFill>
                <a:latin typeface="Arial"/>
                <a:ea typeface="Arial"/>
                <a:cs typeface="Arial"/>
                <a:sym typeface="Arial"/>
              </a:rPr>
              <a:t>1</a:t>
            </a:r>
            <a:endParaRPr/>
          </a:p>
        </p:txBody>
      </p:sp>
      <p:sp>
        <p:nvSpPr>
          <p:cNvPr id="66" name="Google Shape;66;p10"/>
          <p:cNvSpPr/>
          <p:nvPr/>
        </p:nvSpPr>
        <p:spPr>
          <a:xfrm>
            <a:off x="1554480" y="1783080"/>
            <a:ext cx="4114800" cy="160019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4882"/>
              </a:buClr>
              <a:buSzPts val="2000"/>
              <a:buFont typeface="Arial"/>
              <a:buNone/>
            </a:pPr>
            <a:r>
              <a:rPr b="1" i="0" lang="vi-VN" sz="2000">
                <a:solidFill>
                  <a:srgbClr val="244882"/>
                </a:solidFill>
                <a:latin typeface="Arial"/>
                <a:ea typeface="Arial"/>
                <a:cs typeface="Arial"/>
                <a:sym typeface="Arial"/>
              </a:rPr>
              <a:t>Hệ thống hóa nội dung môn học</a:t>
            </a:r>
            <a:endParaRPr/>
          </a:p>
          <a:p>
            <a:pPr indent="0" lvl="0" marL="0" marR="0" rtl="0" algn="l">
              <a:spcBef>
                <a:spcPts val="600"/>
              </a:spcBef>
              <a:spcAft>
                <a:spcPts val="0"/>
              </a:spcAft>
              <a:buClr>
                <a:srgbClr val="444444"/>
              </a:buClr>
              <a:buSzPts val="1600"/>
              <a:buFont typeface="Arial"/>
              <a:buNone/>
            </a:pPr>
            <a:r>
              <a:rPr b="0" i="0" lang="vi-VN" sz="1600">
                <a:solidFill>
                  <a:srgbClr val="444444"/>
                </a:solidFill>
                <a:latin typeface="Arial"/>
                <a:ea typeface="Arial"/>
                <a:cs typeface="Arial"/>
                <a:sym typeface="Arial"/>
              </a:rPr>
              <a:t>Nắm được mục tiêu, mô tả và cấu trúc 9 chương (I – IX) của môn Applied Geophysics theo đề cương của giảng viên.</a:t>
            </a:r>
            <a:endParaRPr/>
          </a:p>
        </p:txBody>
      </p:sp>
      <p:sp>
        <p:nvSpPr>
          <p:cNvPr id="67" name="Google Shape;67;p10"/>
          <p:cNvSpPr/>
          <p:nvPr/>
        </p:nvSpPr>
        <p:spPr>
          <a:xfrm>
            <a:off x="6172200" y="1645920"/>
            <a:ext cx="5349240" cy="1874519"/>
          </a:xfrm>
          <a:prstGeom prst="roundRect">
            <a:avLst>
              <a:gd fmla="val 8000" name="adj"/>
            </a:avLst>
          </a:prstGeom>
          <a:solidFill>
            <a:srgbClr val="EEF3F9"/>
          </a:solidFill>
          <a:ln>
            <a:noFill/>
          </a:ln>
          <a:effectLst>
            <a:outerShdw blurRad="63500" rotWithShape="0" algn="t" dir="5400000" dist="19050">
              <a:srgbClr val="000000">
                <a:alpha val="18039"/>
              </a:srgbClr>
            </a:outerShdw>
          </a:effectLst>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10"/>
          <p:cNvSpPr/>
          <p:nvPr/>
        </p:nvSpPr>
        <p:spPr>
          <a:xfrm>
            <a:off x="6400800" y="2263140"/>
            <a:ext cx="640080" cy="640080"/>
          </a:xfrm>
          <a:prstGeom prst="ellipse">
            <a:avLst/>
          </a:prstGeom>
          <a:solidFill>
            <a:srgbClr val="244882"/>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ial"/>
              <a:buNone/>
            </a:pPr>
            <a:r>
              <a:rPr b="1" i="0" lang="vi-VN" sz="2000">
                <a:solidFill>
                  <a:srgbClr val="FFFFFF"/>
                </a:solidFill>
                <a:latin typeface="Arial"/>
                <a:ea typeface="Arial"/>
                <a:cs typeface="Arial"/>
                <a:sym typeface="Arial"/>
              </a:rPr>
              <a:t>2</a:t>
            </a:r>
            <a:endParaRPr/>
          </a:p>
        </p:txBody>
      </p:sp>
      <p:sp>
        <p:nvSpPr>
          <p:cNvPr id="69" name="Google Shape;69;p10"/>
          <p:cNvSpPr/>
          <p:nvPr/>
        </p:nvSpPr>
        <p:spPr>
          <a:xfrm>
            <a:off x="7223760" y="1783080"/>
            <a:ext cx="4114800" cy="160019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4882"/>
              </a:buClr>
              <a:buSzPts val="2000"/>
              <a:buFont typeface="Arial"/>
              <a:buNone/>
            </a:pPr>
            <a:r>
              <a:rPr b="1" i="0" lang="vi-VN" sz="2000">
                <a:solidFill>
                  <a:srgbClr val="244882"/>
                </a:solidFill>
                <a:latin typeface="Arial"/>
                <a:ea typeface="Arial"/>
                <a:cs typeface="Arial"/>
                <a:sym typeface="Arial"/>
              </a:rPr>
              <a:t>Làm rõ nguyên lý từng phương pháp</a:t>
            </a:r>
            <a:endParaRPr/>
          </a:p>
          <a:p>
            <a:pPr indent="0" lvl="0" marL="0" marR="0" rtl="0" algn="l">
              <a:spcBef>
                <a:spcPts val="600"/>
              </a:spcBef>
              <a:spcAft>
                <a:spcPts val="0"/>
              </a:spcAft>
              <a:buClr>
                <a:srgbClr val="444444"/>
              </a:buClr>
              <a:buSzPts val="1600"/>
              <a:buFont typeface="Arial"/>
              <a:buNone/>
            </a:pPr>
            <a:r>
              <a:rPr b="0" i="0" lang="vi-VN" sz="1600">
                <a:solidFill>
                  <a:srgbClr val="444444"/>
                </a:solidFill>
                <a:latin typeface="Arial"/>
                <a:ea typeface="Arial"/>
                <a:cs typeface="Arial"/>
                <a:sym typeface="Arial"/>
              </a:rPr>
              <a:t>Địa chấn, Điện, Từ, Trọng lực, Địa vật lý giếng khoan: tính chất vật lý được đo, phạm vi ứng dụng và giới hạn.</a:t>
            </a:r>
            <a:endParaRPr/>
          </a:p>
        </p:txBody>
      </p:sp>
      <p:sp>
        <p:nvSpPr>
          <p:cNvPr id="70" name="Google Shape;70;p10"/>
          <p:cNvSpPr/>
          <p:nvPr/>
        </p:nvSpPr>
        <p:spPr>
          <a:xfrm>
            <a:off x="502920" y="3749039"/>
            <a:ext cx="5349240" cy="1874519"/>
          </a:xfrm>
          <a:prstGeom prst="roundRect">
            <a:avLst>
              <a:gd fmla="val 8000" name="adj"/>
            </a:avLst>
          </a:prstGeom>
          <a:solidFill>
            <a:srgbClr val="EEF3F9"/>
          </a:solidFill>
          <a:ln>
            <a:noFill/>
          </a:ln>
          <a:effectLst>
            <a:outerShdw blurRad="63500" rotWithShape="0" algn="t" dir="5400000" dist="19050">
              <a:srgbClr val="000000">
                <a:alpha val="18039"/>
              </a:srgbClr>
            </a:outerShdw>
          </a:effectLst>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10"/>
          <p:cNvSpPr/>
          <p:nvPr/>
        </p:nvSpPr>
        <p:spPr>
          <a:xfrm>
            <a:off x="731520" y="4366260"/>
            <a:ext cx="640080" cy="640080"/>
          </a:xfrm>
          <a:prstGeom prst="ellipse">
            <a:avLst/>
          </a:prstGeom>
          <a:solidFill>
            <a:srgbClr val="244882"/>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ial"/>
              <a:buNone/>
            </a:pPr>
            <a:r>
              <a:rPr b="1" i="0" lang="vi-VN" sz="2000">
                <a:solidFill>
                  <a:srgbClr val="FFFFFF"/>
                </a:solidFill>
                <a:latin typeface="Arial"/>
                <a:ea typeface="Arial"/>
                <a:cs typeface="Arial"/>
                <a:sym typeface="Arial"/>
              </a:rPr>
              <a:t>3</a:t>
            </a:r>
            <a:endParaRPr/>
          </a:p>
        </p:txBody>
      </p:sp>
      <p:sp>
        <p:nvSpPr>
          <p:cNvPr id="72" name="Google Shape;72;p10"/>
          <p:cNvSpPr/>
          <p:nvPr/>
        </p:nvSpPr>
        <p:spPr>
          <a:xfrm>
            <a:off x="1554480" y="3886200"/>
            <a:ext cx="4114800" cy="160019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4882"/>
              </a:buClr>
              <a:buSzPts val="2000"/>
              <a:buFont typeface="Arial"/>
              <a:buNone/>
            </a:pPr>
            <a:r>
              <a:rPr b="1" i="0" lang="vi-VN" sz="2000">
                <a:solidFill>
                  <a:srgbClr val="244882"/>
                </a:solidFill>
                <a:latin typeface="Arial"/>
                <a:ea typeface="Arial"/>
                <a:cs typeface="Arial"/>
                <a:sym typeface="Arial"/>
              </a:rPr>
              <a:t>Kết nối với xu hướng hiện đại</a:t>
            </a:r>
            <a:endParaRPr/>
          </a:p>
          <a:p>
            <a:pPr indent="0" lvl="0" marL="0" marR="0" rtl="0" algn="l">
              <a:spcBef>
                <a:spcPts val="600"/>
              </a:spcBef>
              <a:spcAft>
                <a:spcPts val="0"/>
              </a:spcAft>
              <a:buClr>
                <a:srgbClr val="444444"/>
              </a:buClr>
              <a:buSzPts val="1600"/>
              <a:buFont typeface="Arial"/>
              <a:buNone/>
            </a:pPr>
            <a:r>
              <a:rPr b="0" i="0" lang="vi-VN" sz="1600">
                <a:solidFill>
                  <a:srgbClr val="444444"/>
                </a:solidFill>
                <a:latin typeface="Arial"/>
                <a:ea typeface="Arial"/>
                <a:cs typeface="Arial"/>
                <a:sym typeface="Arial"/>
              </a:rPr>
              <a:t>Liên hệ môn học với AI/ML, lập trình Python, chuyển dịch năng lượng và 17 Mục tiêu Phát triển Bền vững (SDGs).</a:t>
            </a:r>
            <a:endParaRPr/>
          </a:p>
        </p:txBody>
      </p:sp>
      <p:sp>
        <p:nvSpPr>
          <p:cNvPr id="73" name="Google Shape;73;p10"/>
          <p:cNvSpPr/>
          <p:nvPr/>
        </p:nvSpPr>
        <p:spPr>
          <a:xfrm>
            <a:off x="6172200" y="3749039"/>
            <a:ext cx="5349240" cy="1874519"/>
          </a:xfrm>
          <a:prstGeom prst="roundRect">
            <a:avLst>
              <a:gd fmla="val 8000" name="adj"/>
            </a:avLst>
          </a:prstGeom>
          <a:solidFill>
            <a:srgbClr val="EEF3F9"/>
          </a:solidFill>
          <a:ln>
            <a:noFill/>
          </a:ln>
          <a:effectLst>
            <a:outerShdw blurRad="63500" rotWithShape="0" algn="t" dir="5400000" dist="19050">
              <a:srgbClr val="000000">
                <a:alpha val="18039"/>
              </a:srgbClr>
            </a:outerShdw>
          </a:effectLst>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 name="Google Shape;74;p10"/>
          <p:cNvSpPr/>
          <p:nvPr/>
        </p:nvSpPr>
        <p:spPr>
          <a:xfrm>
            <a:off x="6400800" y="4366260"/>
            <a:ext cx="640080" cy="640080"/>
          </a:xfrm>
          <a:prstGeom prst="ellipse">
            <a:avLst/>
          </a:prstGeom>
          <a:solidFill>
            <a:srgbClr val="244882"/>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ial"/>
              <a:buNone/>
            </a:pPr>
            <a:r>
              <a:rPr b="1" i="0" lang="vi-VN" sz="2000">
                <a:solidFill>
                  <a:srgbClr val="FFFFFF"/>
                </a:solidFill>
                <a:latin typeface="Arial"/>
                <a:ea typeface="Arial"/>
                <a:cs typeface="Arial"/>
                <a:sym typeface="Arial"/>
              </a:rPr>
              <a:t>4</a:t>
            </a:r>
            <a:endParaRPr/>
          </a:p>
        </p:txBody>
      </p:sp>
      <p:sp>
        <p:nvSpPr>
          <p:cNvPr id="75" name="Google Shape;75;p10"/>
          <p:cNvSpPr/>
          <p:nvPr/>
        </p:nvSpPr>
        <p:spPr>
          <a:xfrm>
            <a:off x="7223760" y="3886200"/>
            <a:ext cx="4114800" cy="160019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4882"/>
              </a:buClr>
              <a:buSzPts val="2000"/>
              <a:buFont typeface="Arial"/>
              <a:buNone/>
            </a:pPr>
            <a:r>
              <a:rPr b="1" i="0" lang="vi-VN" sz="2000">
                <a:solidFill>
                  <a:srgbClr val="244882"/>
                </a:solidFill>
                <a:latin typeface="Arial"/>
                <a:ea typeface="Arial"/>
                <a:cs typeface="Arial"/>
                <a:sym typeface="Arial"/>
              </a:rPr>
              <a:t>Định hướng kế hoạch học tập</a:t>
            </a:r>
            <a:endParaRPr/>
          </a:p>
          <a:p>
            <a:pPr indent="0" lvl="0" marL="0" marR="0" rtl="0" algn="l">
              <a:spcBef>
                <a:spcPts val="600"/>
              </a:spcBef>
              <a:spcAft>
                <a:spcPts val="0"/>
              </a:spcAft>
              <a:buClr>
                <a:srgbClr val="444444"/>
              </a:buClr>
              <a:buSzPts val="1600"/>
              <a:buFont typeface="Arial"/>
              <a:buNone/>
            </a:pPr>
            <a:r>
              <a:rPr b="0" i="0" lang="vi-VN" sz="1600">
                <a:solidFill>
                  <a:srgbClr val="444444"/>
                </a:solidFill>
                <a:latin typeface="Arial"/>
                <a:ea typeface="Arial"/>
                <a:cs typeface="Arial"/>
                <a:sym typeface="Arial"/>
              </a:rPr>
              <a:t>Hiểu rõ phương pháp học, hệ thống đánh giá và tài liệu tham khảo để chủ động tự học suốt học kỳ.</a:t>
            </a:r>
            <a:endParaRPr/>
          </a:p>
        </p:txBody>
      </p:sp>
      <p:sp>
        <p:nvSpPr>
          <p:cNvPr id="76" name="Google Shape;76;p10"/>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1"/>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400"/>
              <a:t>PHƯƠNG PHÁP THỰC HIỆN</a:t>
            </a:r>
            <a:endParaRPr/>
          </a:p>
        </p:txBody>
      </p:sp>
      <p:sp>
        <p:nvSpPr>
          <p:cNvPr id="82" name="Google Shape;82;p11"/>
          <p:cNvSpPr/>
          <p:nvPr/>
        </p:nvSpPr>
        <p:spPr>
          <a:xfrm>
            <a:off x="502920" y="1024128"/>
            <a:ext cx="11155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44444"/>
              </a:buClr>
              <a:buSzPts val="1600"/>
              <a:buFont typeface="Arial"/>
              <a:buNone/>
            </a:pPr>
            <a:r>
              <a:rPr b="0" i="1" lang="vi-VN" sz="1600">
                <a:solidFill>
                  <a:srgbClr val="444444"/>
                </a:solidFill>
                <a:latin typeface="Arial"/>
                <a:ea typeface="Arial"/>
                <a:cs typeface="Arial"/>
                <a:sym typeface="Arial"/>
              </a:rPr>
              <a:t>Quy trình 5 bước được áp dụng để xây dựng bài trình bày tổng quan môn học</a:t>
            </a:r>
            <a:endParaRPr/>
          </a:p>
        </p:txBody>
      </p:sp>
      <p:sp>
        <p:nvSpPr>
          <p:cNvPr id="83" name="Google Shape;83;p11"/>
          <p:cNvSpPr/>
          <p:nvPr/>
        </p:nvSpPr>
        <p:spPr>
          <a:xfrm>
            <a:off x="502920" y="2103120"/>
            <a:ext cx="2070201" cy="2971800"/>
          </a:xfrm>
          <a:prstGeom prst="roundRect">
            <a:avLst>
              <a:gd fmla="val 8000" name="adj"/>
            </a:avLst>
          </a:prstGeom>
          <a:solidFill>
            <a:srgbClr val="EEF3F9"/>
          </a:solidFill>
          <a:ln>
            <a:noFill/>
          </a:ln>
          <a:effectLst>
            <a:outerShdw blurRad="63500" rotWithShape="0" algn="t" dir="5400000" dist="19050">
              <a:srgbClr val="000000">
                <a:alpha val="18039"/>
              </a:srgbClr>
            </a:outerShdw>
          </a:effectLst>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 name="Google Shape;84;p11"/>
          <p:cNvSpPr/>
          <p:nvPr/>
        </p:nvSpPr>
        <p:spPr>
          <a:xfrm>
            <a:off x="1126540" y="1691640"/>
            <a:ext cx="822960" cy="822960"/>
          </a:xfrm>
          <a:prstGeom prst="ellipse">
            <a:avLst/>
          </a:prstGeom>
          <a:solidFill>
            <a:srgbClr val="244882"/>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i="0" lang="vi-VN" sz="2400">
                <a:solidFill>
                  <a:srgbClr val="FFFFFF"/>
                </a:solidFill>
                <a:latin typeface="Arial"/>
                <a:ea typeface="Arial"/>
                <a:cs typeface="Arial"/>
                <a:sym typeface="Arial"/>
              </a:rPr>
              <a:t>1</a:t>
            </a:r>
            <a:endParaRPr/>
          </a:p>
        </p:txBody>
      </p:sp>
      <p:sp>
        <p:nvSpPr>
          <p:cNvPr id="85" name="Google Shape;85;p11"/>
          <p:cNvSpPr/>
          <p:nvPr/>
        </p:nvSpPr>
        <p:spPr>
          <a:xfrm>
            <a:off x="612648" y="2651760"/>
            <a:ext cx="1850745" cy="23317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44882"/>
              </a:buClr>
              <a:buSzPts val="1800"/>
              <a:buFont typeface="Arial"/>
              <a:buNone/>
            </a:pPr>
            <a:r>
              <a:rPr b="1" i="0" lang="vi-VN" sz="1800">
                <a:solidFill>
                  <a:srgbClr val="244882"/>
                </a:solidFill>
                <a:latin typeface="Arial"/>
                <a:ea typeface="Arial"/>
                <a:cs typeface="Arial"/>
                <a:sym typeface="Arial"/>
              </a:rPr>
              <a:t>Nghiên cứu đề cương</a:t>
            </a:r>
            <a:endParaRPr/>
          </a:p>
          <a:p>
            <a:pPr indent="0" lvl="0" marL="0" marR="0" rtl="0" algn="ctr">
              <a:spcBef>
                <a:spcPts val="800"/>
              </a:spcBef>
              <a:spcAft>
                <a:spcPts val="0"/>
              </a:spcAft>
              <a:buClr>
                <a:srgbClr val="444444"/>
              </a:buClr>
              <a:buSzPts val="1400"/>
              <a:buFont typeface="Arial"/>
              <a:buNone/>
            </a:pPr>
            <a:r>
              <a:rPr b="0" i="0" lang="vi-VN" sz="1400">
                <a:solidFill>
                  <a:srgbClr val="444444"/>
                </a:solidFill>
                <a:latin typeface="Arial"/>
                <a:ea typeface="Arial"/>
                <a:cs typeface="Arial"/>
                <a:sym typeface="Arial"/>
              </a:rPr>
              <a:t>Đọc và phân tích đề cương môn học (syllabus) của TS. Phạm Huy Giao, học kỳ 9 – 12/2026</a:t>
            </a:r>
            <a:endParaRPr/>
          </a:p>
        </p:txBody>
      </p:sp>
      <p:sp>
        <p:nvSpPr>
          <p:cNvPr id="86" name="Google Shape;86;p11"/>
          <p:cNvSpPr/>
          <p:nvPr/>
        </p:nvSpPr>
        <p:spPr>
          <a:xfrm>
            <a:off x="2554833" y="1965960"/>
            <a:ext cx="237744" cy="274320"/>
          </a:xfrm>
          <a:prstGeom prst="rightArrow">
            <a:avLst>
              <a:gd fmla="val 50000" name="adj1"/>
              <a:gd fmla="val 50000" name="adj2"/>
            </a:avLst>
          </a:prstGeom>
          <a:solidFill>
            <a:srgbClr val="D9534F"/>
          </a:solidFill>
          <a:ln>
            <a:noFill/>
          </a:ln>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11"/>
          <p:cNvSpPr/>
          <p:nvPr/>
        </p:nvSpPr>
        <p:spPr>
          <a:xfrm>
            <a:off x="2774289" y="2103120"/>
            <a:ext cx="2070201" cy="2971800"/>
          </a:xfrm>
          <a:prstGeom prst="roundRect">
            <a:avLst>
              <a:gd fmla="val 8000" name="adj"/>
            </a:avLst>
          </a:prstGeom>
          <a:solidFill>
            <a:srgbClr val="EEF3F9"/>
          </a:solidFill>
          <a:ln>
            <a:noFill/>
          </a:ln>
          <a:effectLst>
            <a:outerShdw blurRad="63500" rotWithShape="0" algn="t" dir="5400000" dist="19050">
              <a:srgbClr val="000000">
                <a:alpha val="18039"/>
              </a:srgbClr>
            </a:outerShdw>
          </a:effectLst>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 name="Google Shape;88;p11"/>
          <p:cNvSpPr/>
          <p:nvPr/>
        </p:nvSpPr>
        <p:spPr>
          <a:xfrm>
            <a:off x="3397910" y="1691640"/>
            <a:ext cx="822960" cy="822960"/>
          </a:xfrm>
          <a:prstGeom prst="ellipse">
            <a:avLst/>
          </a:prstGeom>
          <a:solidFill>
            <a:srgbClr val="336699"/>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i="0" lang="vi-VN" sz="2400">
                <a:solidFill>
                  <a:srgbClr val="FFFFFF"/>
                </a:solidFill>
                <a:latin typeface="Arial"/>
                <a:ea typeface="Arial"/>
                <a:cs typeface="Arial"/>
                <a:sym typeface="Arial"/>
              </a:rPr>
              <a:t>2</a:t>
            </a:r>
            <a:endParaRPr/>
          </a:p>
        </p:txBody>
      </p:sp>
      <p:sp>
        <p:nvSpPr>
          <p:cNvPr id="89" name="Google Shape;89;p11"/>
          <p:cNvSpPr/>
          <p:nvPr/>
        </p:nvSpPr>
        <p:spPr>
          <a:xfrm>
            <a:off x="2884017" y="2651760"/>
            <a:ext cx="1850745" cy="23317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44882"/>
              </a:buClr>
              <a:buSzPts val="1800"/>
              <a:buFont typeface="Arial"/>
              <a:buNone/>
            </a:pPr>
            <a:r>
              <a:rPr b="1" i="0" lang="vi-VN" sz="1800">
                <a:solidFill>
                  <a:srgbClr val="244882"/>
                </a:solidFill>
                <a:latin typeface="Arial"/>
                <a:ea typeface="Arial"/>
                <a:cs typeface="Arial"/>
                <a:sym typeface="Arial"/>
              </a:rPr>
              <a:t>Thu thập tài liệu</a:t>
            </a:r>
            <a:endParaRPr/>
          </a:p>
          <a:p>
            <a:pPr indent="0" lvl="0" marL="0" marR="0" rtl="0" algn="ctr">
              <a:spcBef>
                <a:spcPts val="800"/>
              </a:spcBef>
              <a:spcAft>
                <a:spcPts val="0"/>
              </a:spcAft>
              <a:buClr>
                <a:srgbClr val="444444"/>
              </a:buClr>
              <a:buSzPts val="1400"/>
              <a:buFont typeface="Arial"/>
              <a:buNone/>
            </a:pPr>
            <a:r>
              <a:rPr b="0" i="0" lang="vi-VN" sz="1400">
                <a:solidFill>
                  <a:srgbClr val="444444"/>
                </a:solidFill>
                <a:latin typeface="Arial"/>
                <a:ea typeface="Arial"/>
                <a:cs typeface="Arial"/>
                <a:sym typeface="Arial"/>
              </a:rPr>
              <a:t>Giáo trình chính (Giao, 2025; Burger et al., 2004; SEGJ, 2014) và tài liệu tham khảo (Telford, Ellis, Liner…)</a:t>
            </a:r>
            <a:endParaRPr/>
          </a:p>
        </p:txBody>
      </p:sp>
      <p:sp>
        <p:nvSpPr>
          <p:cNvPr id="90" name="Google Shape;90;p11"/>
          <p:cNvSpPr/>
          <p:nvPr/>
        </p:nvSpPr>
        <p:spPr>
          <a:xfrm>
            <a:off x="4826203" y="1965960"/>
            <a:ext cx="237744" cy="274320"/>
          </a:xfrm>
          <a:prstGeom prst="rightArrow">
            <a:avLst>
              <a:gd fmla="val 50000" name="adj1"/>
              <a:gd fmla="val 50000" name="adj2"/>
            </a:avLst>
          </a:prstGeom>
          <a:solidFill>
            <a:srgbClr val="D9534F"/>
          </a:solidFill>
          <a:ln>
            <a:noFill/>
          </a:ln>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11"/>
          <p:cNvSpPr/>
          <p:nvPr/>
        </p:nvSpPr>
        <p:spPr>
          <a:xfrm>
            <a:off x="5045659" y="2103120"/>
            <a:ext cx="2070201" cy="2971800"/>
          </a:xfrm>
          <a:prstGeom prst="roundRect">
            <a:avLst>
              <a:gd fmla="val 8000" name="adj"/>
            </a:avLst>
          </a:prstGeom>
          <a:solidFill>
            <a:srgbClr val="EEF3F9"/>
          </a:solidFill>
          <a:ln>
            <a:noFill/>
          </a:ln>
          <a:effectLst>
            <a:outerShdw blurRad="63500" rotWithShape="0" algn="t" dir="5400000" dist="19050">
              <a:srgbClr val="000000">
                <a:alpha val="18039"/>
              </a:srgbClr>
            </a:outerShdw>
          </a:effectLst>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11"/>
          <p:cNvSpPr/>
          <p:nvPr/>
        </p:nvSpPr>
        <p:spPr>
          <a:xfrm>
            <a:off x="5669279" y="1691640"/>
            <a:ext cx="822960" cy="822960"/>
          </a:xfrm>
          <a:prstGeom prst="ellipse">
            <a:avLst/>
          </a:prstGeom>
          <a:solidFill>
            <a:srgbClr val="244882"/>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i="0" lang="vi-VN" sz="2400">
                <a:solidFill>
                  <a:srgbClr val="FFFFFF"/>
                </a:solidFill>
                <a:latin typeface="Arial"/>
                <a:ea typeface="Arial"/>
                <a:cs typeface="Arial"/>
                <a:sym typeface="Arial"/>
              </a:rPr>
              <a:t>3</a:t>
            </a:r>
            <a:endParaRPr/>
          </a:p>
        </p:txBody>
      </p:sp>
      <p:sp>
        <p:nvSpPr>
          <p:cNvPr id="93" name="Google Shape;93;p11"/>
          <p:cNvSpPr/>
          <p:nvPr/>
        </p:nvSpPr>
        <p:spPr>
          <a:xfrm>
            <a:off x="5155387" y="2651760"/>
            <a:ext cx="1850745" cy="23317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44882"/>
              </a:buClr>
              <a:buSzPts val="1800"/>
              <a:buFont typeface="Arial"/>
              <a:buNone/>
            </a:pPr>
            <a:r>
              <a:rPr b="1" i="0" lang="vi-VN" sz="1800">
                <a:solidFill>
                  <a:srgbClr val="244882"/>
                </a:solidFill>
                <a:latin typeface="Arial"/>
                <a:ea typeface="Arial"/>
                <a:cs typeface="Arial"/>
                <a:sym typeface="Arial"/>
              </a:rPr>
              <a:t>Phân tích &amp; hệ thống hóa</a:t>
            </a:r>
            <a:endParaRPr/>
          </a:p>
          <a:p>
            <a:pPr indent="0" lvl="0" marL="0" marR="0" rtl="0" algn="ctr">
              <a:spcBef>
                <a:spcPts val="800"/>
              </a:spcBef>
              <a:spcAft>
                <a:spcPts val="0"/>
              </a:spcAft>
              <a:buClr>
                <a:srgbClr val="444444"/>
              </a:buClr>
              <a:buSzPts val="1400"/>
              <a:buFont typeface="Arial"/>
              <a:buNone/>
            </a:pPr>
            <a:r>
              <a:rPr b="0" i="0" lang="vi-VN" sz="1400">
                <a:solidFill>
                  <a:srgbClr val="444444"/>
                </a:solidFill>
                <a:latin typeface="Arial"/>
                <a:ea typeface="Arial"/>
                <a:cs typeface="Arial"/>
                <a:sym typeface="Arial"/>
              </a:rPr>
              <a:t>Tổ chức từng chương theo mạch: nguyên lý → đo thực địa → xử lý → minh giải → ứng dụng</a:t>
            </a:r>
            <a:endParaRPr/>
          </a:p>
        </p:txBody>
      </p:sp>
      <p:sp>
        <p:nvSpPr>
          <p:cNvPr id="94" name="Google Shape;94;p11"/>
          <p:cNvSpPr/>
          <p:nvPr/>
        </p:nvSpPr>
        <p:spPr>
          <a:xfrm>
            <a:off x="7097572" y="1965960"/>
            <a:ext cx="237744" cy="274320"/>
          </a:xfrm>
          <a:prstGeom prst="rightArrow">
            <a:avLst>
              <a:gd fmla="val 50000" name="adj1"/>
              <a:gd fmla="val 50000" name="adj2"/>
            </a:avLst>
          </a:prstGeom>
          <a:solidFill>
            <a:srgbClr val="D9534F"/>
          </a:solidFill>
          <a:ln>
            <a:noFill/>
          </a:ln>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5" name="Google Shape;95;p11"/>
          <p:cNvSpPr/>
          <p:nvPr/>
        </p:nvSpPr>
        <p:spPr>
          <a:xfrm>
            <a:off x="7317028" y="2103120"/>
            <a:ext cx="2070201" cy="2971800"/>
          </a:xfrm>
          <a:prstGeom prst="roundRect">
            <a:avLst>
              <a:gd fmla="val 8000" name="adj"/>
            </a:avLst>
          </a:prstGeom>
          <a:solidFill>
            <a:srgbClr val="EEF3F9"/>
          </a:solidFill>
          <a:ln>
            <a:noFill/>
          </a:ln>
          <a:effectLst>
            <a:outerShdw blurRad="63500" rotWithShape="0" algn="t" dir="5400000" dist="19050">
              <a:srgbClr val="000000">
                <a:alpha val="18039"/>
              </a:srgbClr>
            </a:outerShdw>
          </a:effectLst>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6" name="Google Shape;96;p11"/>
          <p:cNvSpPr/>
          <p:nvPr/>
        </p:nvSpPr>
        <p:spPr>
          <a:xfrm>
            <a:off x="7940649" y="1691640"/>
            <a:ext cx="822960" cy="822960"/>
          </a:xfrm>
          <a:prstGeom prst="ellipse">
            <a:avLst/>
          </a:prstGeom>
          <a:solidFill>
            <a:srgbClr val="336699"/>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i="0" lang="vi-VN" sz="2400">
                <a:solidFill>
                  <a:srgbClr val="FFFFFF"/>
                </a:solidFill>
                <a:latin typeface="Arial"/>
                <a:ea typeface="Arial"/>
                <a:cs typeface="Arial"/>
                <a:sym typeface="Arial"/>
              </a:rPr>
              <a:t>4</a:t>
            </a:r>
            <a:endParaRPr/>
          </a:p>
        </p:txBody>
      </p:sp>
      <p:sp>
        <p:nvSpPr>
          <p:cNvPr id="97" name="Google Shape;97;p11"/>
          <p:cNvSpPr/>
          <p:nvPr/>
        </p:nvSpPr>
        <p:spPr>
          <a:xfrm>
            <a:off x="7426756" y="2651760"/>
            <a:ext cx="1850745" cy="23317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44882"/>
              </a:buClr>
              <a:buSzPts val="1800"/>
              <a:buFont typeface="Arial"/>
              <a:buNone/>
            </a:pPr>
            <a:r>
              <a:rPr b="1" i="0" lang="vi-VN" sz="1800">
                <a:solidFill>
                  <a:srgbClr val="244882"/>
                </a:solidFill>
                <a:latin typeface="Arial"/>
                <a:ea typeface="Arial"/>
                <a:cs typeface="Arial"/>
                <a:sym typeface="Arial"/>
              </a:rPr>
              <a:t>Trực quan hóa</a:t>
            </a:r>
            <a:endParaRPr/>
          </a:p>
          <a:p>
            <a:pPr indent="0" lvl="0" marL="0" marR="0" rtl="0" algn="ctr">
              <a:spcBef>
                <a:spcPts val="800"/>
              </a:spcBef>
              <a:spcAft>
                <a:spcPts val="0"/>
              </a:spcAft>
              <a:buClr>
                <a:srgbClr val="444444"/>
              </a:buClr>
              <a:buSzPts val="1400"/>
              <a:buFont typeface="Arial"/>
              <a:buNone/>
            </a:pPr>
            <a:r>
              <a:rPr b="0" i="0" lang="vi-VN" sz="1400">
                <a:solidFill>
                  <a:srgbClr val="444444"/>
                </a:solidFill>
                <a:latin typeface="Arial"/>
                <a:ea typeface="Arial"/>
                <a:cs typeface="Arial"/>
                <a:sym typeface="Arial"/>
              </a:rPr>
              <a:t>Biên soạn sơ đồ minh họa nguyên lý, bảng tổng hợp, quy trình từ tài liệu gốc (có trích nguồn)</a:t>
            </a:r>
            <a:endParaRPr/>
          </a:p>
        </p:txBody>
      </p:sp>
      <p:sp>
        <p:nvSpPr>
          <p:cNvPr id="98" name="Google Shape;98;p11"/>
          <p:cNvSpPr/>
          <p:nvPr/>
        </p:nvSpPr>
        <p:spPr>
          <a:xfrm>
            <a:off x="9368942" y="1965960"/>
            <a:ext cx="237744" cy="274320"/>
          </a:xfrm>
          <a:prstGeom prst="rightArrow">
            <a:avLst>
              <a:gd fmla="val 50000" name="adj1"/>
              <a:gd fmla="val 50000" name="adj2"/>
            </a:avLst>
          </a:prstGeom>
          <a:solidFill>
            <a:srgbClr val="D9534F"/>
          </a:solidFill>
          <a:ln>
            <a:noFill/>
          </a:ln>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9" name="Google Shape;99;p11"/>
          <p:cNvSpPr/>
          <p:nvPr/>
        </p:nvSpPr>
        <p:spPr>
          <a:xfrm>
            <a:off x="9588398" y="2103120"/>
            <a:ext cx="2070201" cy="2971800"/>
          </a:xfrm>
          <a:prstGeom prst="roundRect">
            <a:avLst>
              <a:gd fmla="val 8000" name="adj"/>
            </a:avLst>
          </a:prstGeom>
          <a:solidFill>
            <a:srgbClr val="EEF3F9"/>
          </a:solidFill>
          <a:ln>
            <a:noFill/>
          </a:ln>
          <a:effectLst>
            <a:outerShdw blurRad="63500" rotWithShape="0" algn="t" dir="5400000" dist="19050">
              <a:srgbClr val="000000">
                <a:alpha val="18039"/>
              </a:srgbClr>
            </a:outerShdw>
          </a:effectLst>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 name="Google Shape;100;p11"/>
          <p:cNvSpPr/>
          <p:nvPr/>
        </p:nvSpPr>
        <p:spPr>
          <a:xfrm>
            <a:off x="10212019" y="1691640"/>
            <a:ext cx="822960" cy="822960"/>
          </a:xfrm>
          <a:prstGeom prst="ellipse">
            <a:avLst/>
          </a:prstGeom>
          <a:solidFill>
            <a:srgbClr val="244882"/>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i="0" lang="vi-VN" sz="2400">
                <a:solidFill>
                  <a:srgbClr val="FFFFFF"/>
                </a:solidFill>
                <a:latin typeface="Arial"/>
                <a:ea typeface="Arial"/>
                <a:cs typeface="Arial"/>
                <a:sym typeface="Arial"/>
              </a:rPr>
              <a:t>5</a:t>
            </a:r>
            <a:endParaRPr/>
          </a:p>
        </p:txBody>
      </p:sp>
      <p:sp>
        <p:nvSpPr>
          <p:cNvPr id="101" name="Google Shape;101;p11"/>
          <p:cNvSpPr/>
          <p:nvPr/>
        </p:nvSpPr>
        <p:spPr>
          <a:xfrm>
            <a:off x="9698126" y="2651760"/>
            <a:ext cx="1850745" cy="23317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44882"/>
              </a:buClr>
              <a:buSzPts val="1800"/>
              <a:buFont typeface="Arial"/>
              <a:buNone/>
            </a:pPr>
            <a:r>
              <a:rPr b="1" i="0" lang="vi-VN" sz="1800">
                <a:solidFill>
                  <a:srgbClr val="244882"/>
                </a:solidFill>
                <a:latin typeface="Arial"/>
                <a:ea typeface="Arial"/>
                <a:cs typeface="Arial"/>
                <a:sym typeface="Arial"/>
              </a:rPr>
              <a:t>Tổng hợp &amp; trình bày</a:t>
            </a:r>
            <a:endParaRPr/>
          </a:p>
          <a:p>
            <a:pPr indent="0" lvl="0" marL="0" marR="0" rtl="0" algn="ctr">
              <a:spcBef>
                <a:spcPts val="800"/>
              </a:spcBef>
              <a:spcAft>
                <a:spcPts val="0"/>
              </a:spcAft>
              <a:buClr>
                <a:srgbClr val="444444"/>
              </a:buClr>
              <a:buSzPts val="1400"/>
              <a:buFont typeface="Arial"/>
              <a:buNone/>
            </a:pPr>
            <a:r>
              <a:rPr b="0" i="0" lang="vi-VN" sz="1400">
                <a:solidFill>
                  <a:srgbClr val="444444"/>
                </a:solidFill>
                <a:latin typeface="Arial"/>
                <a:ea typeface="Arial"/>
                <a:cs typeface="Arial"/>
                <a:sym typeface="Arial"/>
              </a:rPr>
              <a:t>Liên hệ xu hướng AI/ML, năng lượng bền vững; hoàn thiện slide và thuyết trình</a:t>
            </a:r>
            <a:endParaRPr/>
          </a:p>
        </p:txBody>
      </p:sp>
      <p:sp>
        <p:nvSpPr>
          <p:cNvPr id="102" name="Google Shape;102;p11"/>
          <p:cNvSpPr/>
          <p:nvPr/>
        </p:nvSpPr>
        <p:spPr>
          <a:xfrm>
            <a:off x="502920" y="5303520"/>
            <a:ext cx="11155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4F"/>
              </a:buClr>
              <a:buSzPts val="1400"/>
              <a:buFont typeface="Arial"/>
              <a:buNone/>
            </a:pPr>
            <a:r>
              <a:rPr b="1" i="0" lang="vi-VN" sz="1400">
                <a:solidFill>
                  <a:srgbClr val="D9534F"/>
                </a:solidFill>
                <a:latin typeface="Arial"/>
                <a:ea typeface="Arial"/>
                <a:cs typeface="Arial"/>
                <a:sym typeface="Arial"/>
              </a:rPr>
              <a:t>Kiểm tra – đối chiếu nguồn: </a:t>
            </a:r>
            <a:r>
              <a:rPr b="0" i="0" lang="vi-VN" sz="1400">
                <a:solidFill>
                  <a:srgbClr val="444444"/>
                </a:solidFill>
                <a:latin typeface="Arial"/>
                <a:ea typeface="Arial"/>
                <a:cs typeface="Arial"/>
                <a:sym typeface="Arial"/>
              </a:rPr>
              <a:t>mọi hình vẽ, số liệu đều được đối chiếu với giáo trình và ghi rõ nguồn trích dẫn.</a:t>
            </a:r>
            <a:endParaRPr/>
          </a:p>
        </p:txBody>
      </p:sp>
      <p:sp>
        <p:nvSpPr>
          <p:cNvPr id="103" name="Google Shape;103;p11"/>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2"/>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400"/>
              <a:t>KẾT QUẢ MONG MUỐN</a:t>
            </a:r>
            <a:endParaRPr/>
          </a:p>
        </p:txBody>
      </p:sp>
      <p:sp>
        <p:nvSpPr>
          <p:cNvPr id="109" name="Google Shape;109;p12"/>
          <p:cNvSpPr/>
          <p:nvPr/>
        </p:nvSpPr>
        <p:spPr>
          <a:xfrm>
            <a:off x="502920" y="1188720"/>
            <a:ext cx="3749039" cy="1298448"/>
          </a:xfrm>
          <a:prstGeom prst="roundRect">
            <a:avLst>
              <a:gd fmla="val 8000" name="adj"/>
            </a:avLst>
          </a:prstGeom>
          <a:solidFill>
            <a:srgbClr val="244882"/>
          </a:solidFill>
          <a:ln>
            <a:noFill/>
          </a:ln>
          <a:effectLst>
            <a:outerShdw blurRad="63500" rotWithShape="0" algn="t" dir="5400000" dist="19050">
              <a:srgbClr val="000000">
                <a:alpha val="18039"/>
              </a:srgbClr>
            </a:outerShdw>
          </a:effectLst>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12"/>
          <p:cNvSpPr/>
          <p:nvPr/>
        </p:nvSpPr>
        <p:spPr>
          <a:xfrm>
            <a:off x="640080" y="1188720"/>
            <a:ext cx="1234440" cy="1298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400"/>
              <a:buFont typeface="Arial"/>
              <a:buNone/>
            </a:pPr>
            <a:r>
              <a:rPr b="1" i="0" lang="vi-VN" sz="4400">
                <a:solidFill>
                  <a:srgbClr val="FFFFFF"/>
                </a:solidFill>
                <a:latin typeface="Arial"/>
                <a:ea typeface="Arial"/>
                <a:cs typeface="Arial"/>
                <a:sym typeface="Arial"/>
              </a:rPr>
              <a:t>9</a:t>
            </a:r>
            <a:endParaRPr/>
          </a:p>
        </p:txBody>
      </p:sp>
      <p:sp>
        <p:nvSpPr>
          <p:cNvPr id="111" name="Google Shape;111;p12"/>
          <p:cNvSpPr/>
          <p:nvPr/>
        </p:nvSpPr>
        <p:spPr>
          <a:xfrm>
            <a:off x="1874519" y="1188720"/>
            <a:ext cx="2240280" cy="12984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vi-VN" sz="1400">
                <a:solidFill>
                  <a:srgbClr val="FFFFFF"/>
                </a:solidFill>
                <a:latin typeface="Arial"/>
                <a:ea typeface="Arial"/>
                <a:cs typeface="Arial"/>
                <a:sym typeface="Arial"/>
              </a:rPr>
              <a:t>chương nội dung được hệ thống hóa (I – IX)</a:t>
            </a:r>
            <a:endParaRPr/>
          </a:p>
        </p:txBody>
      </p:sp>
      <p:sp>
        <p:nvSpPr>
          <p:cNvPr id="112" name="Google Shape;112;p12"/>
          <p:cNvSpPr/>
          <p:nvPr/>
        </p:nvSpPr>
        <p:spPr>
          <a:xfrm>
            <a:off x="502920" y="2670048"/>
            <a:ext cx="3749039" cy="1298448"/>
          </a:xfrm>
          <a:prstGeom prst="roundRect">
            <a:avLst>
              <a:gd fmla="val 8000" name="adj"/>
            </a:avLst>
          </a:prstGeom>
          <a:solidFill>
            <a:srgbClr val="244882"/>
          </a:solidFill>
          <a:ln>
            <a:noFill/>
          </a:ln>
          <a:effectLst>
            <a:outerShdw blurRad="63500" rotWithShape="0" algn="t" dir="5400000" dist="19050">
              <a:srgbClr val="000000">
                <a:alpha val="18039"/>
              </a:srgbClr>
            </a:outerShdw>
          </a:effectLst>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 name="Google Shape;113;p12"/>
          <p:cNvSpPr/>
          <p:nvPr/>
        </p:nvSpPr>
        <p:spPr>
          <a:xfrm>
            <a:off x="640080" y="2670048"/>
            <a:ext cx="1234440" cy="1298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400"/>
              <a:buFont typeface="Arial"/>
              <a:buNone/>
            </a:pPr>
            <a:r>
              <a:rPr b="1" i="0" lang="vi-VN" sz="4400">
                <a:solidFill>
                  <a:srgbClr val="FFFFFF"/>
                </a:solidFill>
                <a:latin typeface="Arial"/>
                <a:ea typeface="Arial"/>
                <a:cs typeface="Arial"/>
                <a:sym typeface="Arial"/>
              </a:rPr>
              <a:t>5+</a:t>
            </a:r>
            <a:endParaRPr/>
          </a:p>
        </p:txBody>
      </p:sp>
      <p:sp>
        <p:nvSpPr>
          <p:cNvPr id="114" name="Google Shape;114;p12"/>
          <p:cNvSpPr/>
          <p:nvPr/>
        </p:nvSpPr>
        <p:spPr>
          <a:xfrm>
            <a:off x="1874519" y="2670048"/>
            <a:ext cx="2240280" cy="12984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vi-VN" sz="1400">
                <a:solidFill>
                  <a:srgbClr val="FFFFFF"/>
                </a:solidFill>
                <a:latin typeface="Arial"/>
                <a:ea typeface="Arial"/>
                <a:cs typeface="Arial"/>
                <a:sym typeface="Arial"/>
              </a:rPr>
              <a:t>nhóm phương pháp: Địa chấn, Điện, Từ, Trọng lực, Giếng khoan…</a:t>
            </a:r>
            <a:endParaRPr/>
          </a:p>
        </p:txBody>
      </p:sp>
      <p:sp>
        <p:nvSpPr>
          <p:cNvPr id="115" name="Google Shape;115;p12"/>
          <p:cNvSpPr/>
          <p:nvPr/>
        </p:nvSpPr>
        <p:spPr>
          <a:xfrm>
            <a:off x="502920" y="4151376"/>
            <a:ext cx="3749039" cy="1298448"/>
          </a:xfrm>
          <a:prstGeom prst="roundRect">
            <a:avLst>
              <a:gd fmla="val 8000" name="adj"/>
            </a:avLst>
          </a:prstGeom>
          <a:solidFill>
            <a:srgbClr val="244882"/>
          </a:solidFill>
          <a:ln>
            <a:noFill/>
          </a:ln>
          <a:effectLst>
            <a:outerShdw blurRad="63500" rotWithShape="0" algn="t" dir="5400000" dist="19050">
              <a:srgbClr val="000000">
                <a:alpha val="18039"/>
              </a:srgbClr>
            </a:outerShdw>
          </a:effectLst>
        </p:spPr>
        <p:txBody>
          <a:bodyPr anchorCtr="0" anchor="t" bIns="73150" lIns="73150" spcFirstLastPara="1" rIns="73150" wrap="square" tIns="7315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 name="Google Shape;116;p12"/>
          <p:cNvSpPr/>
          <p:nvPr/>
        </p:nvSpPr>
        <p:spPr>
          <a:xfrm>
            <a:off x="640080" y="4151376"/>
            <a:ext cx="1234440" cy="12984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400"/>
              <a:buFont typeface="Arial"/>
              <a:buNone/>
            </a:pPr>
            <a:r>
              <a:rPr b="1" i="0" lang="vi-VN" sz="4400">
                <a:solidFill>
                  <a:srgbClr val="FFFFFF"/>
                </a:solidFill>
                <a:latin typeface="Arial"/>
                <a:ea typeface="Arial"/>
                <a:cs typeface="Arial"/>
                <a:sym typeface="Arial"/>
              </a:rPr>
              <a:t>4</a:t>
            </a:r>
            <a:endParaRPr/>
          </a:p>
        </p:txBody>
      </p:sp>
      <p:sp>
        <p:nvSpPr>
          <p:cNvPr id="117" name="Google Shape;117;p12"/>
          <p:cNvSpPr/>
          <p:nvPr/>
        </p:nvSpPr>
        <p:spPr>
          <a:xfrm>
            <a:off x="1874519" y="4151376"/>
            <a:ext cx="2240280" cy="12984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vi-VN" sz="1400">
                <a:solidFill>
                  <a:srgbClr val="FFFFFF"/>
                </a:solidFill>
                <a:latin typeface="Arial"/>
                <a:ea typeface="Arial"/>
                <a:cs typeface="Arial"/>
                <a:sym typeface="Arial"/>
              </a:rPr>
              <a:t>hình thức đánh giá được nắm rõ để lập kế hoạch học tập</a:t>
            </a:r>
            <a:endParaRPr/>
          </a:p>
        </p:txBody>
      </p:sp>
      <p:sp>
        <p:nvSpPr>
          <p:cNvPr id="118" name="Google Shape;118;p12"/>
          <p:cNvSpPr/>
          <p:nvPr/>
        </p:nvSpPr>
        <p:spPr>
          <a:xfrm>
            <a:off x="4617720" y="1417320"/>
            <a:ext cx="548640" cy="548640"/>
          </a:xfrm>
          <a:prstGeom prst="ellipse">
            <a:avLst/>
          </a:prstGeom>
          <a:solidFill>
            <a:srgbClr val="D9534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ial"/>
              <a:buNone/>
            </a:pPr>
            <a:r>
              <a:rPr b="1" i="0" lang="vi-VN" sz="2000">
                <a:solidFill>
                  <a:srgbClr val="FFFFFF"/>
                </a:solidFill>
                <a:latin typeface="Arial"/>
                <a:ea typeface="Arial"/>
                <a:cs typeface="Arial"/>
                <a:sym typeface="Arial"/>
              </a:rPr>
              <a:t>✓</a:t>
            </a:r>
            <a:endParaRPr/>
          </a:p>
        </p:txBody>
      </p:sp>
      <p:sp>
        <p:nvSpPr>
          <p:cNvPr id="119" name="Google Shape;119;p12"/>
          <p:cNvSpPr/>
          <p:nvPr/>
        </p:nvSpPr>
        <p:spPr>
          <a:xfrm>
            <a:off x="5394960" y="1234440"/>
            <a:ext cx="62636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4882"/>
              </a:buClr>
              <a:buSzPts val="1700"/>
              <a:buFont typeface="Arial"/>
              <a:buNone/>
            </a:pPr>
            <a:r>
              <a:rPr b="1" i="0" lang="vi-VN" sz="1700">
                <a:solidFill>
                  <a:srgbClr val="244882"/>
                </a:solidFill>
                <a:latin typeface="Arial"/>
                <a:ea typeface="Arial"/>
                <a:cs typeface="Arial"/>
                <a:sym typeface="Arial"/>
              </a:rPr>
              <a:t>Kiến thức: </a:t>
            </a:r>
            <a:r>
              <a:rPr b="0" i="0" lang="vi-VN" sz="1600">
                <a:solidFill>
                  <a:srgbClr val="444444"/>
                </a:solidFill>
                <a:latin typeface="Arial"/>
                <a:ea typeface="Arial"/>
                <a:cs typeface="Arial"/>
                <a:sym typeface="Arial"/>
              </a:rPr>
              <a:t>Hiểu nguyên lý vật lý, tham số đo (vận tốc, điện trở suất, độ từ cảm, mật độ…) và giới hạn của từng phương pháp.</a:t>
            </a:r>
            <a:endParaRPr/>
          </a:p>
        </p:txBody>
      </p:sp>
      <p:sp>
        <p:nvSpPr>
          <p:cNvPr id="120" name="Google Shape;120;p12"/>
          <p:cNvSpPr/>
          <p:nvPr/>
        </p:nvSpPr>
        <p:spPr>
          <a:xfrm>
            <a:off x="4617720" y="2487168"/>
            <a:ext cx="548640" cy="548640"/>
          </a:xfrm>
          <a:prstGeom prst="ellipse">
            <a:avLst/>
          </a:prstGeom>
          <a:solidFill>
            <a:srgbClr val="D9534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ial"/>
              <a:buNone/>
            </a:pPr>
            <a:r>
              <a:rPr b="1" i="0" lang="vi-VN" sz="2000">
                <a:solidFill>
                  <a:srgbClr val="FFFFFF"/>
                </a:solidFill>
                <a:latin typeface="Arial"/>
                <a:ea typeface="Arial"/>
                <a:cs typeface="Arial"/>
                <a:sym typeface="Arial"/>
              </a:rPr>
              <a:t>✓</a:t>
            </a:r>
            <a:endParaRPr/>
          </a:p>
        </p:txBody>
      </p:sp>
      <p:sp>
        <p:nvSpPr>
          <p:cNvPr id="121" name="Google Shape;121;p12"/>
          <p:cNvSpPr/>
          <p:nvPr/>
        </p:nvSpPr>
        <p:spPr>
          <a:xfrm>
            <a:off x="5394960" y="2304288"/>
            <a:ext cx="62636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4882"/>
              </a:buClr>
              <a:buSzPts val="1700"/>
              <a:buFont typeface="Arial"/>
              <a:buNone/>
            </a:pPr>
            <a:r>
              <a:rPr b="1" i="0" lang="vi-VN" sz="1700">
                <a:solidFill>
                  <a:srgbClr val="244882"/>
                </a:solidFill>
                <a:latin typeface="Arial"/>
                <a:ea typeface="Arial"/>
                <a:cs typeface="Arial"/>
                <a:sym typeface="Arial"/>
              </a:rPr>
              <a:t>Kỹ năng: </a:t>
            </a:r>
            <a:r>
              <a:rPr b="0" i="0" lang="vi-VN" sz="1600">
                <a:solidFill>
                  <a:srgbClr val="444444"/>
                </a:solidFill>
                <a:latin typeface="Arial"/>
                <a:ea typeface="Arial"/>
                <a:cs typeface="Arial"/>
                <a:sym typeface="Arial"/>
              </a:rPr>
              <a:t>Biết lựa chọn, phối hợp phương pháp phù hợp với mục tiêu khảo sát; đọc được quy trình đo – xử lý – minh giải.</a:t>
            </a:r>
            <a:endParaRPr/>
          </a:p>
        </p:txBody>
      </p:sp>
      <p:sp>
        <p:nvSpPr>
          <p:cNvPr id="122" name="Google Shape;122;p12"/>
          <p:cNvSpPr/>
          <p:nvPr/>
        </p:nvSpPr>
        <p:spPr>
          <a:xfrm>
            <a:off x="4617720" y="3557016"/>
            <a:ext cx="548640" cy="548640"/>
          </a:xfrm>
          <a:prstGeom prst="ellipse">
            <a:avLst/>
          </a:prstGeom>
          <a:solidFill>
            <a:srgbClr val="D9534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ial"/>
              <a:buNone/>
            </a:pPr>
            <a:r>
              <a:rPr b="1" i="0" lang="vi-VN" sz="2000">
                <a:solidFill>
                  <a:srgbClr val="FFFFFF"/>
                </a:solidFill>
                <a:latin typeface="Arial"/>
                <a:ea typeface="Arial"/>
                <a:cs typeface="Arial"/>
                <a:sym typeface="Arial"/>
              </a:rPr>
              <a:t>✓</a:t>
            </a:r>
            <a:endParaRPr/>
          </a:p>
        </p:txBody>
      </p:sp>
      <p:sp>
        <p:nvSpPr>
          <p:cNvPr id="123" name="Google Shape;123;p12"/>
          <p:cNvSpPr/>
          <p:nvPr/>
        </p:nvSpPr>
        <p:spPr>
          <a:xfrm>
            <a:off x="5394960" y="3374136"/>
            <a:ext cx="62636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4882"/>
              </a:buClr>
              <a:buSzPts val="1700"/>
              <a:buFont typeface="Arial"/>
              <a:buNone/>
            </a:pPr>
            <a:r>
              <a:rPr b="1" i="0" lang="vi-VN" sz="1700">
                <a:solidFill>
                  <a:srgbClr val="244882"/>
                </a:solidFill>
                <a:latin typeface="Arial"/>
                <a:ea typeface="Arial"/>
                <a:cs typeface="Arial"/>
                <a:sym typeface="Arial"/>
              </a:rPr>
              <a:t>Ứng dụng: </a:t>
            </a:r>
            <a:r>
              <a:rPr b="0" i="0" lang="vi-VN" sz="1600">
                <a:solidFill>
                  <a:srgbClr val="444444"/>
                </a:solidFill>
                <a:latin typeface="Arial"/>
                <a:ea typeface="Arial"/>
                <a:cs typeface="Arial"/>
                <a:sym typeface="Arial"/>
              </a:rPr>
              <a:t>Liên hệ được với bài toán thực tế: dầu khí, nước ngầm, địa kỹ thuật, môi trường, điện gió ngoài khơi.</a:t>
            </a:r>
            <a:endParaRPr/>
          </a:p>
        </p:txBody>
      </p:sp>
      <p:sp>
        <p:nvSpPr>
          <p:cNvPr id="124" name="Google Shape;124;p12"/>
          <p:cNvSpPr/>
          <p:nvPr/>
        </p:nvSpPr>
        <p:spPr>
          <a:xfrm>
            <a:off x="4617720" y="4626864"/>
            <a:ext cx="548640" cy="548640"/>
          </a:xfrm>
          <a:prstGeom prst="ellipse">
            <a:avLst/>
          </a:prstGeom>
          <a:solidFill>
            <a:srgbClr val="D9534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Arial"/>
              <a:buNone/>
            </a:pPr>
            <a:r>
              <a:rPr b="1" i="0" lang="vi-VN" sz="2000">
                <a:solidFill>
                  <a:srgbClr val="FFFFFF"/>
                </a:solidFill>
                <a:latin typeface="Arial"/>
                <a:ea typeface="Arial"/>
                <a:cs typeface="Arial"/>
                <a:sym typeface="Arial"/>
              </a:rPr>
              <a:t>✓</a:t>
            </a:r>
            <a:endParaRPr/>
          </a:p>
        </p:txBody>
      </p:sp>
      <p:sp>
        <p:nvSpPr>
          <p:cNvPr id="125" name="Google Shape;125;p12"/>
          <p:cNvSpPr/>
          <p:nvPr/>
        </p:nvSpPr>
        <p:spPr>
          <a:xfrm>
            <a:off x="5394960" y="4443983"/>
            <a:ext cx="62636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4882"/>
              </a:buClr>
              <a:buSzPts val="1700"/>
              <a:buFont typeface="Arial"/>
              <a:buNone/>
            </a:pPr>
            <a:r>
              <a:rPr b="1" i="0" lang="vi-VN" sz="1700">
                <a:solidFill>
                  <a:srgbClr val="244882"/>
                </a:solidFill>
                <a:latin typeface="Arial"/>
                <a:ea typeface="Arial"/>
                <a:cs typeface="Arial"/>
                <a:sym typeface="Arial"/>
              </a:rPr>
              <a:t>Định hướng: </a:t>
            </a:r>
            <a:r>
              <a:rPr b="0" i="0" lang="vi-VN" sz="1600">
                <a:solidFill>
                  <a:srgbClr val="444444"/>
                </a:solidFill>
                <a:latin typeface="Arial"/>
                <a:ea typeface="Arial"/>
                <a:cs typeface="Arial"/>
                <a:sym typeface="Arial"/>
              </a:rPr>
              <a:t>Có kế hoạch tự học (1 giờ lớp : 3 giờ tự học), chuẩn bị cho đồ án và tiếp cận AI/ML, Python trong địa vật lý.</a:t>
            </a:r>
            <a:endParaRPr/>
          </a:p>
        </p:txBody>
      </p:sp>
      <p:sp>
        <p:nvSpPr>
          <p:cNvPr id="126" name="Google Shape;126;p12"/>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3"/>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400"/>
              <a:t>NỘI DUNG TRÌNH BÀY</a:t>
            </a:r>
            <a:endParaRPr/>
          </a:p>
        </p:txBody>
      </p:sp>
      <p:sp>
        <p:nvSpPr>
          <p:cNvPr id="132" name="Google Shape;132;p13"/>
          <p:cNvSpPr txBox="1"/>
          <p:nvPr>
            <p:ph idx="1" type="body"/>
          </p:nvPr>
        </p:nvSpPr>
        <p:spPr>
          <a:xfrm>
            <a:off x="594360" y="1298448"/>
            <a:ext cx="10972800" cy="5193792"/>
          </a:xfrm>
          <a:prstGeom prst="rect">
            <a:avLst/>
          </a:prstGeom>
          <a:noFill/>
          <a:ln>
            <a:noFill/>
          </a:ln>
        </p:spPr>
        <p:txBody>
          <a:bodyPr anchorCtr="0" anchor="t" bIns="46025" lIns="0" spcFirstLastPara="1" rIns="0" wrap="square" tIns="46025">
            <a:noAutofit/>
          </a:bodyPr>
          <a:lstStyle/>
          <a:p>
            <a:pPr indent="0" lvl="0" marL="0" rtl="0" algn="l">
              <a:lnSpc>
                <a:spcPct val="120000"/>
              </a:lnSpc>
              <a:spcBef>
                <a:spcPts val="0"/>
              </a:spcBef>
              <a:spcAft>
                <a:spcPts val="0"/>
              </a:spcAft>
              <a:buSzPts val="1980"/>
              <a:buNone/>
            </a:pPr>
            <a:r>
              <a:rPr b="0" lang="vi-VN" sz="2200"/>
              <a:t>1. Thông tin chung &amp; mục tiêu môn học (Rationale, Course Description)</a:t>
            </a:r>
            <a:endParaRPr/>
          </a:p>
          <a:p>
            <a:pPr indent="0" lvl="0" marL="0" rtl="0" algn="l">
              <a:lnSpc>
                <a:spcPct val="120000"/>
              </a:lnSpc>
              <a:spcBef>
                <a:spcPts val="800"/>
              </a:spcBef>
              <a:spcAft>
                <a:spcPts val="0"/>
              </a:spcAft>
              <a:buSzPts val="1980"/>
              <a:buNone/>
            </a:pPr>
            <a:r>
              <a:rPr b="0" lang="vi-VN" sz="2200"/>
              <a:t>2. Cấu trúc nội dung môn học — 9 chương (I – IX)</a:t>
            </a:r>
            <a:endParaRPr/>
          </a:p>
          <a:p>
            <a:pPr indent="0" lvl="0" marL="0" rtl="0" algn="l">
              <a:lnSpc>
                <a:spcPct val="120000"/>
              </a:lnSpc>
              <a:spcBef>
                <a:spcPts val="800"/>
              </a:spcBef>
              <a:spcAft>
                <a:spcPts val="0"/>
              </a:spcAft>
              <a:buSzPts val="1980"/>
              <a:buNone/>
            </a:pPr>
            <a:r>
              <a:rPr b="0" lang="vi-VN" sz="2200"/>
              <a:t>3. Chương I – II: Tổng quan địa vật lý &amp; Thăm dò địa chấn (Seismic)</a:t>
            </a:r>
            <a:endParaRPr/>
          </a:p>
          <a:p>
            <a:pPr indent="0" lvl="0" marL="0" rtl="0" algn="l">
              <a:lnSpc>
                <a:spcPct val="120000"/>
              </a:lnSpc>
              <a:spcBef>
                <a:spcPts val="800"/>
              </a:spcBef>
              <a:spcAft>
                <a:spcPts val="0"/>
              </a:spcAft>
              <a:buSzPts val="1980"/>
              <a:buNone/>
            </a:pPr>
            <a:r>
              <a:rPr b="0" lang="vi-VN" sz="2200"/>
              <a:t>4. Chương III – V: Phương pháp Điện, Từ, Trọng lực (Electric, Magnetic, Gravity)</a:t>
            </a:r>
            <a:endParaRPr/>
          </a:p>
          <a:p>
            <a:pPr indent="0" lvl="0" marL="0" rtl="0" algn="l">
              <a:lnSpc>
                <a:spcPct val="120000"/>
              </a:lnSpc>
              <a:spcBef>
                <a:spcPts val="800"/>
              </a:spcBef>
              <a:spcAft>
                <a:spcPts val="0"/>
              </a:spcAft>
              <a:buSzPts val="1980"/>
              <a:buNone/>
            </a:pPr>
            <a:r>
              <a:rPr b="0" lang="vi-VN" sz="2200"/>
              <a:t>5. Chương VI – VIII: Địa vật lý giếng khoan, kỹ thuật khác &amp; lập kế hoạch dự án</a:t>
            </a:r>
            <a:endParaRPr b="0" sz="2200"/>
          </a:p>
          <a:p>
            <a:pPr indent="0" lvl="0" marL="0" rtl="0" algn="l">
              <a:lnSpc>
                <a:spcPct val="120000"/>
              </a:lnSpc>
              <a:spcBef>
                <a:spcPts val="800"/>
              </a:spcBef>
              <a:spcAft>
                <a:spcPts val="0"/>
              </a:spcAft>
              <a:buSzPts val="1980"/>
              <a:buNone/>
            </a:pPr>
            <a:r>
              <a:rPr b="0" lang="vi-VN" sz="2200"/>
              <a:t>6. Chương IX: Các chủ đề nâng cao — AI/ML, Python, Vật lý đá, Địa vật lý bền vững</a:t>
            </a:r>
            <a:endParaRPr b="0" sz="2200"/>
          </a:p>
          <a:p>
            <a:pPr indent="0" lvl="0" marL="0" rtl="0" algn="l">
              <a:lnSpc>
                <a:spcPct val="120000"/>
              </a:lnSpc>
              <a:spcBef>
                <a:spcPts val="800"/>
              </a:spcBef>
              <a:spcAft>
                <a:spcPts val="0"/>
              </a:spcAft>
              <a:buSzPts val="1980"/>
              <a:buNone/>
            </a:pPr>
            <a:r>
              <a:rPr b="0" lang="vi-VN" sz="2200"/>
              <a:t>7. Phương pháp học tập, hệ thống đánh giá &amp; tài liệu tham khảo</a:t>
            </a:r>
            <a:endParaRPr b="0" sz="2200"/>
          </a:p>
        </p:txBody>
      </p:sp>
      <p:sp>
        <p:nvSpPr>
          <p:cNvPr id="133" name="Google Shape;133;p13"/>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4"/>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400"/>
              <a:t>1. THÔNG TIN CHUNG MÔN HỌC</a:t>
            </a:r>
            <a:endParaRPr/>
          </a:p>
        </p:txBody>
      </p:sp>
      <p:sp>
        <p:nvSpPr>
          <p:cNvPr id="139" name="Google Shape;139;p14"/>
          <p:cNvSpPr txBox="1"/>
          <p:nvPr>
            <p:ph idx="1" type="body"/>
          </p:nvPr>
        </p:nvSpPr>
        <p:spPr>
          <a:xfrm>
            <a:off x="457200" y="1280160"/>
            <a:ext cx="11247120" cy="9144"/>
          </a:xfrm>
          <a:prstGeom prst="rect">
            <a:avLst/>
          </a:prstGeom>
          <a:noFill/>
          <a:ln>
            <a:noFill/>
          </a:ln>
        </p:spPr>
        <p:txBody>
          <a:bodyPr anchorCtr="0" anchor="t" bIns="46025" lIns="0" spcFirstLastPara="1" rIns="0" wrap="square" tIns="46025">
            <a:noAutofit/>
          </a:bodyPr>
          <a:lstStyle/>
          <a:p>
            <a:pPr indent="-187643" lvl="0" marL="347663" rtl="0" algn="l">
              <a:lnSpc>
                <a:spcPct val="120000"/>
              </a:lnSpc>
              <a:spcBef>
                <a:spcPts val="0"/>
              </a:spcBef>
              <a:spcAft>
                <a:spcPts val="0"/>
              </a:spcAft>
              <a:buSzPts val="2520"/>
              <a:buNone/>
            </a:pPr>
            <a:r>
              <a:t/>
            </a:r>
            <a:endParaRPr/>
          </a:p>
        </p:txBody>
      </p:sp>
      <p:graphicFrame>
        <p:nvGraphicFramePr>
          <p:cNvPr id="140" name="Google Shape;140;p14"/>
          <p:cNvGraphicFramePr/>
          <p:nvPr/>
        </p:nvGraphicFramePr>
        <p:xfrm>
          <a:off x="502920" y="1417320"/>
          <a:ext cx="3000000" cy="3000000"/>
        </p:xfrm>
        <a:graphic>
          <a:graphicData uri="http://schemas.openxmlformats.org/drawingml/2006/table">
            <a:tbl>
              <a:tblPr bandRow="1" firstRow="1">
                <a:noFill/>
                <a:tableStyleId>{034895A6-C1AE-4BC2-889E-3C33AFCB4900}</a:tableStyleId>
              </a:tblPr>
              <a:tblGrid>
                <a:gridCol w="3733800"/>
                <a:gridCol w="7467600"/>
              </a:tblGrid>
              <a:tr h="457200">
                <a:tc>
                  <a:txBody>
                    <a:bodyPr/>
                    <a:lstStyle/>
                    <a:p>
                      <a:pPr indent="0" lvl="0" marL="0" marR="0" rtl="0" algn="ctr">
                        <a:spcBef>
                          <a:spcPts val="0"/>
                        </a:spcBef>
                        <a:spcAft>
                          <a:spcPts val="0"/>
                        </a:spcAft>
                        <a:buNone/>
                      </a:pPr>
                      <a:r>
                        <a:rPr b="1" lang="vi-VN" sz="1800">
                          <a:solidFill>
                            <a:srgbClr val="FFFFFF"/>
                          </a:solidFill>
                          <a:latin typeface="Tahoma"/>
                          <a:ea typeface="Tahoma"/>
                          <a:cs typeface="Tahoma"/>
                          <a:sym typeface="Tahoma"/>
                        </a:rPr>
                        <a:t>Nội dung</a:t>
                      </a:r>
                      <a:endParaRPr/>
                    </a:p>
                  </a:txBody>
                  <a:tcPr marT="45725" marB="45725" marR="91450" marL="91450" anchor="ctr">
                    <a:solidFill>
                      <a:srgbClr val="1F4E79"/>
                    </a:solidFill>
                  </a:tcPr>
                </a:tc>
                <a:tc>
                  <a:txBody>
                    <a:bodyPr/>
                    <a:lstStyle/>
                    <a:p>
                      <a:pPr indent="0" lvl="0" marL="0" marR="0" rtl="0" algn="ctr">
                        <a:spcBef>
                          <a:spcPts val="0"/>
                        </a:spcBef>
                        <a:spcAft>
                          <a:spcPts val="0"/>
                        </a:spcAft>
                        <a:buNone/>
                      </a:pPr>
                      <a:r>
                        <a:rPr b="1" lang="vi-VN" sz="1800">
                          <a:solidFill>
                            <a:srgbClr val="FFFFFF"/>
                          </a:solidFill>
                          <a:latin typeface="Tahoma"/>
                          <a:ea typeface="Tahoma"/>
                          <a:cs typeface="Tahoma"/>
                          <a:sym typeface="Tahoma"/>
                        </a:rPr>
                        <a:t>Chi tiết</a:t>
                      </a:r>
                      <a:endParaRPr/>
                    </a:p>
                  </a:txBody>
                  <a:tcPr marT="45725" marB="45725" marR="91450" marL="91450" anchor="ctr">
                    <a:solidFill>
                      <a:srgbClr val="1F4E79"/>
                    </a:solidFill>
                  </a:tcPr>
                </a:tc>
              </a:tr>
              <a:tr h="457200">
                <a:tc>
                  <a:txBody>
                    <a:bodyPr/>
                    <a:lstStyle/>
                    <a:p>
                      <a:pPr indent="0" lvl="0" marL="0" marR="0" rtl="0" algn="l">
                        <a:spcBef>
                          <a:spcPts val="0"/>
                        </a:spcBef>
                        <a:spcAft>
                          <a:spcPts val="0"/>
                        </a:spcAft>
                        <a:buNone/>
                      </a:pPr>
                      <a:r>
                        <a:rPr b="1" lang="vi-VN" sz="1800">
                          <a:solidFill>
                            <a:srgbClr val="26313B"/>
                          </a:solidFill>
                          <a:latin typeface="Tahoma"/>
                          <a:ea typeface="Tahoma"/>
                          <a:cs typeface="Tahoma"/>
                          <a:sym typeface="Tahoma"/>
                        </a:rPr>
                        <a:t>Tên môn học</a:t>
                      </a:r>
                      <a:endParaRPr/>
                    </a:p>
                  </a:txBody>
                  <a:tcPr marT="45725" marB="45725" marR="91450" marL="91450">
                    <a:solidFill>
                      <a:srgbClr val="E9F1F8"/>
                    </a:solidFill>
                  </a:tcPr>
                </a:tc>
                <a:tc>
                  <a:txBody>
                    <a:bodyPr/>
                    <a:lstStyle/>
                    <a:p>
                      <a:pPr indent="0" lvl="0" marL="0" marR="0" rtl="0" algn="l">
                        <a:spcBef>
                          <a:spcPts val="0"/>
                        </a:spcBef>
                        <a:spcAft>
                          <a:spcPts val="0"/>
                        </a:spcAft>
                        <a:buNone/>
                      </a:pPr>
                      <a:r>
                        <a:rPr b="1" lang="vi-VN" sz="1800">
                          <a:solidFill>
                            <a:srgbClr val="26313B"/>
                          </a:solidFill>
                          <a:latin typeface="Tahoma"/>
                          <a:ea typeface="Tahoma"/>
                          <a:cs typeface="Tahoma"/>
                          <a:sym typeface="Tahoma"/>
                        </a:rPr>
                        <a:t>Applied Geophysics – Địa Vật lý Ứng dụng</a:t>
                      </a:r>
                      <a:endParaRPr/>
                    </a:p>
                  </a:txBody>
                  <a:tcPr marT="45725" marB="45725" marR="91450" marL="91450">
                    <a:solidFill>
                      <a:srgbClr val="E9F1F8"/>
                    </a:solidFill>
                  </a:tcPr>
                </a:tc>
              </a:tr>
              <a:tr h="457200">
                <a:tc>
                  <a:txBody>
                    <a:bodyPr/>
                    <a:lstStyle/>
                    <a:p>
                      <a:pPr indent="0" lvl="0" marL="0" marR="0" rtl="0" algn="l">
                        <a:spcBef>
                          <a:spcPts val="0"/>
                        </a:spcBef>
                        <a:spcAft>
                          <a:spcPts val="0"/>
                        </a:spcAft>
                        <a:buNone/>
                      </a:pPr>
                      <a:r>
                        <a:rPr b="1" lang="vi-VN" sz="1800">
                          <a:solidFill>
                            <a:srgbClr val="26313B"/>
                          </a:solidFill>
                          <a:latin typeface="Tahoma"/>
                          <a:ea typeface="Tahoma"/>
                          <a:cs typeface="Tahoma"/>
                          <a:sym typeface="Tahoma"/>
                        </a:rPr>
                        <a:t>Số tín chỉ</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1" lang="vi-VN" sz="1800">
                          <a:solidFill>
                            <a:srgbClr val="26313B"/>
                          </a:solidFill>
                          <a:latin typeface="Tahoma"/>
                          <a:ea typeface="Tahoma"/>
                          <a:cs typeface="Tahoma"/>
                          <a:sym typeface="Tahoma"/>
                        </a:rPr>
                        <a:t>2 tín chỉ lý thuyết, 1 tín chỉ thực hành/thí nghiệm</a:t>
                      </a:r>
                      <a:endParaRPr/>
                    </a:p>
                  </a:txBody>
                  <a:tcPr marT="45725" marB="45725" marR="91450" marL="91450">
                    <a:solidFill>
                      <a:srgbClr val="FFFFFF"/>
                    </a:solidFill>
                  </a:tcPr>
                </a:tc>
              </a:tr>
              <a:tr h="457200">
                <a:tc>
                  <a:txBody>
                    <a:bodyPr/>
                    <a:lstStyle/>
                    <a:p>
                      <a:pPr indent="0" lvl="0" marL="0" marR="0" rtl="0" algn="l">
                        <a:spcBef>
                          <a:spcPts val="0"/>
                        </a:spcBef>
                        <a:spcAft>
                          <a:spcPts val="0"/>
                        </a:spcAft>
                        <a:buNone/>
                      </a:pPr>
                      <a:r>
                        <a:rPr b="1" lang="vi-VN" sz="1800">
                          <a:solidFill>
                            <a:srgbClr val="26313B"/>
                          </a:solidFill>
                          <a:latin typeface="Tahoma"/>
                          <a:ea typeface="Tahoma"/>
                          <a:cs typeface="Tahoma"/>
                          <a:sym typeface="Tahoma"/>
                        </a:rPr>
                        <a:t>Học kỳ</a:t>
                      </a:r>
                      <a:endParaRPr/>
                    </a:p>
                  </a:txBody>
                  <a:tcPr marT="45725" marB="45725" marR="91450" marL="91450">
                    <a:solidFill>
                      <a:srgbClr val="E9F1F8"/>
                    </a:solidFill>
                  </a:tcPr>
                </a:tc>
                <a:tc>
                  <a:txBody>
                    <a:bodyPr/>
                    <a:lstStyle/>
                    <a:p>
                      <a:pPr indent="0" lvl="0" marL="0" marR="0" rtl="0" algn="l">
                        <a:spcBef>
                          <a:spcPts val="0"/>
                        </a:spcBef>
                        <a:spcAft>
                          <a:spcPts val="0"/>
                        </a:spcAft>
                        <a:buNone/>
                      </a:pPr>
                      <a:r>
                        <a:rPr b="1" lang="vi-VN" sz="1800">
                          <a:solidFill>
                            <a:srgbClr val="26313B"/>
                          </a:solidFill>
                          <a:latin typeface="Tahoma"/>
                          <a:ea typeface="Tahoma"/>
                          <a:cs typeface="Tahoma"/>
                          <a:sym typeface="Tahoma"/>
                        </a:rPr>
                        <a:t>Tháng 9 – Tháng 12/2026 (Sept – Dec 2026)</a:t>
                      </a:r>
                      <a:endParaRPr/>
                    </a:p>
                  </a:txBody>
                  <a:tcPr marT="45725" marB="45725" marR="91450" marL="91450">
                    <a:solidFill>
                      <a:srgbClr val="E9F1F8"/>
                    </a:solidFill>
                  </a:tcPr>
                </a:tc>
              </a:tr>
              <a:tr h="457200">
                <a:tc>
                  <a:txBody>
                    <a:bodyPr/>
                    <a:lstStyle/>
                    <a:p>
                      <a:pPr indent="0" lvl="0" marL="0" marR="0" rtl="0" algn="l">
                        <a:spcBef>
                          <a:spcPts val="0"/>
                        </a:spcBef>
                        <a:spcAft>
                          <a:spcPts val="0"/>
                        </a:spcAft>
                        <a:buNone/>
                      </a:pPr>
                      <a:r>
                        <a:rPr b="1" lang="vi-VN" sz="1800">
                          <a:solidFill>
                            <a:srgbClr val="26313B"/>
                          </a:solidFill>
                          <a:latin typeface="Tahoma"/>
                          <a:ea typeface="Tahoma"/>
                          <a:cs typeface="Tahoma"/>
                          <a:sym typeface="Tahoma"/>
                        </a:rPr>
                        <a:t>Điều kiện tiên quyết</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1" lang="vi-VN" sz="1800">
                          <a:solidFill>
                            <a:srgbClr val="26313B"/>
                          </a:solidFill>
                          <a:latin typeface="Tahoma"/>
                          <a:ea typeface="Tahoma"/>
                          <a:cs typeface="Tahoma"/>
                          <a:sym typeface="Tahoma"/>
                        </a:rPr>
                        <a:t>Không (None)</a:t>
                      </a:r>
                      <a:endParaRPr/>
                    </a:p>
                  </a:txBody>
                  <a:tcPr marT="45725" marB="45725" marR="91450" marL="91450">
                    <a:solidFill>
                      <a:srgbClr val="FFFFFF"/>
                    </a:solidFill>
                  </a:tcPr>
                </a:tc>
              </a:tr>
              <a:tr h="457200">
                <a:tc>
                  <a:txBody>
                    <a:bodyPr/>
                    <a:lstStyle/>
                    <a:p>
                      <a:pPr indent="0" lvl="0" marL="0" marR="0" rtl="0" algn="l">
                        <a:spcBef>
                          <a:spcPts val="0"/>
                        </a:spcBef>
                        <a:spcAft>
                          <a:spcPts val="0"/>
                        </a:spcAft>
                        <a:buNone/>
                      </a:pPr>
                      <a:r>
                        <a:rPr b="1" lang="vi-VN" sz="1800">
                          <a:solidFill>
                            <a:srgbClr val="26313B"/>
                          </a:solidFill>
                          <a:latin typeface="Tahoma"/>
                          <a:ea typeface="Tahoma"/>
                          <a:cs typeface="Tahoma"/>
                          <a:sym typeface="Tahoma"/>
                        </a:rPr>
                        <a:t>Khoa / Bộ môn</a:t>
                      </a:r>
                      <a:endParaRPr/>
                    </a:p>
                  </a:txBody>
                  <a:tcPr marT="45725" marB="45725" marR="91450" marL="91450">
                    <a:solidFill>
                      <a:srgbClr val="E9F1F8"/>
                    </a:solidFill>
                  </a:tcPr>
                </a:tc>
                <a:tc>
                  <a:txBody>
                    <a:bodyPr/>
                    <a:lstStyle/>
                    <a:p>
                      <a:pPr indent="0" lvl="0" marL="0" marR="0" rtl="0" algn="l">
                        <a:spcBef>
                          <a:spcPts val="0"/>
                        </a:spcBef>
                        <a:spcAft>
                          <a:spcPts val="0"/>
                        </a:spcAft>
                        <a:buNone/>
                      </a:pPr>
                      <a:r>
                        <a:rPr b="1" lang="vi-VN" sz="1800">
                          <a:solidFill>
                            <a:srgbClr val="26313B"/>
                          </a:solidFill>
                          <a:latin typeface="Tahoma"/>
                          <a:ea typeface="Tahoma"/>
                          <a:cs typeface="Tahoma"/>
                          <a:sym typeface="Tahoma"/>
                        </a:rPr>
                        <a:t>Khoa Dầu khí – Bộ môn Kỹ thuật Địa chất</a:t>
                      </a:r>
                      <a:endParaRPr/>
                    </a:p>
                  </a:txBody>
                  <a:tcPr marT="45725" marB="45725" marR="91450" marL="91450">
                    <a:solidFill>
                      <a:srgbClr val="E9F1F8"/>
                    </a:solidFill>
                  </a:tcPr>
                </a:tc>
              </a:tr>
              <a:tr h="457200">
                <a:tc>
                  <a:txBody>
                    <a:bodyPr/>
                    <a:lstStyle/>
                    <a:p>
                      <a:pPr indent="0" lvl="0" marL="0" marR="0" rtl="0" algn="l">
                        <a:spcBef>
                          <a:spcPts val="0"/>
                        </a:spcBef>
                        <a:spcAft>
                          <a:spcPts val="0"/>
                        </a:spcAft>
                        <a:buNone/>
                      </a:pPr>
                      <a:r>
                        <a:rPr b="1" lang="vi-VN" sz="1800">
                          <a:solidFill>
                            <a:srgbClr val="26313B"/>
                          </a:solidFill>
                          <a:latin typeface="Tahoma"/>
                          <a:ea typeface="Tahoma"/>
                          <a:cs typeface="Tahoma"/>
                          <a:sym typeface="Tahoma"/>
                        </a:rPr>
                        <a:t>Giảng viên phụ trách</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1" lang="vi-VN" sz="1800">
                          <a:solidFill>
                            <a:srgbClr val="26313B"/>
                          </a:solidFill>
                          <a:latin typeface="Tahoma"/>
                          <a:ea typeface="Tahoma"/>
                          <a:cs typeface="Tahoma"/>
                          <a:sym typeface="Tahoma"/>
                        </a:rPr>
                        <a:t>TS. Phạm Huy Giao (Dr. P. H. Giao)</a:t>
                      </a:r>
                      <a:endParaRPr/>
                    </a:p>
                  </a:txBody>
                  <a:tcPr marT="45725" marB="45725" marR="91450" marL="91450">
                    <a:solidFill>
                      <a:srgbClr val="FFFFFF"/>
                    </a:solidFill>
                  </a:tcPr>
                </a:tc>
              </a:tr>
              <a:tr h="457200">
                <a:tc>
                  <a:txBody>
                    <a:bodyPr/>
                    <a:lstStyle/>
                    <a:p>
                      <a:pPr indent="0" lvl="0" marL="0" marR="0" rtl="0" algn="l">
                        <a:spcBef>
                          <a:spcPts val="0"/>
                        </a:spcBef>
                        <a:spcAft>
                          <a:spcPts val="0"/>
                        </a:spcAft>
                        <a:buNone/>
                      </a:pPr>
                      <a:r>
                        <a:rPr b="1" lang="vi-VN" sz="1800">
                          <a:solidFill>
                            <a:srgbClr val="26313B"/>
                          </a:solidFill>
                          <a:latin typeface="Tahoma"/>
                          <a:ea typeface="Tahoma"/>
                          <a:cs typeface="Tahoma"/>
                          <a:sym typeface="Tahoma"/>
                        </a:rPr>
                        <a:t>Tải học tập</a:t>
                      </a:r>
                      <a:endParaRPr/>
                    </a:p>
                  </a:txBody>
                  <a:tcPr marT="45725" marB="45725" marR="91450" marL="91450">
                    <a:solidFill>
                      <a:srgbClr val="E9F1F8"/>
                    </a:solidFill>
                  </a:tcPr>
                </a:tc>
                <a:tc>
                  <a:txBody>
                    <a:bodyPr/>
                    <a:lstStyle/>
                    <a:p>
                      <a:pPr indent="0" lvl="0" marL="0" marR="0" rtl="0" algn="l">
                        <a:spcBef>
                          <a:spcPts val="0"/>
                        </a:spcBef>
                        <a:spcAft>
                          <a:spcPts val="0"/>
                        </a:spcAft>
                        <a:buNone/>
                      </a:pPr>
                      <a:r>
                        <a:rPr b="1" lang="vi-VN" sz="1800">
                          <a:solidFill>
                            <a:srgbClr val="26313B"/>
                          </a:solidFill>
                          <a:latin typeface="Tahoma"/>
                          <a:ea typeface="Tahoma"/>
                          <a:cs typeface="Tahoma"/>
                          <a:sym typeface="Tahoma"/>
                        </a:rPr>
                        <a:t>Mỗi 1 giờ lên lớp ⇒ tối thiểu 3 giờ tự học</a:t>
                      </a:r>
                      <a:endParaRPr/>
                    </a:p>
                  </a:txBody>
                  <a:tcPr marT="45725" marB="45725" marR="91450" marL="91450">
                    <a:solidFill>
                      <a:srgbClr val="E9F1F8"/>
                    </a:solidFill>
                  </a:tcPr>
                </a:tc>
              </a:tr>
            </a:tbl>
          </a:graphicData>
        </a:graphic>
      </p:graphicFrame>
      <p:sp>
        <p:nvSpPr>
          <p:cNvPr id="141" name="Google Shape;141;p14"/>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400"/>
              <a:t>2. MỤC TIÊU MÔN HỌC (RATIONALE)</a:t>
            </a:r>
            <a:endParaRPr/>
          </a:p>
        </p:txBody>
      </p:sp>
      <p:sp>
        <p:nvSpPr>
          <p:cNvPr id="148" name="Google Shape;148;p15"/>
          <p:cNvSpPr txBox="1"/>
          <p:nvPr>
            <p:ph idx="1" type="body"/>
          </p:nvPr>
        </p:nvSpPr>
        <p:spPr>
          <a:xfrm>
            <a:off x="63003" y="932465"/>
            <a:ext cx="12065993" cy="5193792"/>
          </a:xfrm>
          <a:prstGeom prst="rect">
            <a:avLst/>
          </a:prstGeom>
          <a:noFill/>
          <a:ln>
            <a:noFill/>
          </a:ln>
        </p:spPr>
        <p:txBody>
          <a:bodyPr anchorCtr="0" anchor="t" bIns="46025" lIns="0" spcFirstLastPara="1" rIns="0" wrap="square" tIns="46025">
            <a:noAutofit/>
          </a:bodyPr>
          <a:lstStyle/>
          <a:p>
            <a:pPr indent="-347345" lvl="0" marL="347345" rtl="0" algn="l">
              <a:lnSpc>
                <a:spcPct val="120000"/>
              </a:lnSpc>
              <a:spcBef>
                <a:spcPts val="0"/>
              </a:spcBef>
              <a:spcAft>
                <a:spcPts val="0"/>
              </a:spcAft>
              <a:buSzPts val="2160"/>
              <a:buChar char="❖"/>
            </a:pPr>
            <a:r>
              <a:rPr b="1" lang="vi-VN" sz="2400"/>
              <a:t>Trang bị kiến thức toàn diện và nâng cao về các kỹ thuật thăm dò địa vật lý (geophysical exploration techniques)</a:t>
            </a:r>
            <a:endParaRPr/>
          </a:p>
          <a:p>
            <a:pPr indent="0" lvl="1" marL="462280" rtl="0" algn="just">
              <a:lnSpc>
                <a:spcPct val="120000"/>
              </a:lnSpc>
              <a:spcBef>
                <a:spcPts val="800"/>
              </a:spcBef>
              <a:spcAft>
                <a:spcPts val="0"/>
              </a:spcAft>
              <a:buSzPts val="2000"/>
              <a:buNone/>
            </a:pPr>
            <a:r>
              <a:rPr b="0" lang="vi-VN" sz="2000"/>
              <a:t>Nguyên lý vật lý của từng phương pháp, phạm vi ứng dụng và giới hạn (applications and limitations)</a:t>
            </a:r>
            <a:endParaRPr b="0" sz="2000"/>
          </a:p>
          <a:p>
            <a:pPr indent="-347345" lvl="0" marL="347345" rtl="0" algn="l">
              <a:lnSpc>
                <a:spcPct val="120000"/>
              </a:lnSpc>
              <a:spcBef>
                <a:spcPts val="400"/>
              </a:spcBef>
              <a:spcAft>
                <a:spcPts val="0"/>
              </a:spcAft>
              <a:buSzPts val="2160"/>
              <a:buChar char="❖"/>
            </a:pPr>
            <a:r>
              <a:rPr b="1" lang="vi-VN" sz="2400"/>
              <a:t>Ứng dụng giải quyết các bài toán thực tiễn đa ngành</a:t>
            </a:r>
            <a:endParaRPr b="1" sz="2400"/>
          </a:p>
          <a:p>
            <a:pPr indent="0" lvl="1" marL="462280" rtl="0" algn="just">
              <a:lnSpc>
                <a:spcPct val="120000"/>
              </a:lnSpc>
              <a:spcBef>
                <a:spcPts val="800"/>
              </a:spcBef>
              <a:spcAft>
                <a:spcPts val="0"/>
              </a:spcAft>
              <a:buSzPts val="2000"/>
              <a:buNone/>
            </a:pPr>
            <a:r>
              <a:rPr b="0" lang="vi-VN" sz="2000"/>
              <a:t>Địa chất (geology), địa chất thủy văn (hydrogeology), địa kỹ thuật (geotechnical), môi trường (environmental)</a:t>
            </a:r>
            <a:endParaRPr b="0" sz="2000"/>
          </a:p>
          <a:p>
            <a:pPr indent="-347345" lvl="0" marL="347345" rtl="0" algn="l">
              <a:lnSpc>
                <a:spcPct val="120000"/>
              </a:lnSpc>
              <a:spcBef>
                <a:spcPts val="400"/>
              </a:spcBef>
              <a:spcAft>
                <a:spcPts val="0"/>
              </a:spcAft>
              <a:buSzPts val="2160"/>
              <a:buChar char="❖"/>
            </a:pPr>
            <a:r>
              <a:rPr b="1" lang="vi-VN" sz="2400"/>
              <a:t>Gắn kết công tác địa vật lý với bối cảnh phát triển bền vững toàn cầu</a:t>
            </a:r>
            <a:endParaRPr b="1" sz="2400"/>
          </a:p>
          <a:p>
            <a:pPr indent="0" lvl="1" marL="462280" rtl="0" algn="just">
              <a:lnSpc>
                <a:spcPct val="120000"/>
              </a:lnSpc>
              <a:spcBef>
                <a:spcPts val="800"/>
              </a:spcBef>
              <a:spcAft>
                <a:spcPts val="0"/>
              </a:spcAft>
              <a:buSzPts val="2000"/>
              <a:buNone/>
            </a:pPr>
            <a:r>
              <a:rPr b="0" lang="vi-VN" sz="2000"/>
              <a:t>17 Mục tiêu Phát triển Bền vững của Liên Hợp Quốc (17 SDGs of the UN)</a:t>
            </a:r>
            <a:endParaRPr b="0" sz="2000"/>
          </a:p>
          <a:p>
            <a:pPr indent="-347345" lvl="0" marL="347345" rtl="0" algn="l">
              <a:lnSpc>
                <a:spcPct val="120000"/>
              </a:lnSpc>
              <a:spcBef>
                <a:spcPts val="400"/>
              </a:spcBef>
              <a:spcAft>
                <a:spcPts val="0"/>
              </a:spcAft>
              <a:buSzPts val="2160"/>
              <a:buChar char="❖"/>
            </a:pPr>
            <a:r>
              <a:rPr b="1" lang="vi-VN" sz="2400"/>
              <a:t>Bắt kịp sự thay đổi mạnh mẽ của bối cảnh khoa học – công nghệ</a:t>
            </a:r>
            <a:endParaRPr b="1" sz="2400"/>
          </a:p>
          <a:p>
            <a:pPr indent="0" lvl="1" marL="462280" rtl="0" algn="just">
              <a:lnSpc>
                <a:spcPct val="120000"/>
              </a:lnSpc>
              <a:spcBef>
                <a:spcPts val="800"/>
              </a:spcBef>
              <a:spcAft>
                <a:spcPts val="0"/>
              </a:spcAft>
              <a:buSzPts val="2000"/>
              <a:buNone/>
            </a:pPr>
            <a:r>
              <a:rPr b="0" lang="vi-VN" sz="2000"/>
              <a:t>Ứng dụng ngày càng tăng của trí tuệ nhân tạo (AI) và học máy (ML)</a:t>
            </a:r>
            <a:endParaRPr b="0" sz="2000"/>
          </a:p>
          <a:p>
            <a:pPr indent="0" lvl="1" marL="462280" rtl="0" algn="just">
              <a:lnSpc>
                <a:spcPct val="120000"/>
              </a:lnSpc>
              <a:spcBef>
                <a:spcPts val="400"/>
              </a:spcBef>
              <a:spcAft>
                <a:spcPts val="0"/>
              </a:spcAft>
              <a:buSzPts val="2000"/>
              <a:buNone/>
            </a:pPr>
            <a:r>
              <a:rPr b="0" lang="vi-VN" sz="2000"/>
              <a:t>Xu hướng chuyển dịch năng lượng (energy transition) — từ dầu khí truyền thống sang năng lượng tái tạo, điện gió ngoài khơi</a:t>
            </a:r>
            <a:endParaRPr b="0" sz="2000"/>
          </a:p>
        </p:txBody>
      </p:sp>
      <p:sp>
        <p:nvSpPr>
          <p:cNvPr id="149" name="Google Shape;149;p15"/>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000"/>
              <a:t>3. MÔ TẢ MÔN HỌC (COURSE DESCRIPTION)</a:t>
            </a:r>
            <a:endParaRPr/>
          </a:p>
        </p:txBody>
      </p:sp>
      <p:sp>
        <p:nvSpPr>
          <p:cNvPr id="156" name="Google Shape;156;p16"/>
          <p:cNvSpPr txBox="1"/>
          <p:nvPr>
            <p:ph idx="1" type="body"/>
          </p:nvPr>
        </p:nvSpPr>
        <p:spPr>
          <a:xfrm>
            <a:off x="269488" y="827980"/>
            <a:ext cx="11709152"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800"/>
              <a:buChar char="❖"/>
            </a:pPr>
            <a:r>
              <a:rPr b="0" lang="vi-VN" sz="2000"/>
              <a:t>Tổng quan về thăm dò địa vật lý: ứng dụng và giới hạn của từng phương pháp</a:t>
            </a:r>
            <a:endParaRPr b="0" sz="2000"/>
          </a:p>
          <a:p>
            <a:pPr indent="0" lvl="0" marL="0" rtl="0" algn="l">
              <a:lnSpc>
                <a:spcPct val="120000"/>
              </a:lnSpc>
              <a:spcBef>
                <a:spcPts val="800"/>
              </a:spcBef>
              <a:spcAft>
                <a:spcPts val="0"/>
              </a:spcAft>
              <a:buSzPts val="1800"/>
              <a:buNone/>
            </a:pPr>
            <a:r>
              <a:rPr b="0" lang="vi-VN" sz="2000"/>
              <a:t>Địa chấn (Seismic): lý thuyết cơ bản, xử lý và minh giải số liệu; địa chấn khúc xạ (refraction) và phản xạ (reflection)</a:t>
            </a:r>
            <a:endParaRPr/>
          </a:p>
          <a:p>
            <a:pPr indent="0" lvl="0" marL="0" rtl="0" algn="l">
              <a:lnSpc>
                <a:spcPct val="120000"/>
              </a:lnSpc>
              <a:spcBef>
                <a:spcPts val="800"/>
              </a:spcBef>
              <a:spcAft>
                <a:spcPts val="0"/>
              </a:spcAft>
              <a:buSzPts val="1800"/>
              <a:buNone/>
            </a:pPr>
            <a:r>
              <a:rPr b="0" lang="vi-VN" sz="2000"/>
              <a:t>Điện (Electric): phương pháp điện trường tự nhiên và nhân tạo; kỹ thuật ảnh điện; phân tích thuận – nghịch điện trở suất</a:t>
            </a:r>
            <a:endParaRPr b="0" sz="2000"/>
          </a:p>
          <a:p>
            <a:pPr indent="0" lvl="0" marL="0" rtl="0" algn="l">
              <a:lnSpc>
                <a:spcPct val="120000"/>
              </a:lnSpc>
              <a:spcBef>
                <a:spcPts val="800"/>
              </a:spcBef>
              <a:spcAft>
                <a:spcPts val="0"/>
              </a:spcAft>
              <a:buSzPts val="1800"/>
              <a:buNone/>
            </a:pPr>
            <a:r>
              <a:rPr b="0" lang="vi-VN" sz="2000"/>
              <a:t>Từ và Trọng lực (Magnetic &amp; Gravity): quan hệ cơ bản, quy trình đo đạc thực địa, xử lý – hiệu chỉnh, minh giải số liệu</a:t>
            </a:r>
            <a:endParaRPr b="0" sz="2000"/>
          </a:p>
          <a:p>
            <a:pPr indent="0" lvl="0" marL="0" rtl="0" algn="l">
              <a:lnSpc>
                <a:spcPct val="120000"/>
              </a:lnSpc>
              <a:spcBef>
                <a:spcPts val="800"/>
              </a:spcBef>
              <a:spcAft>
                <a:spcPts val="0"/>
              </a:spcAft>
              <a:buSzPts val="1800"/>
              <a:buNone/>
            </a:pPr>
            <a:r>
              <a:rPr b="0" lang="vi-VN" sz="2000"/>
              <a:t>Địa vật lý giếng khoan (Well logging): các loại log cơ bản và phương pháp minh giải</a:t>
            </a:r>
            <a:endParaRPr b="0" sz="2000"/>
          </a:p>
          <a:p>
            <a:pPr indent="0" lvl="0" marL="0" rtl="0" algn="l">
              <a:lnSpc>
                <a:spcPct val="120000"/>
              </a:lnSpc>
              <a:spcBef>
                <a:spcPts val="800"/>
              </a:spcBef>
              <a:spcAft>
                <a:spcPts val="0"/>
              </a:spcAft>
              <a:buSzPts val="1800"/>
              <a:buNone/>
            </a:pPr>
            <a:r>
              <a:rPr b="0" lang="vi-VN" sz="2000"/>
              <a:t>Lập kế hoạch và quản lý dự án thăm dò / khảo sát địa vật lý</a:t>
            </a:r>
            <a:endParaRPr b="0" sz="2000"/>
          </a:p>
          <a:p>
            <a:pPr indent="0" lvl="0" marL="0" rtl="0" algn="l">
              <a:lnSpc>
                <a:spcPct val="120000"/>
              </a:lnSpc>
              <a:spcBef>
                <a:spcPts val="800"/>
              </a:spcBef>
              <a:spcAft>
                <a:spcPts val="0"/>
              </a:spcAft>
              <a:buSzPts val="1800"/>
              <a:buNone/>
            </a:pPr>
            <a:r>
              <a:rPr b="0" lang="vi-VN" sz="2000"/>
              <a:t>Chủ đề nâng cao / tùy chọn: địa chấn xuyên giếng, địa chấn song song, địa chấn thụ động, ứng dụng AI/ML, ChatGPT, prompt engineering, lập trình Python, mô hình nền cho công trình điện gió ngoài khơi, địa vật lý bền vững</a:t>
            </a:r>
            <a:endParaRPr b="0" sz="2000"/>
          </a:p>
        </p:txBody>
      </p:sp>
      <p:sp>
        <p:nvSpPr>
          <p:cNvPr id="157" name="Google Shape;157;p16"/>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400"/>
              <a:t>4. CẤU TRÚC NỘI DUNG MÔN HỌC</a:t>
            </a:r>
            <a:endParaRPr/>
          </a:p>
        </p:txBody>
      </p:sp>
      <p:sp>
        <p:nvSpPr>
          <p:cNvPr id="164" name="Google Shape;164;p17"/>
          <p:cNvSpPr txBox="1"/>
          <p:nvPr>
            <p:ph idx="1" type="body"/>
          </p:nvPr>
        </p:nvSpPr>
        <p:spPr>
          <a:xfrm>
            <a:off x="457200" y="1280160"/>
            <a:ext cx="11247120" cy="9144"/>
          </a:xfrm>
          <a:prstGeom prst="rect">
            <a:avLst/>
          </a:prstGeom>
          <a:noFill/>
          <a:ln>
            <a:noFill/>
          </a:ln>
        </p:spPr>
        <p:txBody>
          <a:bodyPr anchorCtr="0" anchor="t" bIns="46025" lIns="0" spcFirstLastPara="1" rIns="0" wrap="square" tIns="46025">
            <a:noAutofit/>
          </a:bodyPr>
          <a:lstStyle/>
          <a:p>
            <a:pPr indent="-187643" lvl="0" marL="347663" rtl="0" algn="l">
              <a:lnSpc>
                <a:spcPct val="120000"/>
              </a:lnSpc>
              <a:spcBef>
                <a:spcPts val="0"/>
              </a:spcBef>
              <a:spcAft>
                <a:spcPts val="0"/>
              </a:spcAft>
              <a:buSzPts val="2520"/>
              <a:buNone/>
            </a:pPr>
            <a:r>
              <a:t/>
            </a:r>
            <a:endParaRPr/>
          </a:p>
        </p:txBody>
      </p:sp>
      <p:graphicFrame>
        <p:nvGraphicFramePr>
          <p:cNvPr id="165" name="Google Shape;165;p17"/>
          <p:cNvGraphicFramePr/>
          <p:nvPr/>
        </p:nvGraphicFramePr>
        <p:xfrm>
          <a:off x="502920" y="1417320"/>
          <a:ext cx="3000000" cy="3000000"/>
        </p:xfrm>
        <a:graphic>
          <a:graphicData uri="http://schemas.openxmlformats.org/drawingml/2006/table">
            <a:tbl>
              <a:tblPr bandRow="1" firstRow="1">
                <a:noFill/>
                <a:tableStyleId>{034895A6-C1AE-4BC2-889E-3C33AFCB4900}</a:tableStyleId>
              </a:tblPr>
              <a:tblGrid>
                <a:gridCol w="1866900"/>
                <a:gridCol w="9334500"/>
              </a:tblGrid>
              <a:tr h="457200">
                <a:tc>
                  <a:txBody>
                    <a:bodyPr/>
                    <a:lstStyle/>
                    <a:p>
                      <a:pPr indent="0" lvl="0" marL="0" marR="0" rtl="0" algn="ctr">
                        <a:spcBef>
                          <a:spcPts val="0"/>
                        </a:spcBef>
                        <a:spcAft>
                          <a:spcPts val="0"/>
                        </a:spcAft>
                        <a:buNone/>
                      </a:pPr>
                      <a:r>
                        <a:rPr b="1" lang="vi-VN" sz="1800">
                          <a:solidFill>
                            <a:srgbClr val="FFFFFF"/>
                          </a:solidFill>
                        </a:rPr>
                        <a:t>Chương</a:t>
                      </a:r>
                      <a:endParaRPr/>
                    </a:p>
                  </a:txBody>
                  <a:tcPr marT="45725" marB="45725" marR="91450" marL="91450" anchor="ctr">
                    <a:solidFill>
                      <a:srgbClr val="1F4E79"/>
                    </a:solidFill>
                  </a:tcPr>
                </a:tc>
                <a:tc>
                  <a:txBody>
                    <a:bodyPr/>
                    <a:lstStyle/>
                    <a:p>
                      <a:pPr indent="0" lvl="0" marL="0" marR="0" rtl="0" algn="ctr">
                        <a:spcBef>
                          <a:spcPts val="0"/>
                        </a:spcBef>
                        <a:spcAft>
                          <a:spcPts val="0"/>
                        </a:spcAft>
                        <a:buNone/>
                      </a:pPr>
                      <a:r>
                        <a:rPr b="1" lang="vi-VN" sz="1800">
                          <a:solidFill>
                            <a:srgbClr val="FFFFFF"/>
                          </a:solidFill>
                        </a:rPr>
                        <a:t>Nội dung chính</a:t>
                      </a:r>
                      <a:endParaRPr/>
                    </a:p>
                  </a:txBody>
                  <a:tcPr marT="45725" marB="45725" marR="91450" marL="91450" anchor="ctr">
                    <a:solidFill>
                      <a:srgbClr val="1F4E79"/>
                    </a:solidFill>
                  </a:tcPr>
                </a:tc>
              </a:tr>
              <a:tr h="457200">
                <a:tc>
                  <a:txBody>
                    <a:bodyPr/>
                    <a:lstStyle/>
                    <a:p>
                      <a:pPr indent="0" lvl="0" marL="0" marR="0" rtl="0" algn="l">
                        <a:spcBef>
                          <a:spcPts val="0"/>
                        </a:spcBef>
                        <a:spcAft>
                          <a:spcPts val="0"/>
                        </a:spcAft>
                        <a:buNone/>
                      </a:pPr>
                      <a:r>
                        <a:rPr b="1" lang="vi-VN" sz="1800">
                          <a:solidFill>
                            <a:srgbClr val="26313B"/>
                          </a:solidFill>
                        </a:rPr>
                        <a:t>I</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1" lang="vi-VN" sz="1800">
                          <a:solidFill>
                            <a:srgbClr val="26313B"/>
                          </a:solidFill>
                        </a:rPr>
                        <a:t>Tổng quan (Overview) — khái niệm nền tảng, xu hướng phát triển</a:t>
                      </a:r>
                      <a:endParaRPr/>
                    </a:p>
                  </a:txBody>
                  <a:tcPr marT="45725" marB="45725" marR="91450" marL="91450">
                    <a:solidFill>
                      <a:srgbClr val="FFFFFF"/>
                    </a:solidFill>
                  </a:tcPr>
                </a:tc>
              </a:tr>
              <a:tr h="457200">
                <a:tc>
                  <a:txBody>
                    <a:bodyPr/>
                    <a:lstStyle/>
                    <a:p>
                      <a:pPr indent="0" lvl="0" marL="0" marR="0" rtl="0" algn="l">
                        <a:spcBef>
                          <a:spcPts val="0"/>
                        </a:spcBef>
                        <a:spcAft>
                          <a:spcPts val="0"/>
                        </a:spcAft>
                        <a:buNone/>
                      </a:pPr>
                      <a:r>
                        <a:rPr b="1" lang="vi-VN" sz="1800">
                          <a:solidFill>
                            <a:srgbClr val="26313B"/>
                          </a:solidFill>
                        </a:rPr>
                        <a:t>II</a:t>
                      </a:r>
                      <a:endParaRPr/>
                    </a:p>
                  </a:txBody>
                  <a:tcPr marT="45725" marB="45725" marR="91450" marL="91450">
                    <a:solidFill>
                      <a:srgbClr val="E9F1F8"/>
                    </a:solidFill>
                  </a:tcPr>
                </a:tc>
                <a:tc>
                  <a:txBody>
                    <a:bodyPr/>
                    <a:lstStyle/>
                    <a:p>
                      <a:pPr indent="0" lvl="0" marL="0" marR="0" rtl="0" algn="l">
                        <a:spcBef>
                          <a:spcPts val="0"/>
                        </a:spcBef>
                        <a:spcAft>
                          <a:spcPts val="0"/>
                        </a:spcAft>
                        <a:buNone/>
                      </a:pPr>
                      <a:r>
                        <a:rPr b="1" lang="vi-VN" sz="1800">
                          <a:solidFill>
                            <a:srgbClr val="26313B"/>
                          </a:solidFill>
                        </a:rPr>
                        <a:t>Thăm dò địa chấn (Seismic Exploration) — khúc xạ, phản xạ, địa chấn 3D</a:t>
                      </a:r>
                      <a:endParaRPr/>
                    </a:p>
                  </a:txBody>
                  <a:tcPr marT="45725" marB="45725" marR="91450" marL="91450">
                    <a:solidFill>
                      <a:srgbClr val="E9F1F8"/>
                    </a:solidFill>
                  </a:tcPr>
                </a:tc>
              </a:tr>
              <a:tr h="457200">
                <a:tc>
                  <a:txBody>
                    <a:bodyPr/>
                    <a:lstStyle/>
                    <a:p>
                      <a:pPr indent="0" lvl="0" marL="0" marR="0" rtl="0" algn="l">
                        <a:spcBef>
                          <a:spcPts val="0"/>
                        </a:spcBef>
                        <a:spcAft>
                          <a:spcPts val="0"/>
                        </a:spcAft>
                        <a:buNone/>
                      </a:pPr>
                      <a:r>
                        <a:rPr b="1" lang="vi-VN" sz="1800">
                          <a:solidFill>
                            <a:srgbClr val="26313B"/>
                          </a:solidFill>
                        </a:rPr>
                        <a:t>III</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1" lang="vi-VN" sz="1800">
                          <a:solidFill>
                            <a:srgbClr val="26313B"/>
                          </a:solidFill>
                        </a:rPr>
                        <a:t>Các phương pháp điện (Electric Methods) — VES, EP, EI, SP, IP, EM, MT</a:t>
                      </a:r>
                      <a:endParaRPr/>
                    </a:p>
                  </a:txBody>
                  <a:tcPr marT="45725" marB="45725" marR="91450" marL="91450">
                    <a:solidFill>
                      <a:srgbClr val="FFFFFF"/>
                    </a:solidFill>
                  </a:tcPr>
                </a:tc>
              </a:tr>
              <a:tr h="457200">
                <a:tc>
                  <a:txBody>
                    <a:bodyPr/>
                    <a:lstStyle/>
                    <a:p>
                      <a:pPr indent="0" lvl="0" marL="0" marR="0" rtl="0" algn="l">
                        <a:spcBef>
                          <a:spcPts val="0"/>
                        </a:spcBef>
                        <a:spcAft>
                          <a:spcPts val="0"/>
                        </a:spcAft>
                        <a:buNone/>
                      </a:pPr>
                      <a:r>
                        <a:rPr b="1" lang="vi-VN" sz="1800">
                          <a:solidFill>
                            <a:srgbClr val="26313B"/>
                          </a:solidFill>
                        </a:rPr>
                        <a:t>IV</a:t>
                      </a:r>
                      <a:endParaRPr/>
                    </a:p>
                  </a:txBody>
                  <a:tcPr marT="45725" marB="45725" marR="91450" marL="91450">
                    <a:solidFill>
                      <a:srgbClr val="E9F1F8"/>
                    </a:solidFill>
                  </a:tcPr>
                </a:tc>
                <a:tc>
                  <a:txBody>
                    <a:bodyPr/>
                    <a:lstStyle/>
                    <a:p>
                      <a:pPr indent="0" lvl="0" marL="0" marR="0" rtl="0" algn="l">
                        <a:spcBef>
                          <a:spcPts val="0"/>
                        </a:spcBef>
                        <a:spcAft>
                          <a:spcPts val="0"/>
                        </a:spcAft>
                        <a:buNone/>
                      </a:pPr>
                      <a:r>
                        <a:rPr b="1" lang="vi-VN" sz="1800">
                          <a:solidFill>
                            <a:srgbClr val="26313B"/>
                          </a:solidFill>
                        </a:rPr>
                        <a:t>Phương pháp Từ (Magnetic) — tùy chọn</a:t>
                      </a:r>
                      <a:endParaRPr/>
                    </a:p>
                  </a:txBody>
                  <a:tcPr marT="45725" marB="45725" marR="91450" marL="91450">
                    <a:solidFill>
                      <a:srgbClr val="E9F1F8"/>
                    </a:solidFill>
                  </a:tcPr>
                </a:tc>
              </a:tr>
              <a:tr h="457200">
                <a:tc>
                  <a:txBody>
                    <a:bodyPr/>
                    <a:lstStyle/>
                    <a:p>
                      <a:pPr indent="0" lvl="0" marL="0" marR="0" rtl="0" algn="l">
                        <a:spcBef>
                          <a:spcPts val="0"/>
                        </a:spcBef>
                        <a:spcAft>
                          <a:spcPts val="0"/>
                        </a:spcAft>
                        <a:buNone/>
                      </a:pPr>
                      <a:r>
                        <a:rPr b="1" lang="vi-VN" sz="1800">
                          <a:solidFill>
                            <a:srgbClr val="26313B"/>
                          </a:solidFill>
                        </a:rPr>
                        <a:t>V</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1" lang="vi-VN" sz="1800">
                          <a:solidFill>
                            <a:srgbClr val="26313B"/>
                          </a:solidFill>
                        </a:rPr>
                        <a:t>Phương pháp Trọng lực (Gravity) — tùy chọn</a:t>
                      </a:r>
                      <a:endParaRPr/>
                    </a:p>
                  </a:txBody>
                  <a:tcPr marT="45725" marB="45725" marR="91450" marL="91450">
                    <a:solidFill>
                      <a:srgbClr val="FFFFFF"/>
                    </a:solidFill>
                  </a:tcPr>
                </a:tc>
              </a:tr>
              <a:tr h="457200">
                <a:tc>
                  <a:txBody>
                    <a:bodyPr/>
                    <a:lstStyle/>
                    <a:p>
                      <a:pPr indent="0" lvl="0" marL="0" marR="0" rtl="0" algn="l">
                        <a:spcBef>
                          <a:spcPts val="0"/>
                        </a:spcBef>
                        <a:spcAft>
                          <a:spcPts val="0"/>
                        </a:spcAft>
                        <a:buNone/>
                      </a:pPr>
                      <a:r>
                        <a:rPr b="1" lang="vi-VN" sz="1800">
                          <a:solidFill>
                            <a:srgbClr val="26313B"/>
                          </a:solidFill>
                        </a:rPr>
                        <a:t>VI</a:t>
                      </a:r>
                      <a:endParaRPr/>
                    </a:p>
                  </a:txBody>
                  <a:tcPr marT="45725" marB="45725" marR="91450" marL="91450">
                    <a:solidFill>
                      <a:srgbClr val="E9F1F8"/>
                    </a:solidFill>
                  </a:tcPr>
                </a:tc>
                <a:tc>
                  <a:txBody>
                    <a:bodyPr/>
                    <a:lstStyle/>
                    <a:p>
                      <a:pPr indent="0" lvl="0" marL="0" marR="0" rtl="0" algn="l">
                        <a:spcBef>
                          <a:spcPts val="0"/>
                        </a:spcBef>
                        <a:spcAft>
                          <a:spcPts val="0"/>
                        </a:spcAft>
                        <a:buNone/>
                      </a:pPr>
                      <a:r>
                        <a:rPr b="1" lang="vi-VN" sz="1800">
                          <a:solidFill>
                            <a:srgbClr val="26313B"/>
                          </a:solidFill>
                        </a:rPr>
                        <a:t>Địa vật lý giếng khoan (Well Logging)</a:t>
                      </a:r>
                      <a:endParaRPr/>
                    </a:p>
                  </a:txBody>
                  <a:tcPr marT="45725" marB="45725" marR="91450" marL="91450">
                    <a:solidFill>
                      <a:srgbClr val="E9F1F8"/>
                    </a:solidFill>
                  </a:tcPr>
                </a:tc>
              </a:tr>
              <a:tr h="457200">
                <a:tc>
                  <a:txBody>
                    <a:bodyPr/>
                    <a:lstStyle/>
                    <a:p>
                      <a:pPr indent="0" lvl="0" marL="0" marR="0" rtl="0" algn="l">
                        <a:spcBef>
                          <a:spcPts val="0"/>
                        </a:spcBef>
                        <a:spcAft>
                          <a:spcPts val="0"/>
                        </a:spcAft>
                        <a:buNone/>
                      </a:pPr>
                      <a:r>
                        <a:rPr b="1" lang="vi-VN" sz="1800">
                          <a:solidFill>
                            <a:srgbClr val="26313B"/>
                          </a:solidFill>
                        </a:rPr>
                        <a:t>VII</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1" lang="vi-VN" sz="1800">
                          <a:solidFill>
                            <a:srgbClr val="26313B"/>
                          </a:solidFill>
                        </a:rPr>
                        <a:t>Các kỹ thuật khác — phóng xạ, GPR, EM, địa nhiệt</a:t>
                      </a:r>
                      <a:endParaRPr b="1" sz="1800">
                        <a:solidFill>
                          <a:srgbClr val="26313B"/>
                        </a:solidFill>
                      </a:endParaRPr>
                    </a:p>
                  </a:txBody>
                  <a:tcPr marT="45725" marB="45725" marR="91450" marL="91450">
                    <a:solidFill>
                      <a:srgbClr val="FFFFFF"/>
                    </a:solidFill>
                  </a:tcPr>
                </a:tc>
              </a:tr>
              <a:tr h="457200">
                <a:tc>
                  <a:txBody>
                    <a:bodyPr/>
                    <a:lstStyle/>
                    <a:p>
                      <a:pPr indent="0" lvl="0" marL="0" marR="0" rtl="0" algn="l">
                        <a:spcBef>
                          <a:spcPts val="0"/>
                        </a:spcBef>
                        <a:spcAft>
                          <a:spcPts val="0"/>
                        </a:spcAft>
                        <a:buNone/>
                      </a:pPr>
                      <a:r>
                        <a:rPr b="1" lang="vi-VN" sz="1800">
                          <a:solidFill>
                            <a:srgbClr val="26313B"/>
                          </a:solidFill>
                        </a:rPr>
                        <a:t>VIII</a:t>
                      </a:r>
                      <a:endParaRPr/>
                    </a:p>
                  </a:txBody>
                  <a:tcPr marT="45725" marB="45725" marR="91450" marL="91450">
                    <a:solidFill>
                      <a:srgbClr val="E9F1F8"/>
                    </a:solidFill>
                  </a:tcPr>
                </a:tc>
                <a:tc>
                  <a:txBody>
                    <a:bodyPr/>
                    <a:lstStyle/>
                    <a:p>
                      <a:pPr indent="0" lvl="0" marL="0" marR="0" rtl="0" algn="l">
                        <a:spcBef>
                          <a:spcPts val="0"/>
                        </a:spcBef>
                        <a:spcAft>
                          <a:spcPts val="0"/>
                        </a:spcAft>
                        <a:buNone/>
                      </a:pPr>
                      <a:r>
                        <a:rPr b="1" lang="vi-VN" sz="1800">
                          <a:solidFill>
                            <a:srgbClr val="26313B"/>
                          </a:solidFill>
                        </a:rPr>
                        <a:t>Lập kế hoạch &amp; triển khai dự án thăm dò địa vật lý</a:t>
                      </a:r>
                      <a:endParaRPr/>
                    </a:p>
                  </a:txBody>
                  <a:tcPr marT="45725" marB="45725" marR="91450" marL="91450">
                    <a:solidFill>
                      <a:srgbClr val="E9F1F8"/>
                    </a:solidFill>
                  </a:tcPr>
                </a:tc>
              </a:tr>
              <a:tr h="457200">
                <a:tc>
                  <a:txBody>
                    <a:bodyPr/>
                    <a:lstStyle/>
                    <a:p>
                      <a:pPr indent="0" lvl="0" marL="0" marR="0" rtl="0" algn="l">
                        <a:spcBef>
                          <a:spcPts val="0"/>
                        </a:spcBef>
                        <a:spcAft>
                          <a:spcPts val="0"/>
                        </a:spcAft>
                        <a:buNone/>
                      </a:pPr>
                      <a:r>
                        <a:rPr b="1" lang="vi-VN" sz="1800">
                          <a:solidFill>
                            <a:srgbClr val="26313B"/>
                          </a:solidFill>
                        </a:rPr>
                        <a:t>IX</a:t>
                      </a:r>
                      <a:endParaRPr/>
                    </a:p>
                  </a:txBody>
                  <a:tcPr marT="45725" marB="45725" marR="91450" marL="91450">
                    <a:solidFill>
                      <a:srgbClr val="FFFFFF"/>
                    </a:solidFill>
                  </a:tcPr>
                </a:tc>
                <a:tc>
                  <a:txBody>
                    <a:bodyPr/>
                    <a:lstStyle/>
                    <a:p>
                      <a:pPr indent="0" lvl="0" marL="0" marR="0" rtl="0" algn="l">
                        <a:spcBef>
                          <a:spcPts val="0"/>
                        </a:spcBef>
                        <a:spcAft>
                          <a:spcPts val="0"/>
                        </a:spcAft>
                        <a:buNone/>
                      </a:pPr>
                      <a:r>
                        <a:rPr b="1" lang="vi-VN" sz="1800">
                          <a:solidFill>
                            <a:srgbClr val="26313B"/>
                          </a:solidFill>
                        </a:rPr>
                        <a:t>Chủ đề nâng cao theo yêu cầu — inversion, AI/ML, Python, vật lý đá, địa vật lý bền vững</a:t>
                      </a:r>
                      <a:endParaRPr b="1" sz="1800">
                        <a:solidFill>
                          <a:srgbClr val="26313B"/>
                        </a:solidFill>
                      </a:endParaRPr>
                    </a:p>
                  </a:txBody>
                  <a:tcPr marT="45725" marB="45725" marR="91450" marL="91450">
                    <a:solidFill>
                      <a:srgbClr val="FFFFFF"/>
                    </a:solidFill>
                  </a:tcPr>
                </a:tc>
              </a:tr>
            </a:tbl>
          </a:graphicData>
        </a:graphic>
      </p:graphicFrame>
      <p:sp>
        <p:nvSpPr>
          <p:cNvPr id="166" name="Google Shape;166;p17"/>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8"/>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000"/>
              <a:t>CHƯƠNG I: TỔNG QUAN (OVERVIEW) — PHẦN 1</a:t>
            </a:r>
            <a:endParaRPr/>
          </a:p>
        </p:txBody>
      </p:sp>
      <p:sp>
        <p:nvSpPr>
          <p:cNvPr id="172" name="Google Shape;172;p18"/>
          <p:cNvSpPr txBox="1"/>
          <p:nvPr>
            <p:ph idx="1" type="body"/>
          </p:nvPr>
        </p:nvSpPr>
        <p:spPr>
          <a:xfrm>
            <a:off x="609600" y="1103079"/>
            <a:ext cx="10972800" cy="5193792"/>
          </a:xfrm>
          <a:prstGeom prst="rect">
            <a:avLst/>
          </a:prstGeom>
          <a:noFill/>
          <a:ln>
            <a:noFill/>
          </a:ln>
        </p:spPr>
        <p:txBody>
          <a:bodyPr anchorCtr="0" anchor="t" bIns="46025" lIns="0" spcFirstLastPara="1" rIns="0" wrap="square" tIns="46025">
            <a:noAutofit/>
          </a:bodyPr>
          <a:lstStyle/>
          <a:p>
            <a:pPr indent="0" lvl="0" marL="0" rtl="0" algn="l">
              <a:lnSpc>
                <a:spcPct val="120000"/>
              </a:lnSpc>
              <a:spcBef>
                <a:spcPts val="0"/>
              </a:spcBef>
              <a:spcAft>
                <a:spcPts val="0"/>
              </a:spcAft>
              <a:buSzPts val="2160"/>
              <a:buNone/>
            </a:pPr>
            <a:r>
              <a:rPr b="1" lang="vi-VN" sz="2400"/>
              <a:t>I.1 Những khái niệm nền tảng của một khảo sát địa vật lý</a:t>
            </a:r>
            <a:endParaRPr b="1" sz="2400"/>
          </a:p>
          <a:p>
            <a:pPr indent="-220663" lvl="1" marL="682625" rtl="0" algn="just">
              <a:lnSpc>
                <a:spcPct val="120000"/>
              </a:lnSpc>
              <a:spcBef>
                <a:spcPts val="800"/>
              </a:spcBef>
              <a:spcAft>
                <a:spcPts val="0"/>
              </a:spcAft>
              <a:buSzPts val="2000"/>
              <a:buChar char="▪"/>
            </a:pPr>
            <a:r>
              <a:rPr b="0" lang="vi-VN" sz="2000"/>
              <a:t>Lập kế hoạch &amp; triển khai khảo sát (planning and implementation): xác định mục tiêu, chọn phương pháp phù hợp, thiết kế mạng lưới tuyến đo</a:t>
            </a:r>
            <a:endParaRPr b="0" sz="2000"/>
          </a:p>
          <a:p>
            <a:pPr indent="-220663" lvl="1" marL="682625" rtl="0" algn="just">
              <a:lnSpc>
                <a:spcPct val="120000"/>
              </a:lnSpc>
              <a:spcBef>
                <a:spcPts val="400"/>
              </a:spcBef>
              <a:spcAft>
                <a:spcPts val="0"/>
              </a:spcAft>
              <a:buSzPts val="2000"/>
              <a:buChar char="▪"/>
            </a:pPr>
            <a:r>
              <a:rPr b="0" lang="vi-VN" sz="2000"/>
              <a:t>Độ sâu khảo sát/nghiên cứu (depth of investigation): độ sâu tối đa mà phương pháp có thể “nhìn thấy” dị thường, phụ thuộc nguồn năng lượng và cấu hình thiết bị</a:t>
            </a:r>
            <a:endParaRPr b="0" sz="2000"/>
          </a:p>
          <a:p>
            <a:pPr indent="-220663" lvl="1" marL="682625" rtl="0" algn="just">
              <a:lnSpc>
                <a:spcPct val="120000"/>
              </a:lnSpc>
              <a:spcBef>
                <a:spcPts val="400"/>
              </a:spcBef>
              <a:spcAft>
                <a:spcPts val="0"/>
              </a:spcAft>
              <a:buSzPts val="2000"/>
              <a:buChar char="▪"/>
            </a:pPr>
            <a:r>
              <a:rPr b="0" lang="vi-VN" sz="2000"/>
              <a:t>Độ phân giải (resolution): khả năng phân biệt hai đối tượng địa chất gần nhau — càng nông càng cần độ phân giải cao</a:t>
            </a:r>
            <a:endParaRPr b="0" sz="2000"/>
          </a:p>
          <a:p>
            <a:pPr indent="-220663" lvl="1" marL="682625" rtl="0" algn="just">
              <a:lnSpc>
                <a:spcPct val="120000"/>
              </a:lnSpc>
              <a:spcBef>
                <a:spcPts val="400"/>
              </a:spcBef>
              <a:spcAft>
                <a:spcPts val="0"/>
              </a:spcAft>
              <a:buSzPts val="2000"/>
              <a:buChar char="▪"/>
            </a:pPr>
            <a:r>
              <a:rPr b="0" lang="vi-VN" sz="2000"/>
              <a:t>Độ tương phản địa vật lý &amp; dị thường (geophysical contrast &amp; anomaly): chênh lệch tính chất vật lý (mật độ, điện trở suất, từ tính, vận tốc...) giữa đối tượng và môi trường xung quanh — là cơ sở để phát hiện dị thường</a:t>
            </a:r>
            <a:endParaRPr b="0" sz="2000"/>
          </a:p>
          <a:p>
            <a:pPr indent="-220663" lvl="1" marL="682625" rtl="0" algn="just">
              <a:lnSpc>
                <a:spcPct val="120000"/>
              </a:lnSpc>
              <a:spcBef>
                <a:spcPts val="400"/>
              </a:spcBef>
              <a:spcAft>
                <a:spcPts val="0"/>
              </a:spcAft>
              <a:buSzPts val="2000"/>
              <a:buChar char="▪"/>
            </a:pPr>
            <a:r>
              <a:rPr b="0" lang="vi-VN" sz="2000"/>
              <a:t>Phạm vi áp dụng và hạn chế (applicability &amp; limitation): mỗi phương pháp chỉ hiệu quả trong điều kiện địa chất – kỹ thuật nhất định, cần phối hợp đa phương pháp (multi-method integration)</a:t>
            </a:r>
            <a:endParaRPr/>
          </a:p>
        </p:txBody>
      </p:sp>
      <p:sp>
        <p:nvSpPr>
          <p:cNvPr id="173" name="Google Shape;173;p18"/>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000"/>
              <a:t>CHƯƠNG I: TỔNG QUAN (OVERVIEW) — PHẦN 2</a:t>
            </a:r>
            <a:endParaRPr/>
          </a:p>
        </p:txBody>
      </p:sp>
      <p:sp>
        <p:nvSpPr>
          <p:cNvPr id="179" name="Google Shape;179;p19"/>
          <p:cNvSpPr txBox="1"/>
          <p:nvPr>
            <p:ph idx="1" type="body"/>
          </p:nvPr>
        </p:nvSpPr>
        <p:spPr>
          <a:xfrm>
            <a:off x="594360" y="1298448"/>
            <a:ext cx="10972800" cy="5193792"/>
          </a:xfrm>
          <a:prstGeom prst="rect">
            <a:avLst/>
          </a:prstGeom>
          <a:noFill/>
          <a:ln>
            <a:noFill/>
          </a:ln>
        </p:spPr>
        <p:txBody>
          <a:bodyPr anchorCtr="0" anchor="t" bIns="46025" lIns="0" spcFirstLastPara="1" rIns="0" wrap="square" tIns="46025">
            <a:noAutofit/>
          </a:bodyPr>
          <a:lstStyle/>
          <a:p>
            <a:pPr indent="0" lvl="0" marL="0" rtl="0" algn="l">
              <a:lnSpc>
                <a:spcPct val="120000"/>
              </a:lnSpc>
              <a:spcBef>
                <a:spcPts val="0"/>
              </a:spcBef>
              <a:spcAft>
                <a:spcPts val="0"/>
              </a:spcAft>
              <a:buSzPts val="2520"/>
              <a:buNone/>
            </a:pPr>
            <a:r>
              <a:rPr b="1" lang="vi-VN"/>
              <a:t>I.2 Xu hướng phát triển của địa vật lý hiện đại</a:t>
            </a:r>
            <a:endParaRPr b="1"/>
          </a:p>
          <a:p>
            <a:pPr indent="-220663" lvl="1" marL="682625" rtl="0" algn="just">
              <a:lnSpc>
                <a:spcPct val="120000"/>
              </a:lnSpc>
              <a:spcBef>
                <a:spcPts val="800"/>
              </a:spcBef>
              <a:spcAft>
                <a:spcPts val="0"/>
              </a:spcAft>
              <a:buSzPts val="2000"/>
              <a:buChar char="▪"/>
            </a:pPr>
            <a:r>
              <a:rPr b="0" lang="vi-VN" sz="2000"/>
              <a:t>Số hóa và tự động hóa: cảm biến không dây, thu thập dữ liệu liên tục, điện toán đám mây</a:t>
            </a:r>
            <a:endParaRPr b="0" sz="2000"/>
          </a:p>
          <a:p>
            <a:pPr indent="-220663" lvl="1" marL="682625" rtl="0" algn="just">
              <a:lnSpc>
                <a:spcPct val="120000"/>
              </a:lnSpc>
              <a:spcBef>
                <a:spcPts val="400"/>
              </a:spcBef>
              <a:spcAft>
                <a:spcPts val="0"/>
              </a:spcAft>
              <a:buSzPts val="2000"/>
              <a:buChar char="▪"/>
            </a:pPr>
            <a:r>
              <a:rPr b="0" lang="vi-VN" sz="2000"/>
              <a:t>Ứng dụng trí tuệ nhân tạo / học máy (AI/ML) trong xử lý và minh giải dữ liệu, giảm thời gian và tăng độ chính xác</a:t>
            </a:r>
            <a:endParaRPr b="0" sz="2000"/>
          </a:p>
          <a:p>
            <a:pPr indent="-220663" lvl="1" marL="682625" rtl="0" algn="just">
              <a:lnSpc>
                <a:spcPct val="120000"/>
              </a:lnSpc>
              <a:spcBef>
                <a:spcPts val="400"/>
              </a:spcBef>
              <a:spcAft>
                <a:spcPts val="0"/>
              </a:spcAft>
              <a:buSzPts val="2000"/>
              <a:buChar char="▪"/>
            </a:pPr>
            <a:r>
              <a:rPr b="0" lang="vi-VN" sz="2000"/>
              <a:t>Tích hợp đa phương pháp (integrated geophysics) kết hợp với địa kỹ thuật để giảm độ bất định trong mô hình nền</a:t>
            </a:r>
            <a:endParaRPr b="0" sz="2000"/>
          </a:p>
          <a:p>
            <a:pPr indent="-220663" lvl="1" marL="682625" rtl="0" algn="just">
              <a:lnSpc>
                <a:spcPct val="120000"/>
              </a:lnSpc>
              <a:spcBef>
                <a:spcPts val="400"/>
              </a:spcBef>
              <a:spcAft>
                <a:spcPts val="0"/>
              </a:spcAft>
              <a:buSzPts val="2000"/>
              <a:buChar char="▪"/>
            </a:pPr>
            <a:r>
              <a:rPr b="0" lang="vi-VN" sz="2000"/>
              <a:t>Gắn với chuyển dịch năng lượng (energy transition): khảo sát phục vụ điện gió ngoài khơi, lưu trữ CO2 (CCS), địa nhiệt, hydro</a:t>
            </a:r>
            <a:endParaRPr/>
          </a:p>
          <a:p>
            <a:pPr indent="-220663" lvl="1" marL="682625" rtl="0" algn="just">
              <a:lnSpc>
                <a:spcPct val="120000"/>
              </a:lnSpc>
              <a:spcBef>
                <a:spcPts val="400"/>
              </a:spcBef>
              <a:spcAft>
                <a:spcPts val="0"/>
              </a:spcAft>
              <a:buSzPts val="2000"/>
              <a:buChar char="▪"/>
            </a:pPr>
            <a:r>
              <a:rPr b="0" lang="vi-VN" sz="2000"/>
              <a:t>Đặt trong khung 17 Mục tiêu Phát triển Bền vững của LHQ (SDGs) — địa vật lý phục vụ quản lý tài nguyên nước, giảm thiểu rủi ro thiên tai, quy hoạch hạ tầng bền vững</a:t>
            </a:r>
            <a:endParaRPr b="0" sz="2000"/>
          </a:p>
        </p:txBody>
      </p:sp>
      <p:sp>
        <p:nvSpPr>
          <p:cNvPr id="180" name="Google Shape;180;p19"/>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0"/>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2600"/>
              <a:t>CHƯƠNG II: THĂM DÒ ĐỊA CHẤN (SEISMIC EXPLORATION)</a:t>
            </a:r>
            <a:endParaRPr/>
          </a:p>
        </p:txBody>
      </p:sp>
      <p:sp>
        <p:nvSpPr>
          <p:cNvPr id="187" name="Google Shape;187;p20"/>
          <p:cNvSpPr txBox="1"/>
          <p:nvPr>
            <p:ph idx="1" type="body"/>
          </p:nvPr>
        </p:nvSpPr>
        <p:spPr>
          <a:xfrm>
            <a:off x="457200" y="1298448"/>
            <a:ext cx="580644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620"/>
              <a:buChar char="❖"/>
            </a:pPr>
            <a:r>
              <a:rPr b="1" lang="vi-VN" sz="1800"/>
              <a:t>II.1 Tổng quan</a:t>
            </a:r>
            <a:endParaRPr b="1" sz="1800"/>
          </a:p>
          <a:p>
            <a:pPr indent="-220663" lvl="1" marL="682625" rtl="0" algn="just">
              <a:lnSpc>
                <a:spcPct val="120000"/>
              </a:lnSpc>
              <a:spcBef>
                <a:spcPts val="800"/>
              </a:spcBef>
              <a:spcAft>
                <a:spcPts val="0"/>
              </a:spcAft>
              <a:buSzPts val="1600"/>
              <a:buChar char="▪"/>
            </a:pPr>
            <a:r>
              <a:rPr b="0" lang="vi-VN" sz="1600"/>
              <a:t>Lý thuyết cơ bản: sóng khối P (nén) và S (cắt); sóng mặt Rayleigh, Love</a:t>
            </a:r>
            <a:endParaRPr/>
          </a:p>
          <a:p>
            <a:pPr indent="-220663" lvl="1" marL="682625" rtl="0" algn="just">
              <a:lnSpc>
                <a:spcPct val="120000"/>
              </a:lnSpc>
              <a:spcBef>
                <a:spcPts val="400"/>
              </a:spcBef>
              <a:spcAft>
                <a:spcPts val="0"/>
              </a:spcAft>
              <a:buSzPts val="1600"/>
              <a:buChar char="▪"/>
            </a:pPr>
            <a:r>
              <a:rPr b="0" lang="vi-VN" sz="1600"/>
              <a:t>Nguồn năng lượng: búa đập (weight drop), thuốc nổ (dynamite), súng hơi (airgun) ngoài biển, rung địa chấn (vibroseis)</a:t>
            </a:r>
            <a:endParaRPr/>
          </a:p>
          <a:p>
            <a:pPr indent="-220663" lvl="1" marL="682625" rtl="0" algn="just">
              <a:lnSpc>
                <a:spcPct val="120000"/>
              </a:lnSpc>
              <a:spcBef>
                <a:spcPts val="400"/>
              </a:spcBef>
              <a:spcAft>
                <a:spcPts val="0"/>
              </a:spcAft>
              <a:buSzPts val="1600"/>
              <a:buChar char="▪"/>
            </a:pPr>
            <a:r>
              <a:rPr b="0" lang="vi-VN" sz="1600"/>
              <a:t>Thiết bị: geophone / hydrophone, seismograph nhiều kênh, hệ thống định vị GPS</a:t>
            </a:r>
            <a:endParaRPr/>
          </a:p>
          <a:p>
            <a:pPr indent="-347663" lvl="0" marL="347663" rtl="0" algn="l">
              <a:lnSpc>
                <a:spcPct val="120000"/>
              </a:lnSpc>
              <a:spcBef>
                <a:spcPts val="400"/>
              </a:spcBef>
              <a:spcAft>
                <a:spcPts val="0"/>
              </a:spcAft>
              <a:buSzPts val="1620"/>
              <a:buChar char="❖"/>
            </a:pPr>
            <a:r>
              <a:rPr b="1" lang="vi-VN" sz="1800"/>
              <a:t>So sánh khúc xạ và phản xạ:</a:t>
            </a:r>
            <a:endParaRPr/>
          </a:p>
          <a:p>
            <a:pPr indent="-220663" lvl="1" marL="682625" rtl="0" algn="just">
              <a:lnSpc>
                <a:spcPct val="120000"/>
              </a:lnSpc>
              <a:spcBef>
                <a:spcPts val="800"/>
              </a:spcBef>
              <a:spcAft>
                <a:spcPts val="0"/>
              </a:spcAft>
              <a:buSzPts val="1600"/>
              <a:buChar char="▪"/>
            </a:pPr>
            <a:r>
              <a:rPr b="0" lang="vi-VN" sz="1600"/>
              <a:t>Khúc xạ (refraction): ghi sóng lan truyền dọc ranh giới lớp có vận tốc cao hơn — phù hợp khảo sát nông, xác định độ sâu đá gốc</a:t>
            </a:r>
            <a:endParaRPr b="0" sz="1600"/>
          </a:p>
          <a:p>
            <a:pPr indent="-220663" lvl="1" marL="682625" rtl="0" algn="just">
              <a:lnSpc>
                <a:spcPct val="120000"/>
              </a:lnSpc>
              <a:spcBef>
                <a:spcPts val="400"/>
              </a:spcBef>
              <a:spcAft>
                <a:spcPts val="0"/>
              </a:spcAft>
              <a:buSzPts val="1600"/>
              <a:buChar char="▪"/>
            </a:pPr>
            <a:r>
              <a:rPr b="0" lang="vi-VN" sz="1600"/>
              <a:t>Phản xạ (reflection): ghi sóng phản xạ tại ranh giới trở kháng âm học — phù hợp khảo sát sâu, độ phân giải cao (dầu khí)</a:t>
            </a:r>
            <a:endParaRPr/>
          </a:p>
        </p:txBody>
      </p:sp>
      <p:pic>
        <p:nvPicPr>
          <p:cNvPr descr="01_seismic_rays.png" id="188" name="Google Shape;188;p20"/>
          <p:cNvPicPr preferRelativeResize="0"/>
          <p:nvPr/>
        </p:nvPicPr>
        <p:blipFill rotWithShape="1">
          <a:blip r:embed="rId3">
            <a:alphaModFix/>
          </a:blip>
          <a:srcRect b="0" l="0" r="0" t="0"/>
          <a:stretch/>
        </p:blipFill>
        <p:spPr>
          <a:xfrm>
            <a:off x="6299955" y="2058638"/>
            <a:ext cx="5892045" cy="2990634"/>
          </a:xfrm>
          <a:prstGeom prst="rect">
            <a:avLst/>
          </a:prstGeom>
          <a:noFill/>
          <a:ln>
            <a:noFill/>
          </a:ln>
        </p:spPr>
      </p:pic>
      <p:sp>
        <p:nvSpPr>
          <p:cNvPr id="189" name="Google Shape;189;p20"/>
          <p:cNvSpPr txBox="1"/>
          <p:nvPr/>
        </p:nvSpPr>
        <p:spPr>
          <a:xfrm>
            <a:off x="6537960" y="5228125"/>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00">
                <a:solidFill>
                  <a:srgbClr val="002060"/>
                </a:solidFill>
                <a:latin typeface="Arial"/>
                <a:ea typeface="Arial"/>
                <a:cs typeface="Arial"/>
                <a:sym typeface="Arial"/>
              </a:rPr>
              <a:t>Hình 2.1 Đường truyền sóng trực tiếp, phản xạ và khúc xạ tới hạn</a:t>
            </a:r>
            <a:endParaRPr i="0" sz="1200">
              <a:solidFill>
                <a:srgbClr val="002060"/>
              </a:solidFill>
              <a:latin typeface="Arial"/>
              <a:ea typeface="Arial"/>
              <a:cs typeface="Arial"/>
              <a:sym typeface="Arial"/>
            </a:endParaRPr>
          </a:p>
        </p:txBody>
      </p:sp>
      <p:sp>
        <p:nvSpPr>
          <p:cNvPr id="190" name="Google Shape;190;p20"/>
          <p:cNvSpPr txBox="1"/>
          <p:nvPr/>
        </p:nvSpPr>
        <p:spPr>
          <a:xfrm>
            <a:off x="6568440" y="5949274"/>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vi-VN" sz="1050">
                <a:solidFill>
                  <a:srgbClr val="002060"/>
                </a:solidFill>
                <a:latin typeface="Arial"/>
                <a:ea typeface="Arial"/>
                <a:cs typeface="Arial"/>
                <a:sym typeface="Arial"/>
              </a:rPr>
              <a:t>Nguồn: sơ đồ minh họa nguyên lý, biên soạn theo Telford et al. (1976); Burger et al. (2004)</a:t>
            </a:r>
            <a:endParaRPr/>
          </a:p>
        </p:txBody>
      </p:sp>
      <p:sp>
        <p:nvSpPr>
          <p:cNvPr id="191" name="Google Shape;191;p20"/>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1"/>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000"/>
              <a:t>II.2 ĐỊA CHẤN KHÚC XẠ (SEISMIC REFRACTION)</a:t>
            </a:r>
            <a:endParaRPr/>
          </a:p>
        </p:txBody>
      </p:sp>
      <p:sp>
        <p:nvSpPr>
          <p:cNvPr id="198" name="Google Shape;198;p21"/>
          <p:cNvSpPr txBox="1"/>
          <p:nvPr>
            <p:ph idx="1" type="body"/>
          </p:nvPr>
        </p:nvSpPr>
        <p:spPr>
          <a:xfrm>
            <a:off x="457200" y="1298448"/>
            <a:ext cx="580644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620"/>
              <a:buChar char="❖"/>
            </a:pPr>
            <a:r>
              <a:rPr b="0" lang="vi-VN" sz="1800"/>
              <a:t>Sự lan truyền của sóng khúc xạ trong các mô hình địa chất khác nhau (lớp phẳng, nghiêng, có đứt gãy)</a:t>
            </a:r>
            <a:endParaRPr/>
          </a:p>
          <a:p>
            <a:pPr indent="-347663" lvl="0" marL="347663" rtl="0" algn="l">
              <a:lnSpc>
                <a:spcPct val="120000"/>
              </a:lnSpc>
              <a:spcBef>
                <a:spcPts val="800"/>
              </a:spcBef>
              <a:spcAft>
                <a:spcPts val="0"/>
              </a:spcAft>
              <a:buSzPts val="1620"/>
              <a:buChar char="❖"/>
            </a:pPr>
            <a:r>
              <a:rPr b="0" lang="vi-VN" sz="1800"/>
              <a:t>Phương pháp thời gian trễ (delay-time method) và các phương pháp khác (reciprocal, GRM – Generalized Reciprocal Method)</a:t>
            </a:r>
            <a:endParaRPr/>
          </a:p>
          <a:p>
            <a:pPr indent="-347663" lvl="0" marL="347663" rtl="0" algn="l">
              <a:lnSpc>
                <a:spcPct val="120000"/>
              </a:lnSpc>
              <a:spcBef>
                <a:spcPts val="800"/>
              </a:spcBef>
              <a:spcAft>
                <a:spcPts val="0"/>
              </a:spcAft>
              <a:buSzPts val="1620"/>
              <a:buChar char="❖"/>
            </a:pPr>
            <a:r>
              <a:rPr b="0" lang="vi-VN" sz="1800"/>
              <a:t>Quy trình đo thực địa: bố trí tuyến đo, khoảng cách nguồn – thu, nổ thuận – nổ nghịch (forward/reverse shooting)</a:t>
            </a:r>
            <a:endParaRPr/>
          </a:p>
          <a:p>
            <a:pPr indent="-347663" lvl="0" marL="347663" rtl="0" algn="l">
              <a:lnSpc>
                <a:spcPct val="120000"/>
              </a:lnSpc>
              <a:spcBef>
                <a:spcPts val="800"/>
              </a:spcBef>
              <a:spcAft>
                <a:spcPts val="0"/>
              </a:spcAft>
              <a:buSzPts val="1620"/>
              <a:buChar char="❖"/>
            </a:pPr>
            <a:r>
              <a:rPr b="0" lang="vi-VN" sz="1800"/>
              <a:t>Xác định vận tốc lớp (V1, V2) và độ sâu ranh giới từ khoảng cách giao (crossover distance) và thời gian chặn (intercept time)</a:t>
            </a:r>
            <a:endParaRPr/>
          </a:p>
          <a:p>
            <a:pPr indent="-347663" lvl="0" marL="347663" rtl="0" algn="l">
              <a:lnSpc>
                <a:spcPct val="120000"/>
              </a:lnSpc>
              <a:spcBef>
                <a:spcPts val="800"/>
              </a:spcBef>
              <a:spcAft>
                <a:spcPts val="0"/>
              </a:spcAft>
              <a:buSzPts val="1620"/>
              <a:buChar char="❖"/>
            </a:pPr>
            <a:r>
              <a:rPr b="0" lang="vi-VN" sz="1800"/>
              <a:t>Ứng dụng thực tiễn: khảo sát nền móng công trình, xác định độ sâu đá gốc, tìm mực nước ngầm nông</a:t>
            </a:r>
            <a:endParaRPr b="0" sz="1800"/>
          </a:p>
        </p:txBody>
      </p:sp>
      <p:pic>
        <p:nvPicPr>
          <p:cNvPr descr="02_traveltime_curve.png" id="199" name="Google Shape;199;p21"/>
          <p:cNvPicPr preferRelativeResize="0"/>
          <p:nvPr/>
        </p:nvPicPr>
        <p:blipFill rotWithShape="1">
          <a:blip r:embed="rId3">
            <a:alphaModFix/>
          </a:blip>
          <a:srcRect b="0" l="0" r="0" t="0"/>
          <a:stretch/>
        </p:blipFill>
        <p:spPr>
          <a:xfrm>
            <a:off x="6537960" y="1748271"/>
            <a:ext cx="5166360" cy="3626632"/>
          </a:xfrm>
          <a:prstGeom prst="rect">
            <a:avLst/>
          </a:prstGeom>
          <a:noFill/>
          <a:ln>
            <a:noFill/>
          </a:ln>
        </p:spPr>
      </p:pic>
      <p:sp>
        <p:nvSpPr>
          <p:cNvPr id="200" name="Google Shape;200;p21"/>
          <p:cNvSpPr txBox="1"/>
          <p:nvPr/>
        </p:nvSpPr>
        <p:spPr>
          <a:xfrm>
            <a:off x="6537960" y="5429768"/>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00">
                <a:solidFill>
                  <a:srgbClr val="002060"/>
                </a:solidFill>
                <a:latin typeface="Arial"/>
                <a:ea typeface="Arial"/>
                <a:cs typeface="Arial"/>
                <a:sym typeface="Arial"/>
              </a:rPr>
              <a:t>Hình 2.2 Đồ thị thời gian truyền sóng (travel-time curve) — phương pháp thời gian trễ</a:t>
            </a:r>
            <a:endParaRPr/>
          </a:p>
        </p:txBody>
      </p:sp>
      <p:sp>
        <p:nvSpPr>
          <p:cNvPr id="201" name="Google Shape;201;p21"/>
          <p:cNvSpPr txBox="1"/>
          <p:nvPr/>
        </p:nvSpPr>
        <p:spPr>
          <a:xfrm>
            <a:off x="6537960" y="5813816"/>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vi-VN" sz="1050">
                <a:solidFill>
                  <a:srgbClr val="002060"/>
                </a:solidFill>
                <a:latin typeface="Arial"/>
                <a:ea typeface="Arial"/>
                <a:cs typeface="Arial"/>
                <a:sym typeface="Arial"/>
              </a:rPr>
              <a:t>Nguồn: sơ đồ minh họa nguyên lý, biên soạn theo Telford et al. (1976); Burger et al. (2004)</a:t>
            </a:r>
            <a:endParaRPr/>
          </a:p>
        </p:txBody>
      </p:sp>
      <p:sp>
        <p:nvSpPr>
          <p:cNvPr id="202" name="Google Shape;202;p21"/>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000"/>
              <a:t>II.3 ĐỊA CHẤN PHẢN XẠ &amp; ĐỊA CHẤN 3D</a:t>
            </a:r>
            <a:endParaRPr/>
          </a:p>
        </p:txBody>
      </p:sp>
      <p:sp>
        <p:nvSpPr>
          <p:cNvPr id="209" name="Google Shape;209;p22"/>
          <p:cNvSpPr txBox="1"/>
          <p:nvPr>
            <p:ph idx="1" type="body"/>
          </p:nvPr>
        </p:nvSpPr>
        <p:spPr>
          <a:xfrm>
            <a:off x="457200" y="1298448"/>
            <a:ext cx="580644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620"/>
              <a:buChar char="❖"/>
            </a:pPr>
            <a:r>
              <a:rPr b="0" lang="vi-VN" sz="1800"/>
              <a:t>Sự lan truyền của sóng phản xạ trong các mô hình địa chất khác nhau — hệ số phản xạ phụ thuộc trở kháng âm học (acoustic impedance)</a:t>
            </a:r>
            <a:endParaRPr/>
          </a:p>
          <a:p>
            <a:pPr indent="-347663" lvl="0" marL="347663" rtl="0" algn="l">
              <a:lnSpc>
                <a:spcPct val="120000"/>
              </a:lnSpc>
              <a:spcBef>
                <a:spcPts val="800"/>
              </a:spcBef>
              <a:spcAft>
                <a:spcPts val="0"/>
              </a:spcAft>
              <a:buSzPts val="1620"/>
              <a:buChar char="❖"/>
            </a:pPr>
            <a:r>
              <a:rPr b="0" lang="vi-VN" sz="1800"/>
              <a:t>Quy trình đo thực địa thông thường: bố trí CMP (common midpoint), nổ nhiều kênh, phủ chồng (fold coverage)</a:t>
            </a:r>
            <a:endParaRPr/>
          </a:p>
          <a:p>
            <a:pPr indent="-347663" lvl="0" marL="347663" rtl="0" algn="l">
              <a:lnSpc>
                <a:spcPct val="120000"/>
              </a:lnSpc>
              <a:spcBef>
                <a:spcPts val="800"/>
              </a:spcBef>
              <a:spcAft>
                <a:spcPts val="0"/>
              </a:spcAft>
              <a:buSzPts val="1620"/>
              <a:buChar char="❖"/>
            </a:pPr>
            <a:r>
              <a:rPr b="0" lang="vi-VN" sz="1800"/>
              <a:t>Xử lý dữ liệu phản xạ: lọc nhiễu, hiệu chỉnh tĩnh (statics), NMO, cộng chồng (stacking), dịch chuyển (migration)</a:t>
            </a:r>
            <a:endParaRPr/>
          </a:p>
          <a:p>
            <a:pPr indent="-347663" lvl="0" marL="347663" rtl="0" algn="l">
              <a:lnSpc>
                <a:spcPct val="120000"/>
              </a:lnSpc>
              <a:spcBef>
                <a:spcPts val="800"/>
              </a:spcBef>
              <a:spcAft>
                <a:spcPts val="0"/>
              </a:spcAft>
              <a:buSzPts val="1620"/>
              <a:buChar char="❖"/>
            </a:pPr>
            <a:r>
              <a:rPr b="0" lang="vi-VN" sz="1800"/>
              <a:t>Địa chấn 3D: khảo sát khối dữ liệu không gian 3 chiều, cho phép trực quan hóa cấu trúc, minh giải đứt gãy và bẫy dầu khí chính xác hơn</a:t>
            </a:r>
            <a:endParaRPr b="0" sz="1800"/>
          </a:p>
          <a:p>
            <a:pPr indent="-347663" lvl="0" marL="347663" rtl="0" algn="l">
              <a:lnSpc>
                <a:spcPct val="120000"/>
              </a:lnSpc>
              <a:spcBef>
                <a:spcPts val="800"/>
              </a:spcBef>
              <a:spcAft>
                <a:spcPts val="0"/>
              </a:spcAft>
              <a:buSzPts val="1620"/>
              <a:buChar char="❖"/>
            </a:pPr>
            <a:r>
              <a:rPr b="0" lang="vi-VN" sz="1800"/>
              <a:t>Ứng dụng thực tiễn: thăm dò và phát triển mỏ dầu khí, nghiên cứu cấu trúc kiến tạo khu vực</a:t>
            </a:r>
            <a:endParaRPr b="0" sz="1800"/>
          </a:p>
        </p:txBody>
      </p:sp>
      <p:pic>
        <p:nvPicPr>
          <p:cNvPr descr="03_reflection_3d.png" id="210" name="Google Shape;210;p22"/>
          <p:cNvPicPr preferRelativeResize="0"/>
          <p:nvPr/>
        </p:nvPicPr>
        <p:blipFill rotWithShape="1">
          <a:blip r:embed="rId3">
            <a:alphaModFix/>
          </a:blip>
          <a:srcRect b="0" l="0" r="0" t="0"/>
          <a:stretch/>
        </p:blipFill>
        <p:spPr>
          <a:xfrm>
            <a:off x="6537960" y="2199732"/>
            <a:ext cx="5166360" cy="2723711"/>
          </a:xfrm>
          <a:prstGeom prst="rect">
            <a:avLst/>
          </a:prstGeom>
          <a:noFill/>
          <a:ln>
            <a:noFill/>
          </a:ln>
        </p:spPr>
      </p:pic>
      <p:sp>
        <p:nvSpPr>
          <p:cNvPr id="211" name="Google Shape;211;p22"/>
          <p:cNvSpPr txBox="1"/>
          <p:nvPr/>
        </p:nvSpPr>
        <p:spPr>
          <a:xfrm>
            <a:off x="6537960" y="4978307"/>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00">
                <a:solidFill>
                  <a:srgbClr val="002060"/>
                </a:solidFill>
                <a:latin typeface="Arial"/>
                <a:ea typeface="Arial"/>
                <a:cs typeface="Arial"/>
                <a:sym typeface="Arial"/>
              </a:rPr>
              <a:t>Hình 2.3 Mặt cắt địa chấn phản xạ 2D và khối dữ liệu địa chấn 3D</a:t>
            </a:r>
            <a:endParaRPr/>
          </a:p>
        </p:txBody>
      </p:sp>
      <p:sp>
        <p:nvSpPr>
          <p:cNvPr id="212" name="Google Shape;212;p22"/>
          <p:cNvSpPr txBox="1"/>
          <p:nvPr/>
        </p:nvSpPr>
        <p:spPr>
          <a:xfrm>
            <a:off x="6537960" y="5362355"/>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vi-VN" sz="1050">
                <a:solidFill>
                  <a:srgbClr val="002060"/>
                </a:solidFill>
                <a:latin typeface="Arial"/>
                <a:ea typeface="Arial"/>
                <a:cs typeface="Arial"/>
                <a:sym typeface="Arial"/>
              </a:rPr>
              <a:t>Nguồn: sơ đồ minh họa nguyên lý, biên soạn theo Liner (2004); Burger et al. (2004)</a:t>
            </a:r>
            <a:endParaRPr/>
          </a:p>
        </p:txBody>
      </p:sp>
      <p:sp>
        <p:nvSpPr>
          <p:cNvPr id="213" name="Google Shape;213;p22"/>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3"/>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2600"/>
              <a:t>CHƯƠNG III: CÁC PHƯƠNG PHÁP ĐIỆN (ELECTRIC METHODS) — III.1</a:t>
            </a:r>
            <a:endParaRPr/>
          </a:p>
        </p:txBody>
      </p:sp>
      <p:sp>
        <p:nvSpPr>
          <p:cNvPr id="220" name="Google Shape;220;p23"/>
          <p:cNvSpPr txBox="1"/>
          <p:nvPr>
            <p:ph idx="1" type="body"/>
          </p:nvPr>
        </p:nvSpPr>
        <p:spPr>
          <a:xfrm>
            <a:off x="594360" y="1298448"/>
            <a:ext cx="1097280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2520"/>
              <a:buChar char="❖"/>
            </a:pPr>
            <a:r>
              <a:rPr b="1" lang="vi-VN"/>
              <a:t>Dòng điện trong môi trường đồng nhất và môi trường phân lớp</a:t>
            </a:r>
            <a:endParaRPr b="1"/>
          </a:p>
          <a:p>
            <a:pPr indent="-220663" lvl="1" marL="682625" rtl="0" algn="just">
              <a:lnSpc>
                <a:spcPct val="120000"/>
              </a:lnSpc>
              <a:spcBef>
                <a:spcPts val="800"/>
              </a:spcBef>
              <a:spcAft>
                <a:spcPts val="0"/>
              </a:spcAft>
              <a:buSzPts val="2400"/>
              <a:buChar char="▪"/>
            </a:pPr>
            <a:r>
              <a:rPr b="0" lang="vi-VN"/>
              <a:t>Định luật Ohm áp dụng cho môi trường đất đá: J = σE (mật độ dòng tỉ lệ độ dẫn điện và điện trường)</a:t>
            </a:r>
            <a:endParaRPr/>
          </a:p>
          <a:p>
            <a:pPr indent="-220663" lvl="1" marL="682625" rtl="0" algn="just">
              <a:lnSpc>
                <a:spcPct val="120000"/>
              </a:lnSpc>
              <a:spcBef>
                <a:spcPts val="400"/>
              </a:spcBef>
              <a:spcAft>
                <a:spcPts val="0"/>
              </a:spcAft>
              <a:buSzPts val="2400"/>
              <a:buChar char="▪"/>
            </a:pPr>
            <a:r>
              <a:rPr b="0" lang="vi-VN"/>
              <a:t>Điện trở suất biểu kiến (apparent resistivity, ρa): giá trị đo được phản ánh tổ hợp điện trở suất của nhiều lớp đất đá bên dưới điện cực</a:t>
            </a:r>
            <a:endParaRPr b="0"/>
          </a:p>
          <a:p>
            <a:pPr indent="-220663" lvl="1" marL="682625" rtl="0" algn="just">
              <a:lnSpc>
                <a:spcPct val="120000"/>
              </a:lnSpc>
              <a:spcBef>
                <a:spcPts val="400"/>
              </a:spcBef>
              <a:spcAft>
                <a:spcPts val="0"/>
              </a:spcAft>
              <a:buSzPts val="2400"/>
              <a:buChar char="▪"/>
            </a:pPr>
            <a:r>
              <a:rPr b="0" lang="vi-VN"/>
              <a:t>Trong môi trường phân lớp, đường dòng điện bị khúc xạ tại ranh giới các lớp có điện trở suất khác nhau — tương tự khúc xạ ánh sáng</a:t>
            </a:r>
            <a:endParaRPr b="0"/>
          </a:p>
          <a:p>
            <a:pPr indent="-220663" lvl="1" marL="682625" rtl="0" algn="just">
              <a:lnSpc>
                <a:spcPct val="120000"/>
              </a:lnSpc>
              <a:spcBef>
                <a:spcPts val="400"/>
              </a:spcBef>
              <a:spcAft>
                <a:spcPts val="0"/>
              </a:spcAft>
              <a:buSzPts val="2400"/>
              <a:buChar char="▪"/>
            </a:pPr>
            <a:r>
              <a:rPr b="0" lang="vi-VN"/>
              <a:t>Các yếu tố ảnh hưởng: độ ẩm, độ khoáng hóa nước lỗ rỗng, độ rỗng, nhiệt độ, thành phần khoáng vật sét</a:t>
            </a:r>
            <a:endParaRPr b="0"/>
          </a:p>
        </p:txBody>
      </p:sp>
      <p:sp>
        <p:nvSpPr>
          <p:cNvPr id="221" name="Google Shape;221;p23"/>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2600"/>
              <a:t>III.2 ĐO SÂU ĐIỆN, MẶT CẮT ĐIỆN &amp; QUÉT ẢNH ĐIỆN</a:t>
            </a:r>
            <a:endParaRPr/>
          </a:p>
        </p:txBody>
      </p:sp>
      <p:sp>
        <p:nvSpPr>
          <p:cNvPr id="228" name="Google Shape;228;p24"/>
          <p:cNvSpPr txBox="1"/>
          <p:nvPr>
            <p:ph idx="1" type="body"/>
          </p:nvPr>
        </p:nvSpPr>
        <p:spPr>
          <a:xfrm>
            <a:off x="457200" y="1298448"/>
            <a:ext cx="580644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620"/>
              <a:buChar char="❖"/>
            </a:pPr>
            <a:r>
              <a:rPr b="0" lang="vi-VN" sz="1800"/>
              <a:t>Đo sâu điện thẳng đứng (VES – Vertical Electric Sounding): tăng dần khoảng cách điện cực AB để khảo sát theo chiều sâu tại 1 điểm</a:t>
            </a:r>
            <a:endParaRPr b="0" sz="1800"/>
          </a:p>
          <a:p>
            <a:pPr indent="-347663" lvl="0" marL="347663" rtl="0" algn="l">
              <a:lnSpc>
                <a:spcPct val="120000"/>
              </a:lnSpc>
              <a:spcBef>
                <a:spcPts val="800"/>
              </a:spcBef>
              <a:spcAft>
                <a:spcPts val="0"/>
              </a:spcAft>
              <a:buSzPts val="1620"/>
              <a:buChar char="❖"/>
            </a:pPr>
            <a:r>
              <a:rPr b="0" lang="vi-VN" sz="1800"/>
              <a:t>Mặt cắt điện (EP – Electric Profiling): giữ khoảng cách điện cực cố định, di chuyển dọc tuyến để khảo sát biến đổi ngang</a:t>
            </a:r>
            <a:endParaRPr b="0" sz="1800"/>
          </a:p>
          <a:p>
            <a:pPr indent="-347663" lvl="0" marL="347663" rtl="0" algn="l">
              <a:lnSpc>
                <a:spcPct val="120000"/>
              </a:lnSpc>
              <a:spcBef>
                <a:spcPts val="800"/>
              </a:spcBef>
              <a:spcAft>
                <a:spcPts val="0"/>
              </a:spcAft>
              <a:buSzPts val="1620"/>
              <a:buChar char="❖"/>
            </a:pPr>
            <a:r>
              <a:rPr b="0" lang="vi-VN" sz="1800"/>
              <a:t>Ảnh điện (EI – Electric Imaging/ERT): kết hợp VES + EP với nhiều điện cực đa kênh, cho ảnh 2D/3D điện trở suất độ phân giải cao</a:t>
            </a:r>
            <a:endParaRPr b="0" sz="1800"/>
          </a:p>
          <a:p>
            <a:pPr indent="-347663" lvl="0" marL="347663" rtl="0" algn="l">
              <a:lnSpc>
                <a:spcPct val="120000"/>
              </a:lnSpc>
              <a:spcBef>
                <a:spcPts val="800"/>
              </a:spcBef>
              <a:spcAft>
                <a:spcPts val="0"/>
              </a:spcAft>
              <a:buSzPts val="1620"/>
              <a:buChar char="❖"/>
            </a:pPr>
            <a:r>
              <a:rPr b="0" lang="vi-VN" sz="1800"/>
              <a:t>Các dạng bố trí điện cực (array): Wenner, Schlumberger, dipole-dipole — mỗi dạng có độ nhạy và độ phân giải khác nhau</a:t>
            </a:r>
            <a:endParaRPr b="0" sz="1800"/>
          </a:p>
        </p:txBody>
      </p:sp>
      <p:pic>
        <p:nvPicPr>
          <p:cNvPr descr="04_resistivity_array.png" id="229" name="Google Shape;229;p24"/>
          <p:cNvPicPr preferRelativeResize="0"/>
          <p:nvPr/>
        </p:nvPicPr>
        <p:blipFill rotWithShape="1">
          <a:blip r:embed="rId3">
            <a:alphaModFix/>
          </a:blip>
          <a:srcRect b="0" l="0" r="0" t="0"/>
          <a:stretch/>
        </p:blipFill>
        <p:spPr>
          <a:xfrm>
            <a:off x="6537960" y="1783810"/>
            <a:ext cx="5166360" cy="3555555"/>
          </a:xfrm>
          <a:prstGeom prst="rect">
            <a:avLst/>
          </a:prstGeom>
          <a:noFill/>
          <a:ln>
            <a:noFill/>
          </a:ln>
        </p:spPr>
      </p:pic>
      <p:sp>
        <p:nvSpPr>
          <p:cNvPr id="230" name="Google Shape;230;p24"/>
          <p:cNvSpPr txBox="1"/>
          <p:nvPr/>
        </p:nvSpPr>
        <p:spPr>
          <a:xfrm>
            <a:off x="6537960" y="5394229"/>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00">
                <a:solidFill>
                  <a:srgbClr val="002060"/>
                </a:solidFill>
                <a:latin typeface="Arial"/>
                <a:ea typeface="Arial"/>
                <a:cs typeface="Arial"/>
                <a:sym typeface="Arial"/>
              </a:rPr>
              <a:t>Hình 3.1 Bố trí điện cực kiểu Wenner (A, B: điện cực dòng — M, N: điện cực đo thế)</a:t>
            </a:r>
            <a:endParaRPr/>
          </a:p>
        </p:txBody>
      </p:sp>
      <p:sp>
        <p:nvSpPr>
          <p:cNvPr id="231" name="Google Shape;231;p24"/>
          <p:cNvSpPr txBox="1"/>
          <p:nvPr/>
        </p:nvSpPr>
        <p:spPr>
          <a:xfrm>
            <a:off x="6537960" y="5778277"/>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vi-VN" sz="1050">
                <a:solidFill>
                  <a:srgbClr val="002060"/>
                </a:solidFill>
                <a:latin typeface="Arial"/>
                <a:ea typeface="Arial"/>
                <a:cs typeface="Arial"/>
                <a:sym typeface="Arial"/>
              </a:rPr>
              <a:t>Nguồn: sơ đồ minh họa nguyên lý, biên soạn theo Telford et al. (1976)</a:t>
            </a:r>
            <a:endParaRPr/>
          </a:p>
        </p:txBody>
      </p:sp>
      <p:sp>
        <p:nvSpPr>
          <p:cNvPr id="232" name="Google Shape;232;p24"/>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5"/>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000"/>
              <a:t>III.2 PHÂN TÍCH THUẬN – NGHỊCH ĐIỆN TRỞ SUẤT</a:t>
            </a:r>
            <a:endParaRPr/>
          </a:p>
        </p:txBody>
      </p:sp>
      <p:sp>
        <p:nvSpPr>
          <p:cNvPr id="238" name="Google Shape;238;p25"/>
          <p:cNvSpPr txBox="1"/>
          <p:nvPr>
            <p:ph idx="1" type="body"/>
          </p:nvPr>
        </p:nvSpPr>
        <p:spPr>
          <a:xfrm>
            <a:off x="379142" y="1114230"/>
            <a:ext cx="580644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800"/>
              <a:buChar char="❖"/>
            </a:pPr>
            <a:r>
              <a:rPr b="0" lang="vi-VN" sz="2000"/>
              <a:t>Đường cong đo sâu điện (VES sounding curve) biểu diễn ρa theo khoảng cách AB/2, phản ánh số lớp và điện trở suất từng lớp</a:t>
            </a:r>
            <a:endParaRPr b="0" sz="2000"/>
          </a:p>
          <a:p>
            <a:pPr indent="-347663" lvl="0" marL="347663" rtl="0" algn="l">
              <a:lnSpc>
                <a:spcPct val="120000"/>
              </a:lnSpc>
              <a:spcBef>
                <a:spcPts val="800"/>
              </a:spcBef>
              <a:spcAft>
                <a:spcPts val="0"/>
              </a:spcAft>
              <a:buSzPts val="1800"/>
              <a:buChar char="❖"/>
            </a:pPr>
            <a:r>
              <a:rPr b="0" lang="vi-VN" sz="2000"/>
              <a:t>Phân tích thuận (forward modeling): giả định mô hình nhiều lớp, tính ρa lý thuyết để so sánh với số liệu đo</a:t>
            </a:r>
            <a:endParaRPr b="0" sz="2000"/>
          </a:p>
          <a:p>
            <a:pPr indent="-347663" lvl="0" marL="347663" rtl="0" algn="l">
              <a:lnSpc>
                <a:spcPct val="120000"/>
              </a:lnSpc>
              <a:spcBef>
                <a:spcPts val="800"/>
              </a:spcBef>
              <a:spcAft>
                <a:spcPts val="0"/>
              </a:spcAft>
              <a:buSzPts val="1800"/>
              <a:buChar char="❖"/>
            </a:pPr>
            <a:r>
              <a:rPr b="0" lang="vi-VN" sz="2000"/>
              <a:t>Phân tích nghịch (inverse modeling): từ số liệu đo thực địa, giải bài toán ngược để xác định số lớp, bề dày và điện trở suất thực (true resistivity) của từng lớp</a:t>
            </a:r>
            <a:endParaRPr b="0" sz="2000"/>
          </a:p>
          <a:p>
            <a:pPr indent="-347663" lvl="0" marL="347663" rtl="0" algn="l">
              <a:lnSpc>
                <a:spcPct val="120000"/>
              </a:lnSpc>
              <a:spcBef>
                <a:spcPts val="800"/>
              </a:spcBef>
              <a:spcAft>
                <a:spcPts val="0"/>
              </a:spcAft>
              <a:buSzPts val="1800"/>
              <a:buChar char="❖"/>
            </a:pPr>
            <a:r>
              <a:rPr b="0" lang="vi-VN" sz="2000"/>
              <a:t>Kết quả minh giải phục vụ: tìm tầng chứa nước ngầm, đánh giá độ mặn xâm nhập, khảo sát nền móng, dò tìm khoáng sản</a:t>
            </a:r>
            <a:endParaRPr b="0" sz="2000"/>
          </a:p>
        </p:txBody>
      </p:sp>
      <p:pic>
        <p:nvPicPr>
          <p:cNvPr descr="05_ves_curve.png" id="239" name="Google Shape;239;p25"/>
          <p:cNvPicPr preferRelativeResize="0"/>
          <p:nvPr/>
        </p:nvPicPr>
        <p:blipFill rotWithShape="1">
          <a:blip r:embed="rId3">
            <a:alphaModFix/>
          </a:blip>
          <a:srcRect b="0" l="0" r="0" t="0"/>
          <a:stretch/>
        </p:blipFill>
        <p:spPr>
          <a:xfrm>
            <a:off x="6537960" y="1713318"/>
            <a:ext cx="5166360" cy="3696538"/>
          </a:xfrm>
          <a:prstGeom prst="rect">
            <a:avLst/>
          </a:prstGeom>
          <a:noFill/>
          <a:ln>
            <a:noFill/>
          </a:ln>
        </p:spPr>
      </p:pic>
      <p:sp>
        <p:nvSpPr>
          <p:cNvPr id="240" name="Google Shape;240;p25"/>
          <p:cNvSpPr txBox="1"/>
          <p:nvPr/>
        </p:nvSpPr>
        <p:spPr>
          <a:xfrm>
            <a:off x="6537960" y="5464721"/>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00">
                <a:solidFill>
                  <a:srgbClr val="002060"/>
                </a:solidFill>
                <a:latin typeface="Arial"/>
                <a:ea typeface="Arial"/>
                <a:cs typeface="Arial"/>
                <a:sym typeface="Arial"/>
              </a:rPr>
              <a:t>Hình 3.2 Đường cong đo sâu điện kiểu H (H-type sounding curve)</a:t>
            </a:r>
            <a:endParaRPr/>
          </a:p>
        </p:txBody>
      </p:sp>
      <p:sp>
        <p:nvSpPr>
          <p:cNvPr id="241" name="Google Shape;241;p25"/>
          <p:cNvSpPr txBox="1"/>
          <p:nvPr/>
        </p:nvSpPr>
        <p:spPr>
          <a:xfrm>
            <a:off x="6537960" y="5848769"/>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vi-VN" sz="1050">
                <a:solidFill>
                  <a:srgbClr val="002060"/>
                </a:solidFill>
                <a:latin typeface="Arial"/>
                <a:ea typeface="Arial"/>
                <a:cs typeface="Arial"/>
                <a:sym typeface="Arial"/>
              </a:rPr>
              <a:t>Nguồn: sơ đồ minh họa nguyên lý, biên soạn theo Telford et al. (1976)</a:t>
            </a:r>
            <a:endParaRPr/>
          </a:p>
        </p:txBody>
      </p:sp>
      <p:sp>
        <p:nvSpPr>
          <p:cNvPr id="242" name="Google Shape;242;p25"/>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6"/>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400"/>
              <a:t>III.3 CÁC PHƯƠNG PHÁP ĐIỆN KHÁC</a:t>
            </a:r>
            <a:endParaRPr/>
          </a:p>
        </p:txBody>
      </p:sp>
      <p:sp>
        <p:nvSpPr>
          <p:cNvPr id="249" name="Google Shape;249;p26"/>
          <p:cNvSpPr txBox="1"/>
          <p:nvPr>
            <p:ph idx="1" type="body"/>
          </p:nvPr>
        </p:nvSpPr>
        <p:spPr>
          <a:xfrm>
            <a:off x="457200" y="1298448"/>
            <a:ext cx="580644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620"/>
              <a:buChar char="❖"/>
            </a:pPr>
            <a:r>
              <a:rPr b="0" lang="vi-VN" sz="1800"/>
              <a:t>Điện trường tự nhiên (SP – Self Potential): đo điện thế tự nhiên sinh ra do phản ứng oxy hóa – khử, dòng thấm; dùng dò khoáng sulfide, thân đập, rò rỉ</a:t>
            </a:r>
            <a:endParaRPr b="0" sz="1800"/>
          </a:p>
          <a:p>
            <a:pPr indent="-347663" lvl="0" marL="347663" rtl="0" algn="l">
              <a:lnSpc>
                <a:spcPct val="120000"/>
              </a:lnSpc>
              <a:spcBef>
                <a:spcPts val="800"/>
              </a:spcBef>
              <a:spcAft>
                <a:spcPts val="0"/>
              </a:spcAft>
              <a:buSzPts val="1620"/>
              <a:buChar char="❖"/>
            </a:pPr>
            <a:r>
              <a:rPr b="0" lang="vi-VN" sz="1800"/>
              <a:t>Phân cực kích thích (IP – Induced Polarization): đo độ phân rã điện áp sau khi ngắt dòng — nhạy với khoáng vật kim loại phân tán (disseminated sulfide)</a:t>
            </a:r>
            <a:endParaRPr/>
          </a:p>
          <a:p>
            <a:pPr indent="-347663" lvl="0" marL="347663" rtl="0" algn="l">
              <a:lnSpc>
                <a:spcPct val="120000"/>
              </a:lnSpc>
              <a:spcBef>
                <a:spcPts val="800"/>
              </a:spcBef>
              <a:spcAft>
                <a:spcPts val="0"/>
              </a:spcAft>
              <a:buSzPts val="1620"/>
              <a:buChar char="❖"/>
            </a:pPr>
            <a:r>
              <a:rPr b="0" lang="vi-VN" sz="1800"/>
              <a:t>Điện từ (EM – Electromagnetic): phát trường điện từ sơ cấp, đo trường thứ cấp cảm ứng trong vật thể dẫn điện — khảo sát nhanh, không cần tiếp đất điện cực</a:t>
            </a:r>
            <a:endParaRPr b="0" sz="1800"/>
          </a:p>
          <a:p>
            <a:pPr indent="-347663" lvl="0" marL="347663" rtl="0" algn="l">
              <a:lnSpc>
                <a:spcPct val="120000"/>
              </a:lnSpc>
              <a:spcBef>
                <a:spcPts val="800"/>
              </a:spcBef>
              <a:spcAft>
                <a:spcPts val="0"/>
              </a:spcAft>
              <a:buSzPts val="1620"/>
              <a:buChar char="❖"/>
            </a:pPr>
            <a:r>
              <a:rPr b="0" lang="vi-VN" sz="1800"/>
              <a:t>Điện trường tự nhiên tần số thấp — Telluric &amp; Từ-Telluric (MT – Magnetotelluric): sử dụng biến thiên tự nhiên của trường điện từ Trái Đất để khảo sát sâu (hàng km đến hàng chục km)</a:t>
            </a:r>
            <a:endParaRPr/>
          </a:p>
        </p:txBody>
      </p:sp>
      <p:pic>
        <p:nvPicPr>
          <p:cNvPr descr="06_electric_methods_grid.png" id="250" name="Google Shape;250;p26"/>
          <p:cNvPicPr preferRelativeResize="0"/>
          <p:nvPr/>
        </p:nvPicPr>
        <p:blipFill rotWithShape="1">
          <a:blip r:embed="rId3">
            <a:alphaModFix/>
          </a:blip>
          <a:srcRect b="0" l="0" r="0" t="0"/>
          <a:stretch/>
        </p:blipFill>
        <p:spPr>
          <a:xfrm>
            <a:off x="6537960" y="1765662"/>
            <a:ext cx="5166360" cy="3591850"/>
          </a:xfrm>
          <a:prstGeom prst="rect">
            <a:avLst/>
          </a:prstGeom>
          <a:noFill/>
          <a:ln>
            <a:noFill/>
          </a:ln>
        </p:spPr>
      </p:pic>
      <p:sp>
        <p:nvSpPr>
          <p:cNvPr id="251" name="Google Shape;251;p26"/>
          <p:cNvSpPr txBox="1"/>
          <p:nvPr/>
        </p:nvSpPr>
        <p:spPr>
          <a:xfrm>
            <a:off x="6537960" y="5412377"/>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00">
                <a:solidFill>
                  <a:srgbClr val="002060"/>
                </a:solidFill>
                <a:latin typeface="Arial"/>
                <a:ea typeface="Arial"/>
                <a:cs typeface="Arial"/>
                <a:sym typeface="Arial"/>
              </a:rPr>
              <a:t>Hình 3.3 Bốn nhóm phương pháp điện trường tự nhiên và nhân tạo: SP, IP, EM, MT</a:t>
            </a:r>
            <a:endParaRPr/>
          </a:p>
        </p:txBody>
      </p:sp>
      <p:sp>
        <p:nvSpPr>
          <p:cNvPr id="252" name="Google Shape;252;p26"/>
          <p:cNvSpPr txBox="1"/>
          <p:nvPr/>
        </p:nvSpPr>
        <p:spPr>
          <a:xfrm>
            <a:off x="6537960" y="5796425"/>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vi-VN" sz="1050">
                <a:solidFill>
                  <a:srgbClr val="002060"/>
                </a:solidFill>
                <a:latin typeface="Arial"/>
                <a:ea typeface="Arial"/>
                <a:cs typeface="Arial"/>
                <a:sym typeface="Arial"/>
              </a:rPr>
              <a:t>Nguồn: sơ đồ minh họa khái niệm, biên soạn bởi người trình bày</a:t>
            </a:r>
            <a:endParaRPr/>
          </a:p>
        </p:txBody>
      </p:sp>
      <p:sp>
        <p:nvSpPr>
          <p:cNvPr id="253" name="Google Shape;253;p26"/>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7"/>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2600"/>
              <a:t>CHƯƠNG IV: PHƯƠNG PHÁP TỪ (MAGNETIC) — TÙY CHỌN</a:t>
            </a:r>
            <a:endParaRPr/>
          </a:p>
        </p:txBody>
      </p:sp>
      <p:sp>
        <p:nvSpPr>
          <p:cNvPr id="260" name="Google Shape;260;p27"/>
          <p:cNvSpPr txBox="1"/>
          <p:nvPr>
            <p:ph idx="1" type="body"/>
          </p:nvPr>
        </p:nvSpPr>
        <p:spPr>
          <a:xfrm>
            <a:off x="457200" y="1298448"/>
            <a:ext cx="580644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800"/>
              <a:buChar char="❖"/>
            </a:pPr>
            <a:r>
              <a:rPr b="0" lang="vi-VN" sz="2000"/>
              <a:t>Các thông số từ: cường độ từ trường toàn phần (total field), độ từ hóa cảm ứng và dư (induced/remanent magnetization), độ cảm từ (susceptibility)</a:t>
            </a:r>
            <a:endParaRPr/>
          </a:p>
          <a:p>
            <a:pPr indent="-347663" lvl="0" marL="347663" rtl="0" algn="l">
              <a:lnSpc>
                <a:spcPct val="120000"/>
              </a:lnSpc>
              <a:spcBef>
                <a:spcPts val="800"/>
              </a:spcBef>
              <a:spcAft>
                <a:spcPts val="0"/>
              </a:spcAft>
              <a:buSzPts val="1800"/>
              <a:buChar char="❖"/>
            </a:pPr>
            <a:r>
              <a:rPr b="0" lang="vi-VN" sz="2000"/>
              <a:t>Từ trường Trái Đất (geomagnetic field): thành phần chính từ lõi Trái Đất + nhiễu loạn cục bộ do đất đá từ tính</a:t>
            </a:r>
            <a:endParaRPr b="0" sz="2000"/>
          </a:p>
          <a:p>
            <a:pPr indent="-347663" lvl="0" marL="347663" rtl="0" algn="l">
              <a:lnSpc>
                <a:spcPct val="120000"/>
              </a:lnSpc>
              <a:spcBef>
                <a:spcPts val="800"/>
              </a:spcBef>
              <a:spcAft>
                <a:spcPts val="0"/>
              </a:spcAft>
              <a:buSzPts val="1800"/>
              <a:buChar char="❖"/>
            </a:pPr>
            <a:r>
              <a:rPr b="0" lang="vi-VN" sz="2000"/>
              <a:t>Quy trình đo thực địa: khảo sát mặt đất, trên không (aeromagnetic) hoặc bằng drone; hiệu chỉnh biến thiên ngày đêm (diurnal correction) và IGRF</a:t>
            </a:r>
            <a:endParaRPr/>
          </a:p>
        </p:txBody>
      </p:sp>
      <p:pic>
        <p:nvPicPr>
          <p:cNvPr descr="07_magnetic_survey.png" id="261" name="Google Shape;261;p27"/>
          <p:cNvPicPr preferRelativeResize="0"/>
          <p:nvPr/>
        </p:nvPicPr>
        <p:blipFill rotWithShape="1">
          <a:blip r:embed="rId3">
            <a:alphaModFix/>
          </a:blip>
          <a:srcRect b="0" l="0" r="0" t="0"/>
          <a:stretch/>
        </p:blipFill>
        <p:spPr>
          <a:xfrm>
            <a:off x="6537960" y="1837187"/>
            <a:ext cx="5166360" cy="3448801"/>
          </a:xfrm>
          <a:prstGeom prst="rect">
            <a:avLst/>
          </a:prstGeom>
          <a:noFill/>
          <a:ln>
            <a:noFill/>
          </a:ln>
        </p:spPr>
      </p:pic>
      <p:sp>
        <p:nvSpPr>
          <p:cNvPr id="262" name="Google Shape;262;p27"/>
          <p:cNvSpPr txBox="1"/>
          <p:nvPr/>
        </p:nvSpPr>
        <p:spPr>
          <a:xfrm>
            <a:off x="6537960" y="5340852"/>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00">
                <a:solidFill>
                  <a:srgbClr val="002060"/>
                </a:solidFill>
                <a:latin typeface="Arial"/>
                <a:ea typeface="Arial"/>
                <a:cs typeface="Arial"/>
                <a:sym typeface="Arial"/>
              </a:rPr>
              <a:t>Hình 4.1 Nguyên lý khảo sát từ — nhiễu loạn từ trường cục bộ do thân đá từ tính</a:t>
            </a:r>
            <a:endParaRPr/>
          </a:p>
        </p:txBody>
      </p:sp>
      <p:sp>
        <p:nvSpPr>
          <p:cNvPr id="263" name="Google Shape;263;p27"/>
          <p:cNvSpPr txBox="1"/>
          <p:nvPr/>
        </p:nvSpPr>
        <p:spPr>
          <a:xfrm>
            <a:off x="6537960" y="5724900"/>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vi-VN" sz="1050">
                <a:solidFill>
                  <a:srgbClr val="002060"/>
                </a:solidFill>
                <a:latin typeface="Arial"/>
                <a:ea typeface="Arial"/>
                <a:cs typeface="Arial"/>
                <a:sym typeface="Arial"/>
              </a:rPr>
              <a:t>Nguồn: sơ đồ minh họa nguyên lý, biên soạn theo Telford et al. (1976)</a:t>
            </a:r>
            <a:endParaRPr/>
          </a:p>
        </p:txBody>
      </p:sp>
      <p:sp>
        <p:nvSpPr>
          <p:cNvPr id="264" name="Google Shape;264;p27"/>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8"/>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2600"/>
              <a:t>IV. PHẢN ỨNG TỪ CỦA MÔ HÌNH ĐỊA CHẤT &amp; ỨNG DỤNG</a:t>
            </a:r>
            <a:endParaRPr/>
          </a:p>
        </p:txBody>
      </p:sp>
      <p:sp>
        <p:nvSpPr>
          <p:cNvPr id="271" name="Google Shape;271;p28"/>
          <p:cNvSpPr txBox="1"/>
          <p:nvPr>
            <p:ph idx="1" type="body"/>
          </p:nvPr>
        </p:nvSpPr>
        <p:spPr>
          <a:xfrm>
            <a:off x="457200" y="1298448"/>
            <a:ext cx="580644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800"/>
              <a:buChar char="❖"/>
            </a:pPr>
            <a:r>
              <a:rPr b="0" lang="vi-VN" sz="2000"/>
              <a:t>Phản ứng từ (magnetic response) phụ thuộc độ từ cảm, hình dạng, độ sâu và hướng từ hóa của vật thể</a:t>
            </a:r>
            <a:endParaRPr b="0" sz="2000"/>
          </a:p>
          <a:p>
            <a:pPr indent="-347663" lvl="0" marL="347663" rtl="0" algn="l">
              <a:lnSpc>
                <a:spcPct val="120000"/>
              </a:lnSpc>
              <a:spcBef>
                <a:spcPts val="800"/>
              </a:spcBef>
              <a:spcAft>
                <a:spcPts val="0"/>
              </a:spcAft>
              <a:buSzPts val="1800"/>
              <a:buChar char="❖"/>
            </a:pPr>
            <a:r>
              <a:rPr b="0" lang="vi-VN" sz="2000"/>
              <a:t>Minh giải dữ liệu từ: lọc trường khu vực – trường dị thường (regional-residual separation), nâng trường (upward continuation), tính đạo hàm (derivative maps)</a:t>
            </a:r>
            <a:endParaRPr/>
          </a:p>
          <a:p>
            <a:pPr indent="-347663" lvl="0" marL="347663" rtl="0" algn="l">
              <a:lnSpc>
                <a:spcPct val="120000"/>
              </a:lnSpc>
              <a:spcBef>
                <a:spcPts val="800"/>
              </a:spcBef>
              <a:spcAft>
                <a:spcPts val="0"/>
              </a:spcAft>
              <a:buSzPts val="1800"/>
              <a:buChar char="❖"/>
            </a:pPr>
            <a:r>
              <a:rPr b="0" lang="vi-VN" sz="2000"/>
              <a:t>Ứng dụng: tìm kiếm khoáng sản kim loại, khảo sát khảo cổ, dò vật thể kim loại/UXO (bom mìn), nghiên cứu cấu trúc móng kết tinh (basement) phục vụ thăm dò dầu khí</a:t>
            </a:r>
            <a:endParaRPr b="0" sz="2000"/>
          </a:p>
        </p:txBody>
      </p:sp>
      <p:pic>
        <p:nvPicPr>
          <p:cNvPr descr="08_magnetic_anomaly.png" id="272" name="Google Shape;272;p28"/>
          <p:cNvPicPr preferRelativeResize="0"/>
          <p:nvPr/>
        </p:nvPicPr>
        <p:blipFill rotWithShape="1">
          <a:blip r:embed="rId3">
            <a:alphaModFix/>
          </a:blip>
          <a:srcRect b="0" l="0" r="0" t="0"/>
          <a:stretch/>
        </p:blipFill>
        <p:spPr>
          <a:xfrm>
            <a:off x="6537960" y="1766359"/>
            <a:ext cx="5166360" cy="3590457"/>
          </a:xfrm>
          <a:prstGeom prst="rect">
            <a:avLst/>
          </a:prstGeom>
          <a:noFill/>
          <a:ln>
            <a:noFill/>
          </a:ln>
        </p:spPr>
      </p:pic>
      <p:sp>
        <p:nvSpPr>
          <p:cNvPr id="273" name="Google Shape;273;p28"/>
          <p:cNvSpPr txBox="1"/>
          <p:nvPr/>
        </p:nvSpPr>
        <p:spPr>
          <a:xfrm>
            <a:off x="6537960" y="5411680"/>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00">
                <a:solidFill>
                  <a:srgbClr val="002060"/>
                </a:solidFill>
                <a:latin typeface="Arial"/>
                <a:ea typeface="Arial"/>
                <a:cs typeface="Arial"/>
                <a:sym typeface="Arial"/>
              </a:rPr>
              <a:t>Hình 4.2 Dị thường từ toàn phần trên vật thể chôn vùi</a:t>
            </a:r>
            <a:endParaRPr/>
          </a:p>
        </p:txBody>
      </p:sp>
      <p:sp>
        <p:nvSpPr>
          <p:cNvPr id="274" name="Google Shape;274;p28"/>
          <p:cNvSpPr txBox="1"/>
          <p:nvPr/>
        </p:nvSpPr>
        <p:spPr>
          <a:xfrm>
            <a:off x="6537960" y="5795728"/>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vi-VN" sz="1050">
                <a:solidFill>
                  <a:srgbClr val="002060"/>
                </a:solidFill>
                <a:latin typeface="Arial"/>
                <a:ea typeface="Arial"/>
                <a:cs typeface="Arial"/>
                <a:sym typeface="Arial"/>
              </a:rPr>
              <a:t>Nguồn: sơ đồ minh họa nguyên lý, biên soạn theo Telford et al. (1976)</a:t>
            </a:r>
            <a:endParaRPr/>
          </a:p>
        </p:txBody>
      </p:sp>
      <p:sp>
        <p:nvSpPr>
          <p:cNvPr id="275" name="Google Shape;275;p28"/>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9"/>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2600"/>
              <a:t>CHƯƠNG V: PHƯƠNG PHÁP TRỌNG LỰC (GRAVITY) — TÙY CHỌN</a:t>
            </a:r>
            <a:endParaRPr/>
          </a:p>
        </p:txBody>
      </p:sp>
      <p:sp>
        <p:nvSpPr>
          <p:cNvPr id="282" name="Google Shape;282;p29"/>
          <p:cNvSpPr txBox="1"/>
          <p:nvPr>
            <p:ph idx="1" type="body"/>
          </p:nvPr>
        </p:nvSpPr>
        <p:spPr>
          <a:xfrm>
            <a:off x="457200" y="1298448"/>
            <a:ext cx="580644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800"/>
              <a:buChar char="❖"/>
            </a:pPr>
            <a:r>
              <a:rPr b="0" lang="vi-VN" sz="2000"/>
              <a:t>Gia tốc trọng trường (gravitational acceleration): đơn vị mGal (1 mGal = 10⁻⁵ m/s²), đo bằng trọng lực kế (gravimeter) độ nhạy cao</a:t>
            </a:r>
            <a:endParaRPr b="0" sz="2000"/>
          </a:p>
          <a:p>
            <a:pPr indent="-347663" lvl="0" marL="347663" rtl="0" algn="l">
              <a:lnSpc>
                <a:spcPct val="120000"/>
              </a:lnSpc>
              <a:spcBef>
                <a:spcPts val="800"/>
              </a:spcBef>
              <a:spcAft>
                <a:spcPts val="0"/>
              </a:spcAft>
              <a:buSzPts val="1800"/>
              <a:buChar char="❖"/>
            </a:pPr>
            <a:r>
              <a:rPr b="0" lang="vi-VN" sz="2000"/>
              <a:t>Đo trọng lực và hiệu chỉnh số liệu: hiệu chỉnh triều (tidal), độ cao tự do (free-air), Bouguer, địa hình (terrain correction)</a:t>
            </a:r>
            <a:endParaRPr/>
          </a:p>
          <a:p>
            <a:pPr indent="-347663" lvl="0" marL="347663" rtl="0" algn="l">
              <a:lnSpc>
                <a:spcPct val="120000"/>
              </a:lnSpc>
              <a:spcBef>
                <a:spcPts val="800"/>
              </a:spcBef>
              <a:spcAft>
                <a:spcPts val="0"/>
              </a:spcAft>
              <a:buSzPts val="1800"/>
              <a:buChar char="❖"/>
            </a:pPr>
            <a:r>
              <a:rPr b="0" lang="vi-VN" sz="2000"/>
              <a:t>Quy trình thực địa: đo tại các điểm theo lưới/tuyến, liên kết với điểm cơ sở (base station) để hiệu chỉnh trôi máy (drift)</a:t>
            </a:r>
            <a:endParaRPr/>
          </a:p>
        </p:txBody>
      </p:sp>
      <p:pic>
        <p:nvPicPr>
          <p:cNvPr descr="09_gravity_survey.png" id="283" name="Google Shape;283;p29"/>
          <p:cNvPicPr preferRelativeResize="0"/>
          <p:nvPr/>
        </p:nvPicPr>
        <p:blipFill rotWithShape="1">
          <a:blip r:embed="rId3">
            <a:alphaModFix/>
          </a:blip>
          <a:srcRect b="0" l="0" r="0" t="0"/>
          <a:stretch/>
        </p:blipFill>
        <p:spPr>
          <a:xfrm>
            <a:off x="6537960" y="1893640"/>
            <a:ext cx="5166360" cy="3335894"/>
          </a:xfrm>
          <a:prstGeom prst="rect">
            <a:avLst/>
          </a:prstGeom>
          <a:noFill/>
          <a:ln>
            <a:noFill/>
          </a:ln>
        </p:spPr>
      </p:pic>
      <p:sp>
        <p:nvSpPr>
          <p:cNvPr id="284" name="Google Shape;284;p29"/>
          <p:cNvSpPr txBox="1"/>
          <p:nvPr/>
        </p:nvSpPr>
        <p:spPr>
          <a:xfrm>
            <a:off x="6537960" y="5284399"/>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00">
                <a:solidFill>
                  <a:srgbClr val="002060"/>
                </a:solidFill>
                <a:latin typeface="Arial"/>
                <a:ea typeface="Arial"/>
                <a:cs typeface="Arial"/>
                <a:sym typeface="Arial"/>
              </a:rPr>
              <a:t>Hình 5.1 Nguyên lý khảo sát trọng lực trên khối đá mật độ cao</a:t>
            </a:r>
            <a:endParaRPr/>
          </a:p>
        </p:txBody>
      </p:sp>
      <p:sp>
        <p:nvSpPr>
          <p:cNvPr id="285" name="Google Shape;285;p29"/>
          <p:cNvSpPr txBox="1"/>
          <p:nvPr/>
        </p:nvSpPr>
        <p:spPr>
          <a:xfrm>
            <a:off x="6537960" y="5668447"/>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vi-VN" sz="1050">
                <a:solidFill>
                  <a:srgbClr val="002060"/>
                </a:solidFill>
                <a:latin typeface="Arial"/>
                <a:ea typeface="Arial"/>
                <a:cs typeface="Arial"/>
                <a:sym typeface="Arial"/>
              </a:rPr>
              <a:t>Nguồn: sơ đồ minh họa nguyên lý, biên soạn theo Telford et al. (1976)</a:t>
            </a:r>
            <a:endParaRPr/>
          </a:p>
        </p:txBody>
      </p:sp>
      <p:sp>
        <p:nvSpPr>
          <p:cNvPr id="286" name="Google Shape;286;p29"/>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0"/>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400"/>
              <a:t>V. PHẢN HỒI TRỌNG LỰC &amp; ỨNG DỤNG</a:t>
            </a:r>
            <a:endParaRPr/>
          </a:p>
        </p:txBody>
      </p:sp>
      <p:sp>
        <p:nvSpPr>
          <p:cNvPr id="292" name="Google Shape;292;p30"/>
          <p:cNvSpPr txBox="1"/>
          <p:nvPr>
            <p:ph idx="1" type="body"/>
          </p:nvPr>
        </p:nvSpPr>
        <p:spPr>
          <a:xfrm>
            <a:off x="457200" y="1298448"/>
            <a:ext cx="580644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800"/>
              <a:buChar char="❖"/>
            </a:pPr>
            <a:r>
              <a:rPr b="0" lang="vi-VN" sz="2000"/>
              <a:t>Phản hồi trọng lực của vật thể địa chất tỉ lệ với chênh lệch mật độ (Δρ) và thể tích vật thể</a:t>
            </a:r>
            <a:endParaRPr b="0" sz="2000"/>
          </a:p>
          <a:p>
            <a:pPr indent="-347663" lvl="0" marL="347663" rtl="0" algn="l">
              <a:lnSpc>
                <a:spcPct val="120000"/>
              </a:lnSpc>
              <a:spcBef>
                <a:spcPts val="800"/>
              </a:spcBef>
              <a:spcAft>
                <a:spcPts val="0"/>
              </a:spcAft>
              <a:buSzPts val="1800"/>
              <a:buChar char="❖"/>
            </a:pPr>
            <a:r>
              <a:rPr b="0" lang="vi-VN" sz="2000"/>
              <a:t>Minh giải dị thường trọng lực Bouguer: tách trường khu vực – dị thường cục bộ, mô hình hóa thuận/nghịch để ước tính hình dạng, độ sâu vật thể</a:t>
            </a:r>
            <a:endParaRPr b="0" sz="2000"/>
          </a:p>
          <a:p>
            <a:pPr indent="-347663" lvl="0" marL="347663" rtl="0" algn="l">
              <a:lnSpc>
                <a:spcPct val="120000"/>
              </a:lnSpc>
              <a:spcBef>
                <a:spcPts val="800"/>
              </a:spcBef>
              <a:spcAft>
                <a:spcPts val="0"/>
              </a:spcAft>
              <a:buSzPts val="1800"/>
              <a:buChar char="❖"/>
            </a:pPr>
            <a:r>
              <a:rPr b="0" lang="vi-VN" sz="2000"/>
              <a:t>Ứng dụng: nghiên cứu cấu trúc khu vực (bể trầm tích, đứt gãy lớn), tìm kiếm khoáng sản đặc mật độ cao (quặng kim loại), hỗ trợ minh giải cấu trúc dầu khí ở quy mô khu vực</a:t>
            </a:r>
            <a:endParaRPr b="0" sz="2000"/>
          </a:p>
        </p:txBody>
      </p:sp>
      <p:pic>
        <p:nvPicPr>
          <p:cNvPr descr="10_gravity_anomaly.png" id="293" name="Google Shape;293;p30"/>
          <p:cNvPicPr preferRelativeResize="0"/>
          <p:nvPr/>
        </p:nvPicPr>
        <p:blipFill rotWithShape="1">
          <a:blip r:embed="rId3">
            <a:alphaModFix/>
          </a:blip>
          <a:srcRect b="0" l="0" r="0" t="0"/>
          <a:stretch/>
        </p:blipFill>
        <p:spPr>
          <a:xfrm>
            <a:off x="6537960" y="1789077"/>
            <a:ext cx="5166360" cy="3545020"/>
          </a:xfrm>
          <a:prstGeom prst="rect">
            <a:avLst/>
          </a:prstGeom>
          <a:noFill/>
          <a:ln>
            <a:noFill/>
          </a:ln>
        </p:spPr>
      </p:pic>
      <p:sp>
        <p:nvSpPr>
          <p:cNvPr id="294" name="Google Shape;294;p30"/>
          <p:cNvSpPr txBox="1"/>
          <p:nvPr/>
        </p:nvSpPr>
        <p:spPr>
          <a:xfrm>
            <a:off x="6537960" y="5388962"/>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00">
                <a:solidFill>
                  <a:srgbClr val="002060"/>
                </a:solidFill>
                <a:latin typeface="Arial"/>
                <a:ea typeface="Arial"/>
                <a:cs typeface="Arial"/>
                <a:sym typeface="Arial"/>
              </a:rPr>
              <a:t>Hình 5.2 Dị thường trọng lực Bouguer trên khối đá mật độ cao</a:t>
            </a:r>
            <a:endParaRPr/>
          </a:p>
        </p:txBody>
      </p:sp>
      <p:sp>
        <p:nvSpPr>
          <p:cNvPr id="295" name="Google Shape;295;p30"/>
          <p:cNvSpPr txBox="1"/>
          <p:nvPr/>
        </p:nvSpPr>
        <p:spPr>
          <a:xfrm>
            <a:off x="6537960" y="5773010"/>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vi-VN" sz="1050">
                <a:solidFill>
                  <a:srgbClr val="002060"/>
                </a:solidFill>
                <a:latin typeface="Arial"/>
                <a:ea typeface="Arial"/>
                <a:cs typeface="Arial"/>
                <a:sym typeface="Arial"/>
              </a:rPr>
              <a:t>Nguồn: sơ đồ minh họa nguyên lý, biên soạn theo Telford et al. (1976)</a:t>
            </a:r>
            <a:endParaRPr/>
          </a:p>
        </p:txBody>
      </p:sp>
      <p:sp>
        <p:nvSpPr>
          <p:cNvPr id="296" name="Google Shape;296;p30"/>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1"/>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2600"/>
              <a:t>CHƯƠNG VI: ĐỊA VẬT LÝ GIẾNG KHOAN (WELL LOGGING)</a:t>
            </a:r>
            <a:endParaRPr/>
          </a:p>
        </p:txBody>
      </p:sp>
      <p:sp>
        <p:nvSpPr>
          <p:cNvPr id="303" name="Google Shape;303;p31"/>
          <p:cNvSpPr txBox="1"/>
          <p:nvPr>
            <p:ph idx="1" type="body"/>
          </p:nvPr>
        </p:nvSpPr>
        <p:spPr>
          <a:xfrm>
            <a:off x="457200" y="1298448"/>
            <a:ext cx="580644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620"/>
              <a:buChar char="❖"/>
            </a:pPr>
            <a:r>
              <a:rPr b="0" lang="vi-VN" sz="1800"/>
              <a:t>Điện trở suất &amp; điện trường tự nhiên (Resistivity &amp; SP): phân biệt tầng thấm/không thấm, xác định ranh giới vỉa và độ bão hòa nước</a:t>
            </a:r>
            <a:endParaRPr b="0" sz="1800"/>
          </a:p>
          <a:p>
            <a:pPr indent="-347663" lvl="0" marL="347663" rtl="0" algn="l">
              <a:lnSpc>
                <a:spcPct val="120000"/>
              </a:lnSpc>
              <a:spcBef>
                <a:spcPts val="800"/>
              </a:spcBef>
              <a:spcAft>
                <a:spcPts val="0"/>
              </a:spcAft>
              <a:buSzPts val="1620"/>
              <a:buChar char="❖"/>
            </a:pPr>
            <a:r>
              <a:rPr b="0" lang="vi-VN" sz="1800"/>
              <a:t>Cảm ứng (Induction log): đo độ dẫn điện đất đá qua trường điện từ cảm ứng, hiệu quả trong giếng khoan dung dịch gốc dầu</a:t>
            </a:r>
            <a:endParaRPr b="0" sz="1800"/>
          </a:p>
          <a:p>
            <a:pPr indent="-347663" lvl="0" marL="347663" rtl="0" algn="l">
              <a:lnSpc>
                <a:spcPct val="120000"/>
              </a:lnSpc>
              <a:spcBef>
                <a:spcPts val="800"/>
              </a:spcBef>
              <a:spcAft>
                <a:spcPts val="0"/>
              </a:spcAft>
              <a:buSzPts val="1620"/>
              <a:buChar char="❖"/>
            </a:pPr>
            <a:r>
              <a:rPr b="0" lang="vi-VN" sz="1800"/>
              <a:t>Gamma tự nhiên (Gamma Ray log): đo phóng xạ tự nhiên — chỉ thị hàm lượng sét (shale volume)</a:t>
            </a:r>
            <a:endParaRPr/>
          </a:p>
          <a:p>
            <a:pPr indent="-347663" lvl="0" marL="347663" rtl="0" algn="l">
              <a:lnSpc>
                <a:spcPct val="120000"/>
              </a:lnSpc>
              <a:spcBef>
                <a:spcPts val="800"/>
              </a:spcBef>
              <a:spcAft>
                <a:spcPts val="0"/>
              </a:spcAft>
              <a:buSzPts val="1620"/>
              <a:buChar char="❖"/>
            </a:pPr>
            <a:r>
              <a:rPr b="0" lang="vi-VN" sz="1800"/>
              <a:t>Neutron &amp; Mật độ (Neutron – Density): ước tính độ rỗng (porosity), kết hợp phát hiện khí (crossover effect)</a:t>
            </a:r>
            <a:endParaRPr/>
          </a:p>
          <a:p>
            <a:pPr indent="-347663" lvl="0" marL="347663" rtl="0" algn="l">
              <a:lnSpc>
                <a:spcPct val="120000"/>
              </a:lnSpc>
              <a:spcBef>
                <a:spcPts val="800"/>
              </a:spcBef>
              <a:spcAft>
                <a:spcPts val="0"/>
              </a:spcAft>
              <a:buSzPts val="1620"/>
              <a:buChar char="❖"/>
            </a:pPr>
            <a:r>
              <a:rPr b="0" lang="vi-VN" sz="1800"/>
              <a:t>Âm học (Sonic/Acoustic log, Δt): đo thời gian truyền sóng âm — hỗ trợ tính độ rỗng, liên kết với dữ liệu địa chấn (synthetic seismogram)</a:t>
            </a:r>
            <a:endParaRPr/>
          </a:p>
        </p:txBody>
      </p:sp>
      <p:pic>
        <p:nvPicPr>
          <p:cNvPr descr="11_well_logs.png" id="304" name="Google Shape;304;p31"/>
          <p:cNvPicPr preferRelativeResize="0"/>
          <p:nvPr/>
        </p:nvPicPr>
        <p:blipFill rotWithShape="1">
          <a:blip r:embed="rId3">
            <a:alphaModFix/>
          </a:blip>
          <a:srcRect b="0" l="0" r="0" t="0"/>
          <a:stretch/>
        </p:blipFill>
        <p:spPr>
          <a:xfrm>
            <a:off x="6537960" y="2011680"/>
            <a:ext cx="5166360" cy="3099816"/>
          </a:xfrm>
          <a:prstGeom prst="rect">
            <a:avLst/>
          </a:prstGeom>
          <a:noFill/>
          <a:ln>
            <a:noFill/>
          </a:ln>
        </p:spPr>
      </p:pic>
      <p:sp>
        <p:nvSpPr>
          <p:cNvPr id="305" name="Google Shape;305;p31"/>
          <p:cNvSpPr txBox="1"/>
          <p:nvPr/>
        </p:nvSpPr>
        <p:spPr>
          <a:xfrm>
            <a:off x="6537960" y="5166360"/>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00">
                <a:solidFill>
                  <a:srgbClr val="002060"/>
                </a:solidFill>
                <a:latin typeface="Arial"/>
                <a:ea typeface="Arial"/>
                <a:cs typeface="Arial"/>
                <a:sym typeface="Arial"/>
              </a:rPr>
              <a:t>Hình 6.1 Bộ đường cong địa vật lý giếng khoan tiêu biểu (GR, điện trở suất, Neutron/Density, Sonic)</a:t>
            </a:r>
            <a:endParaRPr/>
          </a:p>
        </p:txBody>
      </p:sp>
      <p:sp>
        <p:nvSpPr>
          <p:cNvPr id="306" name="Google Shape;306;p31"/>
          <p:cNvSpPr txBox="1"/>
          <p:nvPr/>
        </p:nvSpPr>
        <p:spPr>
          <a:xfrm>
            <a:off x="6537960" y="5550408"/>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vi-VN" sz="1050">
                <a:solidFill>
                  <a:srgbClr val="002060"/>
                </a:solidFill>
                <a:latin typeface="Arial"/>
                <a:ea typeface="Arial"/>
                <a:cs typeface="Arial"/>
                <a:sym typeface="Arial"/>
              </a:rPr>
              <a:t>Nguồn: sơ đồ minh họa nguyên lý, biên soạn theo Ellis (1987)</a:t>
            </a:r>
            <a:endParaRPr/>
          </a:p>
        </p:txBody>
      </p:sp>
      <p:sp>
        <p:nvSpPr>
          <p:cNvPr id="307" name="Google Shape;307;p31"/>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2"/>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2600"/>
              <a:t>CHƯƠNG VII: CÁC KỸ THUẬT THĂM DÒ ĐỊA VẬT LÝ KHÁC</a:t>
            </a:r>
            <a:endParaRPr/>
          </a:p>
        </p:txBody>
      </p:sp>
      <p:sp>
        <p:nvSpPr>
          <p:cNvPr id="314" name="Google Shape;314;p32"/>
          <p:cNvSpPr txBox="1"/>
          <p:nvPr>
            <p:ph idx="1" type="body"/>
          </p:nvPr>
        </p:nvSpPr>
        <p:spPr>
          <a:xfrm>
            <a:off x="457200" y="1298448"/>
            <a:ext cx="580644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620"/>
              <a:buChar char="❖"/>
            </a:pPr>
            <a:r>
              <a:rPr b="0" lang="vi-VN" sz="1800"/>
              <a:t>Phóng xạ (Radiometric): đo bức xạ gamma tự nhiên trên mặt đất — hỗ trợ lập bản đồ địa chất, tìm khoáng sản phóng xạ (uranium)</a:t>
            </a:r>
            <a:endParaRPr/>
          </a:p>
          <a:p>
            <a:pPr indent="-347663" lvl="0" marL="347663" rtl="0" algn="l">
              <a:lnSpc>
                <a:spcPct val="120000"/>
              </a:lnSpc>
              <a:spcBef>
                <a:spcPts val="800"/>
              </a:spcBef>
              <a:spcAft>
                <a:spcPts val="0"/>
              </a:spcAft>
              <a:buSzPts val="1620"/>
              <a:buChar char="❖"/>
            </a:pPr>
            <a:r>
              <a:rPr b="0" lang="vi-VN" sz="1800"/>
              <a:t>Ra-đa xuyên đất (GPR – Ground Penetrating Radar): phát sóng điện từ tần số cao (vài chục–vài trăm MHz), độ phân giải rất cao nhưng độ sâu khảo sát nông (vài mét)</a:t>
            </a:r>
            <a:endParaRPr/>
          </a:p>
          <a:p>
            <a:pPr indent="-347663" lvl="0" marL="347663" rtl="0" algn="l">
              <a:lnSpc>
                <a:spcPct val="120000"/>
              </a:lnSpc>
              <a:spcBef>
                <a:spcPts val="800"/>
              </a:spcBef>
              <a:spcAft>
                <a:spcPts val="0"/>
              </a:spcAft>
              <a:buSzPts val="1620"/>
              <a:buChar char="❖"/>
            </a:pPr>
            <a:r>
              <a:rPr b="0" lang="vi-VN" sz="1800"/>
              <a:t>Điện từ (EM) tần số cao/thấp: khảo sát nhanh trên diện rộng, dùng cho dò kim loại, khảo sát môi trường</a:t>
            </a:r>
            <a:endParaRPr b="0" sz="1800"/>
          </a:p>
          <a:p>
            <a:pPr indent="-347663" lvl="0" marL="347663" rtl="0" algn="l">
              <a:lnSpc>
                <a:spcPct val="120000"/>
              </a:lnSpc>
              <a:spcBef>
                <a:spcPts val="800"/>
              </a:spcBef>
              <a:spcAft>
                <a:spcPts val="0"/>
              </a:spcAft>
              <a:buSzPts val="1620"/>
              <a:buChar char="❖"/>
            </a:pPr>
            <a:r>
              <a:rPr b="0" lang="vi-VN" sz="1800"/>
              <a:t>Địa nhiệt (Geothermal): đo gradient nhiệt độ và dòng nhiệt phục vụ đánh giá tiềm năng năng lượng địa nhiệt</a:t>
            </a:r>
            <a:endParaRPr b="0" sz="1800"/>
          </a:p>
        </p:txBody>
      </p:sp>
      <p:pic>
        <p:nvPicPr>
          <p:cNvPr descr="12_gpr.png" id="315" name="Google Shape;315;p32"/>
          <p:cNvPicPr preferRelativeResize="0"/>
          <p:nvPr/>
        </p:nvPicPr>
        <p:blipFill rotWithShape="1">
          <a:blip r:embed="rId3">
            <a:alphaModFix/>
          </a:blip>
          <a:srcRect b="0" l="0" r="0" t="0"/>
          <a:stretch/>
        </p:blipFill>
        <p:spPr>
          <a:xfrm>
            <a:off x="6537960" y="1633363"/>
            <a:ext cx="5166360" cy="3856449"/>
          </a:xfrm>
          <a:prstGeom prst="rect">
            <a:avLst/>
          </a:prstGeom>
          <a:noFill/>
          <a:ln>
            <a:noFill/>
          </a:ln>
        </p:spPr>
      </p:pic>
      <p:sp>
        <p:nvSpPr>
          <p:cNvPr id="316" name="Google Shape;316;p32"/>
          <p:cNvSpPr txBox="1"/>
          <p:nvPr/>
        </p:nvSpPr>
        <p:spPr>
          <a:xfrm>
            <a:off x="6537960" y="5544676"/>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00">
                <a:solidFill>
                  <a:srgbClr val="002060"/>
                </a:solidFill>
                <a:latin typeface="Arial"/>
                <a:ea typeface="Arial"/>
                <a:cs typeface="Arial"/>
                <a:sym typeface="Arial"/>
              </a:rPr>
              <a:t>Hình 7.1 Nguyên lý ra-đa xuyên đất (GPR) và hình ảnh radargram với phản xạ hyperbol</a:t>
            </a:r>
            <a:endParaRPr/>
          </a:p>
        </p:txBody>
      </p:sp>
      <p:sp>
        <p:nvSpPr>
          <p:cNvPr id="317" name="Google Shape;317;p32"/>
          <p:cNvSpPr txBox="1"/>
          <p:nvPr/>
        </p:nvSpPr>
        <p:spPr>
          <a:xfrm>
            <a:off x="6537960" y="5928724"/>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vi-VN" sz="1050">
                <a:solidFill>
                  <a:srgbClr val="002060"/>
                </a:solidFill>
                <a:latin typeface="Arial"/>
                <a:ea typeface="Arial"/>
                <a:cs typeface="Arial"/>
                <a:sym typeface="Arial"/>
              </a:rPr>
              <a:t>Nguồn: sơ đồ minh họa nguyên lý, biên soạn theo SEGJ (2014)</a:t>
            </a:r>
            <a:endParaRPr/>
          </a:p>
        </p:txBody>
      </p:sp>
      <p:sp>
        <p:nvSpPr>
          <p:cNvPr id="318" name="Google Shape;318;p32"/>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3"/>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2600"/>
              <a:t>CHƯƠNG VIII: LẬP KẾ HOẠCH &amp; TRIỂN KHAI DỰ ÁN THĂM DÒ ĐỊA VẬT LÝ</a:t>
            </a:r>
            <a:endParaRPr/>
          </a:p>
        </p:txBody>
      </p:sp>
      <p:sp>
        <p:nvSpPr>
          <p:cNvPr id="324" name="Google Shape;324;p33"/>
          <p:cNvSpPr txBox="1"/>
          <p:nvPr>
            <p:ph idx="1" type="body"/>
          </p:nvPr>
        </p:nvSpPr>
        <p:spPr>
          <a:xfrm>
            <a:off x="594360" y="1234440"/>
            <a:ext cx="10972800" cy="548640"/>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530"/>
              <a:buChar char="❖"/>
            </a:pPr>
            <a:r>
              <a:rPr b="1" lang="vi-VN" sz="1700"/>
              <a:t>Quy trình 5 bước — từ nghiên cứu bàn giấy đến báo cáo, có vòng phản hồi QA/QC xuyên suốt dự án</a:t>
            </a:r>
            <a:endParaRPr/>
          </a:p>
        </p:txBody>
      </p:sp>
      <p:pic>
        <p:nvPicPr>
          <p:cNvPr descr="14_project_workflow.png" id="325" name="Google Shape;325;p33"/>
          <p:cNvPicPr preferRelativeResize="0"/>
          <p:nvPr/>
        </p:nvPicPr>
        <p:blipFill rotWithShape="1">
          <a:blip r:embed="rId3">
            <a:alphaModFix/>
          </a:blip>
          <a:srcRect b="0" l="0" r="0" t="0"/>
          <a:stretch/>
        </p:blipFill>
        <p:spPr>
          <a:xfrm>
            <a:off x="1616345" y="1874519"/>
            <a:ext cx="8928828" cy="3931920"/>
          </a:xfrm>
          <a:prstGeom prst="rect">
            <a:avLst/>
          </a:prstGeom>
          <a:noFill/>
          <a:ln>
            <a:noFill/>
          </a:ln>
        </p:spPr>
      </p:pic>
      <p:sp>
        <p:nvSpPr>
          <p:cNvPr id="326" name="Google Shape;326;p33"/>
          <p:cNvSpPr txBox="1"/>
          <p:nvPr/>
        </p:nvSpPr>
        <p:spPr>
          <a:xfrm>
            <a:off x="822960" y="5879591"/>
            <a:ext cx="105156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50">
                <a:solidFill>
                  <a:srgbClr val="002060"/>
                </a:solidFill>
                <a:latin typeface="Arial"/>
                <a:ea typeface="Arial"/>
                <a:cs typeface="Arial"/>
                <a:sym typeface="Arial"/>
              </a:rPr>
              <a:t>Hình 8.1 Quy trình lập kế hoạch và triển khai dự án thăm dò địa vật lý</a:t>
            </a:r>
            <a:endParaRPr i="0" sz="1250">
              <a:solidFill>
                <a:srgbClr val="002060"/>
              </a:solidFill>
              <a:latin typeface="Arial"/>
              <a:ea typeface="Arial"/>
              <a:cs typeface="Arial"/>
              <a:sym typeface="Arial"/>
            </a:endParaRPr>
          </a:p>
        </p:txBody>
      </p:sp>
      <p:sp>
        <p:nvSpPr>
          <p:cNvPr id="327" name="Google Shape;327;p33"/>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4"/>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000"/>
              <a:t>VIII. CÁC YẾU TỐ CẦN CÂN NHẮC KHI LẬP DỰ ÁN</a:t>
            </a:r>
            <a:endParaRPr/>
          </a:p>
        </p:txBody>
      </p:sp>
      <p:sp>
        <p:nvSpPr>
          <p:cNvPr id="333" name="Google Shape;333;p34"/>
          <p:cNvSpPr txBox="1"/>
          <p:nvPr>
            <p:ph idx="1" type="body"/>
          </p:nvPr>
        </p:nvSpPr>
        <p:spPr>
          <a:xfrm>
            <a:off x="594360" y="1298448"/>
            <a:ext cx="1097280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2160"/>
              <a:buChar char="❖"/>
            </a:pPr>
            <a:r>
              <a:rPr b="0" lang="vi-VN" sz="2400"/>
              <a:t>Mục tiêu khảo sát (objectives): loại đối tượng cần phát hiện, độ sâu, độ phân giải yêu cầu → quyết định lựa chọn phương pháp</a:t>
            </a:r>
            <a:endParaRPr b="0" sz="2400"/>
          </a:p>
          <a:p>
            <a:pPr indent="-347663" lvl="0" marL="347663" rtl="0" algn="l">
              <a:lnSpc>
                <a:spcPct val="120000"/>
              </a:lnSpc>
              <a:spcBef>
                <a:spcPts val="800"/>
              </a:spcBef>
              <a:spcAft>
                <a:spcPts val="0"/>
              </a:spcAft>
              <a:buSzPts val="2160"/>
              <a:buChar char="❖"/>
            </a:pPr>
            <a:r>
              <a:rPr b="0" lang="vi-VN" sz="2400"/>
              <a:t>Điều kiện thực địa: địa hình, khả năng tiếp cận, nhiễu điện từ/ồn nền (noise), thời tiết, mùa vụ</a:t>
            </a:r>
            <a:endParaRPr b="0" sz="2400"/>
          </a:p>
          <a:p>
            <a:pPr indent="-347663" lvl="0" marL="347663" rtl="0" algn="l">
              <a:lnSpc>
                <a:spcPct val="120000"/>
              </a:lnSpc>
              <a:spcBef>
                <a:spcPts val="800"/>
              </a:spcBef>
              <a:spcAft>
                <a:spcPts val="0"/>
              </a:spcAft>
              <a:buSzPts val="2160"/>
              <a:buChar char="❖"/>
            </a:pPr>
            <a:r>
              <a:rPr b="0" lang="vi-VN" sz="2400"/>
              <a:t>Ngân sách và thời gian: cân đối giữa độ chi tiết mong muốn và chi phí thu thập – xử lý dữ liệu</a:t>
            </a:r>
            <a:endParaRPr b="0" sz="2400"/>
          </a:p>
          <a:p>
            <a:pPr indent="-347663" lvl="0" marL="347663" rtl="0" algn="l">
              <a:lnSpc>
                <a:spcPct val="120000"/>
              </a:lnSpc>
              <a:spcBef>
                <a:spcPts val="800"/>
              </a:spcBef>
              <a:spcAft>
                <a:spcPts val="0"/>
              </a:spcAft>
              <a:buSzPts val="2160"/>
              <a:buChar char="❖"/>
            </a:pPr>
            <a:r>
              <a:rPr b="0" lang="vi-VN" sz="2400"/>
              <a:t>An toàn lao động và môi trường (HSE): đặc biệt với các phương pháp dùng chất nổ hoặc khảo sát ngoài khơi</a:t>
            </a:r>
            <a:endParaRPr b="0" sz="2400"/>
          </a:p>
          <a:p>
            <a:pPr indent="-347663" lvl="0" marL="347663" rtl="0" algn="l">
              <a:lnSpc>
                <a:spcPct val="120000"/>
              </a:lnSpc>
              <a:spcBef>
                <a:spcPts val="800"/>
              </a:spcBef>
              <a:spcAft>
                <a:spcPts val="0"/>
              </a:spcAft>
              <a:buSzPts val="2160"/>
              <a:buChar char="❖"/>
            </a:pPr>
            <a:r>
              <a:rPr b="0" lang="vi-VN" sz="2400"/>
              <a:t>Kiểm soát chất lượng (QA/QC): xuyên suốt từ thu thập, xử lý đến minh giải, đảm bảo độ tin cậy kết quả cuối cùng</a:t>
            </a:r>
            <a:endParaRPr b="0" sz="2400"/>
          </a:p>
        </p:txBody>
      </p:sp>
      <p:sp>
        <p:nvSpPr>
          <p:cNvPr id="334" name="Google Shape;334;p34"/>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5"/>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2600"/>
              <a:t>CHƯƠNG IX: CHỦ ĐỀ NÂNG CAO THEO YÊU CẦU — PHẦN 1</a:t>
            </a:r>
            <a:endParaRPr/>
          </a:p>
        </p:txBody>
      </p:sp>
      <p:sp>
        <p:nvSpPr>
          <p:cNvPr id="340" name="Google Shape;340;p35"/>
          <p:cNvSpPr txBox="1"/>
          <p:nvPr>
            <p:ph idx="1" type="body"/>
          </p:nvPr>
        </p:nvSpPr>
        <p:spPr>
          <a:xfrm>
            <a:off x="594360" y="1298448"/>
            <a:ext cx="10972800" cy="5193792"/>
          </a:xfrm>
          <a:prstGeom prst="rect">
            <a:avLst/>
          </a:prstGeom>
          <a:noFill/>
          <a:ln>
            <a:noFill/>
          </a:ln>
        </p:spPr>
        <p:txBody>
          <a:bodyPr anchorCtr="0" anchor="t" bIns="46025" lIns="0" spcFirstLastPara="1" rIns="0" wrap="square" tIns="46025">
            <a:noAutofit/>
          </a:bodyPr>
          <a:lstStyle/>
          <a:p>
            <a:pPr indent="0" lvl="0" marL="0" rtl="0" algn="l">
              <a:lnSpc>
                <a:spcPct val="120000"/>
              </a:lnSpc>
              <a:spcBef>
                <a:spcPts val="0"/>
              </a:spcBef>
              <a:spcAft>
                <a:spcPts val="0"/>
              </a:spcAft>
              <a:buSzPts val="1620"/>
              <a:buNone/>
            </a:pPr>
            <a:r>
              <a:rPr b="1" lang="vi-VN" sz="1800"/>
              <a:t>IX.1 Phân tích ngược địa vật lý (Geophysical Inversion): lập trình &amp; ứng dụng</a:t>
            </a:r>
            <a:endParaRPr/>
          </a:p>
          <a:p>
            <a:pPr indent="0" lvl="1" marL="462280" rtl="0" algn="just">
              <a:lnSpc>
                <a:spcPct val="120000"/>
              </a:lnSpc>
              <a:spcBef>
                <a:spcPts val="800"/>
              </a:spcBef>
              <a:spcAft>
                <a:spcPts val="0"/>
              </a:spcAft>
              <a:buSzPts val="1500"/>
              <a:buNone/>
            </a:pPr>
            <a:r>
              <a:rPr b="0" lang="vi-VN" sz="1500"/>
              <a:t>Bài toán nghịch (inverse problem): từ số liệu đo thực địa suy ra mô hình vật lý – địa chất của môi trường</a:t>
            </a:r>
            <a:endParaRPr b="0" sz="1500"/>
          </a:p>
          <a:p>
            <a:pPr indent="0" lvl="1" marL="462280" rtl="0" algn="just">
              <a:lnSpc>
                <a:spcPct val="120000"/>
              </a:lnSpc>
              <a:spcBef>
                <a:spcPts val="400"/>
              </a:spcBef>
              <a:spcAft>
                <a:spcPts val="0"/>
              </a:spcAft>
              <a:buSzPts val="1500"/>
              <a:buNone/>
            </a:pPr>
            <a:r>
              <a:rPr b="0" lang="vi-VN" sz="1500"/>
              <a:t>Các thuật toán tối ưu hóa: bình phương tối thiểu (least-squares), Occam inversion, Monte Carlo</a:t>
            </a:r>
            <a:endParaRPr b="0" sz="1500"/>
          </a:p>
          <a:p>
            <a:pPr indent="0" lvl="1" marL="462280" rtl="0" algn="just">
              <a:lnSpc>
                <a:spcPct val="120000"/>
              </a:lnSpc>
              <a:spcBef>
                <a:spcPts val="400"/>
              </a:spcBef>
              <a:spcAft>
                <a:spcPts val="0"/>
              </a:spcAft>
              <a:buSzPts val="1500"/>
              <a:buNone/>
            </a:pPr>
            <a:r>
              <a:rPr b="0" lang="vi-VN" sz="1500"/>
              <a:t>Ứng dụng: minh giải điện trở suất 2D/3D, đảo ngược địa chấn (seismic inversion) suy ra thuộc tính đá chứa</a:t>
            </a:r>
            <a:endParaRPr b="0" sz="1500"/>
          </a:p>
          <a:p>
            <a:pPr indent="0" lvl="0" marL="0" rtl="0" algn="l">
              <a:lnSpc>
                <a:spcPct val="120000"/>
              </a:lnSpc>
              <a:spcBef>
                <a:spcPts val="400"/>
              </a:spcBef>
              <a:spcAft>
                <a:spcPts val="0"/>
              </a:spcAft>
              <a:buSzPts val="1620"/>
              <a:buNone/>
            </a:pPr>
            <a:r>
              <a:rPr b="1" lang="vi-VN" sz="1800"/>
              <a:t>IX.2 Lập trình Python trong địa vật lý</a:t>
            </a:r>
            <a:endParaRPr b="1" sz="1800"/>
          </a:p>
          <a:p>
            <a:pPr indent="0" lvl="1" marL="462280" rtl="0" algn="just">
              <a:lnSpc>
                <a:spcPct val="120000"/>
              </a:lnSpc>
              <a:spcBef>
                <a:spcPts val="800"/>
              </a:spcBef>
              <a:spcAft>
                <a:spcPts val="0"/>
              </a:spcAft>
              <a:buSzPts val="1500"/>
              <a:buNone/>
            </a:pPr>
            <a:r>
              <a:rPr b="0" lang="vi-VN" sz="1500"/>
              <a:t>Xử lý và trực quan hóa dữ liệu địa vật lý (NumPy, Pandas, Matplotlib)</a:t>
            </a:r>
            <a:endParaRPr b="0" sz="1500"/>
          </a:p>
          <a:p>
            <a:pPr indent="0" lvl="1" marL="462280" rtl="0" algn="just">
              <a:lnSpc>
                <a:spcPct val="120000"/>
              </a:lnSpc>
              <a:spcBef>
                <a:spcPts val="400"/>
              </a:spcBef>
              <a:spcAft>
                <a:spcPts val="0"/>
              </a:spcAft>
              <a:buSzPts val="1500"/>
              <a:buNone/>
            </a:pPr>
            <a:r>
              <a:rPr b="0" lang="vi-VN" sz="1500"/>
              <a:t>Xây dựng mô hình thuận/nghịch tùy biến, tự động hóa quy trình xử lý lặp lại</a:t>
            </a:r>
            <a:endParaRPr b="0" sz="1500"/>
          </a:p>
          <a:p>
            <a:pPr indent="0" lvl="1" marL="462280" rtl="0" algn="just">
              <a:lnSpc>
                <a:spcPct val="120000"/>
              </a:lnSpc>
              <a:spcBef>
                <a:spcPts val="400"/>
              </a:spcBef>
              <a:spcAft>
                <a:spcPts val="0"/>
              </a:spcAft>
              <a:buSzPts val="1500"/>
              <a:buNone/>
            </a:pPr>
            <a:r>
              <a:rPr b="0" lang="vi-VN" sz="1500"/>
              <a:t>Các thư viện chuyên ngành: ObsPy (địa chấn), SimPEG (địa vật lý ngược), Lasio (well log)</a:t>
            </a:r>
            <a:endParaRPr b="0" sz="1500"/>
          </a:p>
        </p:txBody>
      </p:sp>
      <p:sp>
        <p:nvSpPr>
          <p:cNvPr id="341" name="Google Shape;341;p35"/>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6"/>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2600"/>
              <a:t>IX.3 ỨNG DỤNG AI/ML, CHATGPT &amp; PROMPT ENGINEERING</a:t>
            </a:r>
            <a:endParaRPr/>
          </a:p>
        </p:txBody>
      </p:sp>
      <p:sp>
        <p:nvSpPr>
          <p:cNvPr id="347" name="Google Shape;347;p36"/>
          <p:cNvSpPr txBox="1"/>
          <p:nvPr>
            <p:ph idx="1" type="body"/>
          </p:nvPr>
        </p:nvSpPr>
        <p:spPr>
          <a:xfrm>
            <a:off x="457200" y="1298448"/>
            <a:ext cx="5806440" cy="5193792"/>
          </a:xfrm>
          <a:prstGeom prst="rect">
            <a:avLst/>
          </a:prstGeom>
          <a:noFill/>
          <a:ln>
            <a:noFill/>
          </a:ln>
        </p:spPr>
        <p:txBody>
          <a:bodyPr anchorCtr="0" anchor="t" bIns="46025" lIns="0" spcFirstLastPara="1" rIns="0" wrap="square" tIns="46025">
            <a:noAutofit/>
          </a:bodyPr>
          <a:lstStyle/>
          <a:p>
            <a:pPr indent="0" lvl="0" marL="0" rtl="0" algn="l">
              <a:lnSpc>
                <a:spcPct val="120000"/>
              </a:lnSpc>
              <a:spcBef>
                <a:spcPts val="0"/>
              </a:spcBef>
              <a:spcAft>
                <a:spcPts val="0"/>
              </a:spcAft>
              <a:buSzPts val="1530"/>
              <a:buNone/>
            </a:pPr>
            <a:r>
              <a:rPr b="0" lang="vi-VN" sz="1700"/>
              <a:t>Học máy (Machine Learning) trong địa vật lý: phân loại tướng đá (facies classification), phát hiện đứt gãy tự động, dự báo thuộc tính đá chứa từ log/địa chấn</a:t>
            </a:r>
            <a:endParaRPr b="0" sz="1700"/>
          </a:p>
          <a:p>
            <a:pPr indent="0" lvl="0" marL="0" rtl="0" algn="l">
              <a:lnSpc>
                <a:spcPct val="120000"/>
              </a:lnSpc>
              <a:spcBef>
                <a:spcPts val="800"/>
              </a:spcBef>
              <a:spcAft>
                <a:spcPts val="0"/>
              </a:spcAft>
              <a:buSzPts val="1530"/>
              <a:buNone/>
            </a:pPr>
            <a:r>
              <a:rPr b="0" lang="vi-VN" sz="1700"/>
              <a:t>Học sâu (Deep Learning): mạng nơ-ron tích chập (CNN) cho minh giải địa chấn, mạng nơ-ron hồi quy cho chuỗi dữ liệu log</a:t>
            </a:r>
            <a:endParaRPr b="0" sz="1700"/>
          </a:p>
          <a:p>
            <a:pPr indent="0" lvl="0" marL="0" rtl="0" algn="l">
              <a:lnSpc>
                <a:spcPct val="120000"/>
              </a:lnSpc>
              <a:spcBef>
                <a:spcPts val="800"/>
              </a:spcBef>
              <a:spcAft>
                <a:spcPts val="0"/>
              </a:spcAft>
              <a:buSzPts val="1530"/>
              <a:buNone/>
            </a:pPr>
            <a:r>
              <a:rPr b="0" lang="vi-VN" sz="1700"/>
              <a:t>ChatGPT &amp; prompt engineering: hỗ trợ viết code xử lý dữ liệu, tổng hợp tài liệu, tăng tốc quy trình nghiên cứu</a:t>
            </a:r>
            <a:endParaRPr b="0" sz="1700"/>
          </a:p>
          <a:p>
            <a:pPr indent="0" lvl="0" marL="0" rtl="0" algn="l">
              <a:lnSpc>
                <a:spcPct val="120000"/>
              </a:lnSpc>
              <a:spcBef>
                <a:spcPts val="800"/>
              </a:spcBef>
              <a:spcAft>
                <a:spcPts val="0"/>
              </a:spcAft>
              <a:buSzPts val="1530"/>
              <a:buNone/>
            </a:pPr>
            <a:r>
              <a:rPr b="0" lang="vi-VN" sz="1700"/>
              <a:t>Xu hướng: kết hợp AI/ML với kiến thức vật lý miền (physics-informed ML) để tăng độ tin cậy kết quả minh giải</a:t>
            </a:r>
            <a:endParaRPr b="0" sz="1700"/>
          </a:p>
        </p:txBody>
      </p:sp>
      <p:pic>
        <p:nvPicPr>
          <p:cNvPr descr="13_ai_pipeline.png" id="348" name="Google Shape;348;p36"/>
          <p:cNvPicPr preferRelativeResize="0"/>
          <p:nvPr/>
        </p:nvPicPr>
        <p:blipFill rotWithShape="1">
          <a:blip r:embed="rId3">
            <a:alphaModFix/>
          </a:blip>
          <a:srcRect b="0" l="0" r="0" t="0"/>
          <a:stretch/>
        </p:blipFill>
        <p:spPr>
          <a:xfrm>
            <a:off x="6537960" y="2469894"/>
            <a:ext cx="5166360" cy="2183386"/>
          </a:xfrm>
          <a:prstGeom prst="rect">
            <a:avLst/>
          </a:prstGeom>
          <a:noFill/>
          <a:ln>
            <a:noFill/>
          </a:ln>
        </p:spPr>
      </p:pic>
      <p:sp>
        <p:nvSpPr>
          <p:cNvPr id="349" name="Google Shape;349;p36"/>
          <p:cNvSpPr txBox="1"/>
          <p:nvPr/>
        </p:nvSpPr>
        <p:spPr>
          <a:xfrm>
            <a:off x="6537960" y="4708145"/>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00">
                <a:solidFill>
                  <a:srgbClr val="002060"/>
                </a:solidFill>
                <a:latin typeface="Arial"/>
                <a:ea typeface="Arial"/>
                <a:cs typeface="Arial"/>
                <a:sym typeface="Arial"/>
              </a:rPr>
              <a:t>Hình 9.1 Quy trình ứng dụng AI/ML trong xử lý và minh giải dữ liệu địa vật lý</a:t>
            </a:r>
            <a:endParaRPr/>
          </a:p>
        </p:txBody>
      </p:sp>
      <p:sp>
        <p:nvSpPr>
          <p:cNvPr id="350" name="Google Shape;350;p36"/>
          <p:cNvSpPr txBox="1"/>
          <p:nvPr/>
        </p:nvSpPr>
        <p:spPr>
          <a:xfrm>
            <a:off x="6537960" y="5092193"/>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vi-VN" sz="1050">
                <a:solidFill>
                  <a:srgbClr val="002060"/>
                </a:solidFill>
                <a:latin typeface="Arial"/>
                <a:ea typeface="Arial"/>
                <a:cs typeface="Arial"/>
                <a:sym typeface="Arial"/>
              </a:rPr>
              <a:t>Nguồn: sơ đồ minh họa khái niệm, biên soạn bởi người trình bày</a:t>
            </a:r>
            <a:endParaRPr/>
          </a:p>
        </p:txBody>
      </p:sp>
      <p:sp>
        <p:nvSpPr>
          <p:cNvPr id="351" name="Google Shape;351;p36"/>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7"/>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2600"/>
              <a:t>IX.4–IX.5 VẬT LÝ ĐÁ &amp; ĐỊA VẬT LÝ BỀN VỮNG TÍCH HỢP</a:t>
            </a:r>
            <a:endParaRPr/>
          </a:p>
        </p:txBody>
      </p:sp>
      <p:sp>
        <p:nvSpPr>
          <p:cNvPr id="357" name="Google Shape;357;p37"/>
          <p:cNvSpPr txBox="1"/>
          <p:nvPr>
            <p:ph idx="1" type="body"/>
          </p:nvPr>
        </p:nvSpPr>
        <p:spPr>
          <a:xfrm>
            <a:off x="457200" y="1298448"/>
            <a:ext cx="580644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530"/>
              <a:buChar char="❖"/>
            </a:pPr>
            <a:r>
              <a:rPr b="0" lang="vi-VN" sz="1700"/>
              <a:t>Vật lý đá (Rock Physics): nghiên cứu quan hệ giữa tính chất đàn hồi (vận tốc, mật độ) và tính chất đá – lưu chất (độ rỗng, độ bão hòa, thạch học) — cầu nối giữa địa chấn và địa chất</a:t>
            </a:r>
            <a:endParaRPr/>
          </a:p>
          <a:p>
            <a:pPr indent="-347663" lvl="0" marL="347663" rtl="0" algn="l">
              <a:lnSpc>
                <a:spcPct val="120000"/>
              </a:lnSpc>
              <a:spcBef>
                <a:spcPts val="800"/>
              </a:spcBef>
              <a:spcAft>
                <a:spcPts val="0"/>
              </a:spcAft>
              <a:buSzPts val="1530"/>
              <a:buChar char="❖"/>
            </a:pPr>
            <a:r>
              <a:rPr b="0" lang="vi-VN" sz="1700"/>
              <a:t>Địa kỹ thuật – địa vật lý bền vững và tích hợp: kết hợp khảo sát địa vật lý (địa chấn nông, GPR) với khoan/CPT để xây dựng mô hình nền tin cậy, giảm số lượng lỗ khoan cần thiết</a:t>
            </a:r>
            <a:endParaRPr/>
          </a:p>
          <a:p>
            <a:pPr indent="-347663" lvl="0" marL="347663" rtl="0" algn="l">
              <a:lnSpc>
                <a:spcPct val="120000"/>
              </a:lnSpc>
              <a:spcBef>
                <a:spcPts val="800"/>
              </a:spcBef>
              <a:spcAft>
                <a:spcPts val="0"/>
              </a:spcAft>
              <a:buSzPts val="1530"/>
              <a:buChar char="❖"/>
            </a:pPr>
            <a:r>
              <a:rPr b="0" lang="vi-VN" sz="1700"/>
              <a:t>Case study: mô hình nền (groundmodel) cho xây dựng trang trại điện gió ngoài khơi — một ứng dụng tiêu biểu gắn địa vật lý với năng lượng tái tạo và chuyển dịch năng lượng</a:t>
            </a:r>
            <a:endParaRPr/>
          </a:p>
        </p:txBody>
      </p:sp>
      <p:pic>
        <p:nvPicPr>
          <p:cNvPr descr="15_offshore_wind.png" id="358" name="Google Shape;358;p37"/>
          <p:cNvPicPr preferRelativeResize="0"/>
          <p:nvPr/>
        </p:nvPicPr>
        <p:blipFill rotWithShape="1">
          <a:blip r:embed="rId3">
            <a:alphaModFix/>
          </a:blip>
          <a:srcRect b="0" l="0" r="0" t="0"/>
          <a:stretch/>
        </p:blipFill>
        <p:spPr>
          <a:xfrm>
            <a:off x="6537960" y="1705025"/>
            <a:ext cx="5166360" cy="3713125"/>
          </a:xfrm>
          <a:prstGeom prst="rect">
            <a:avLst/>
          </a:prstGeom>
          <a:noFill/>
          <a:ln>
            <a:noFill/>
          </a:ln>
        </p:spPr>
      </p:pic>
      <p:sp>
        <p:nvSpPr>
          <p:cNvPr id="359" name="Google Shape;359;p37"/>
          <p:cNvSpPr txBox="1"/>
          <p:nvPr/>
        </p:nvSpPr>
        <p:spPr>
          <a:xfrm>
            <a:off x="6537960" y="5473014"/>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vi-VN" sz="1200">
                <a:solidFill>
                  <a:srgbClr val="002060"/>
                </a:solidFill>
                <a:latin typeface="Arial"/>
                <a:ea typeface="Arial"/>
                <a:cs typeface="Arial"/>
                <a:sym typeface="Arial"/>
              </a:rPr>
              <a:t>Hình 9.2 Mô hình khảo sát địa chất – địa kỹ thuật cho móng cọc điện gió ngoài khơi</a:t>
            </a:r>
            <a:endParaRPr/>
          </a:p>
        </p:txBody>
      </p:sp>
      <p:sp>
        <p:nvSpPr>
          <p:cNvPr id="360" name="Google Shape;360;p37"/>
          <p:cNvSpPr txBox="1"/>
          <p:nvPr/>
        </p:nvSpPr>
        <p:spPr>
          <a:xfrm>
            <a:off x="6537960" y="5857062"/>
            <a:ext cx="51663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vi-VN" sz="1050">
                <a:solidFill>
                  <a:srgbClr val="002060"/>
                </a:solidFill>
                <a:latin typeface="Arial"/>
                <a:ea typeface="Arial"/>
                <a:cs typeface="Arial"/>
                <a:sym typeface="Arial"/>
              </a:rPr>
              <a:t>Nguồn: sơ đồ minh họa khái niệm, biên soạn bởi người trình bày</a:t>
            </a:r>
            <a:endParaRPr/>
          </a:p>
        </p:txBody>
      </p:sp>
      <p:sp>
        <p:nvSpPr>
          <p:cNvPr id="361" name="Google Shape;361;p37"/>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8"/>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000"/>
              <a:t>PHƯƠNG PHÁP HỌC TẬP &amp; PHÂN BỔ THỜI GIAN</a:t>
            </a:r>
            <a:endParaRPr/>
          </a:p>
        </p:txBody>
      </p:sp>
      <p:sp>
        <p:nvSpPr>
          <p:cNvPr id="367" name="Google Shape;367;p38"/>
          <p:cNvSpPr txBox="1"/>
          <p:nvPr>
            <p:ph idx="1" type="body"/>
          </p:nvPr>
        </p:nvSpPr>
        <p:spPr>
          <a:xfrm>
            <a:off x="594360" y="1298448"/>
            <a:ext cx="10972800" cy="5193792"/>
          </a:xfrm>
          <a:prstGeom prst="rect">
            <a:avLst/>
          </a:prstGeom>
          <a:noFill/>
          <a:ln>
            <a:noFill/>
          </a:ln>
        </p:spPr>
        <p:txBody>
          <a:bodyPr anchorCtr="0" anchor="t" bIns="46025" lIns="0" spcFirstLastPara="1" rIns="0" wrap="square" tIns="46025">
            <a:noAutofit/>
          </a:bodyPr>
          <a:lstStyle/>
          <a:p>
            <a:pPr indent="-347345" lvl="0" marL="347345" rtl="0" algn="l">
              <a:lnSpc>
                <a:spcPct val="120000"/>
              </a:lnSpc>
              <a:spcBef>
                <a:spcPts val="0"/>
              </a:spcBef>
              <a:spcAft>
                <a:spcPts val="0"/>
              </a:spcAft>
              <a:buSzPts val="1800"/>
              <a:buChar char="❖"/>
            </a:pPr>
            <a:r>
              <a:rPr b="1" lang="vi-VN" sz="2000"/>
              <a:t>Phương pháp học tập (Study method)</a:t>
            </a:r>
            <a:endParaRPr/>
          </a:p>
          <a:p>
            <a:pPr indent="0" lvl="1" marL="462280" rtl="0" algn="just">
              <a:lnSpc>
                <a:spcPct val="120000"/>
              </a:lnSpc>
              <a:spcBef>
                <a:spcPts val="800"/>
              </a:spcBef>
              <a:spcAft>
                <a:spcPts val="0"/>
              </a:spcAft>
              <a:buSzPts val="1700"/>
              <a:buNone/>
            </a:pPr>
            <a:r>
              <a:rPr b="0" lang="vi-VN" sz="1700"/>
              <a:t>Giảng dạy lý thuyết trên lớp (lectures)</a:t>
            </a:r>
            <a:endParaRPr b="0" sz="1700"/>
          </a:p>
          <a:p>
            <a:pPr indent="0" lvl="1" marL="462280" rtl="0" algn="just">
              <a:lnSpc>
                <a:spcPct val="120000"/>
              </a:lnSpc>
              <a:spcBef>
                <a:spcPts val="400"/>
              </a:spcBef>
              <a:spcAft>
                <a:spcPts val="0"/>
              </a:spcAft>
              <a:buSzPts val="1700"/>
              <a:buNone/>
            </a:pPr>
            <a:r>
              <a:rPr b="0" lang="vi-VN" sz="1700"/>
              <a:t>Thực hành trên máy tính (computer laboratory sessions) — phần mềm xử lý/minh giải</a:t>
            </a:r>
            <a:endParaRPr b="0" sz="1700"/>
          </a:p>
          <a:p>
            <a:pPr indent="0" lvl="1" marL="462280" rtl="0" algn="just">
              <a:lnSpc>
                <a:spcPct val="120000"/>
              </a:lnSpc>
              <a:spcBef>
                <a:spcPts val="400"/>
              </a:spcBef>
              <a:spcAft>
                <a:spcPts val="0"/>
              </a:spcAft>
              <a:buSzPts val="1700"/>
              <a:buNone/>
            </a:pPr>
            <a:r>
              <a:rPr b="0" lang="vi-VN" sz="1700"/>
              <a:t>Khảo sát thực địa (field surveys)</a:t>
            </a:r>
            <a:endParaRPr b="0" sz="1700"/>
          </a:p>
          <a:p>
            <a:pPr indent="0" lvl="1" marL="462280" rtl="0" algn="just">
              <a:lnSpc>
                <a:spcPct val="120000"/>
              </a:lnSpc>
              <a:spcBef>
                <a:spcPts val="400"/>
              </a:spcBef>
              <a:spcAft>
                <a:spcPts val="0"/>
              </a:spcAft>
              <a:buSzPts val="1700"/>
              <a:buNone/>
            </a:pPr>
            <a:r>
              <a:rPr b="0" lang="vi-VN" sz="1700"/>
              <a:t>Bài tập về nhà và đồ án môn học (homework and project works)</a:t>
            </a:r>
            <a:endParaRPr b="0" sz="1700"/>
          </a:p>
          <a:p>
            <a:pPr indent="0" lvl="1" marL="462280" rtl="0" algn="just">
              <a:lnSpc>
                <a:spcPct val="120000"/>
              </a:lnSpc>
              <a:spcBef>
                <a:spcPts val="400"/>
              </a:spcBef>
              <a:spcAft>
                <a:spcPts val="0"/>
              </a:spcAft>
              <a:buSzPts val="1700"/>
              <a:buNone/>
            </a:pPr>
            <a:r>
              <a:rPr b="0" lang="vi-VN" sz="1700"/>
              <a:t>Bài giảng mời từ chuyên gia trong lĩnh vực thăm dò địa vật lý (invited lectures)</a:t>
            </a:r>
            <a:endParaRPr b="0" sz="1700"/>
          </a:p>
          <a:p>
            <a:pPr indent="-347345" lvl="0" marL="347345" rtl="0" algn="l">
              <a:lnSpc>
                <a:spcPct val="120000"/>
              </a:lnSpc>
              <a:spcBef>
                <a:spcPts val="400"/>
              </a:spcBef>
              <a:spcAft>
                <a:spcPts val="0"/>
              </a:spcAft>
              <a:buSzPts val="1800"/>
              <a:buChar char="❖"/>
            </a:pPr>
            <a:r>
              <a:rPr b="1" lang="vi-VN" sz="2000"/>
              <a:t>Tải học tập (Time distribution &amp; study load)</a:t>
            </a:r>
            <a:endParaRPr b="1" sz="2000"/>
          </a:p>
          <a:p>
            <a:pPr indent="0" lvl="1" marL="462280" rtl="0" algn="just">
              <a:lnSpc>
                <a:spcPct val="120000"/>
              </a:lnSpc>
              <a:spcBef>
                <a:spcPts val="800"/>
              </a:spcBef>
              <a:spcAft>
                <a:spcPts val="0"/>
              </a:spcAft>
              <a:buSzPts val="1700"/>
              <a:buNone/>
            </a:pPr>
            <a:r>
              <a:rPr b="0" lang="vi-VN" sz="1700"/>
              <a:t>Mỗi 1 giờ lên lớp, sinh viên cần dành tối thiểu 3 giờ tự học</a:t>
            </a:r>
            <a:endParaRPr b="0" sz="1700"/>
          </a:p>
        </p:txBody>
      </p:sp>
      <p:sp>
        <p:nvSpPr>
          <p:cNvPr id="368" name="Google Shape;368;p38"/>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9"/>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400"/>
              <a:t>HỆ THỐNG ĐÁNH GIÁ (GRADING SYSTEM)</a:t>
            </a:r>
            <a:endParaRPr/>
          </a:p>
        </p:txBody>
      </p:sp>
      <p:sp>
        <p:nvSpPr>
          <p:cNvPr id="374" name="Google Shape;374;p39"/>
          <p:cNvSpPr txBox="1"/>
          <p:nvPr>
            <p:ph idx="1" type="body"/>
          </p:nvPr>
        </p:nvSpPr>
        <p:spPr>
          <a:xfrm>
            <a:off x="457200" y="1280160"/>
            <a:ext cx="11247120" cy="9144"/>
          </a:xfrm>
          <a:prstGeom prst="rect">
            <a:avLst/>
          </a:prstGeom>
          <a:noFill/>
          <a:ln>
            <a:noFill/>
          </a:ln>
        </p:spPr>
        <p:txBody>
          <a:bodyPr anchorCtr="0" anchor="t" bIns="46025" lIns="0" spcFirstLastPara="1" rIns="0" wrap="square" tIns="46025">
            <a:noAutofit/>
          </a:bodyPr>
          <a:lstStyle/>
          <a:p>
            <a:pPr indent="-187643" lvl="0" marL="347663" rtl="0" algn="l">
              <a:lnSpc>
                <a:spcPct val="120000"/>
              </a:lnSpc>
              <a:spcBef>
                <a:spcPts val="0"/>
              </a:spcBef>
              <a:spcAft>
                <a:spcPts val="0"/>
              </a:spcAft>
              <a:buSzPts val="2520"/>
              <a:buNone/>
            </a:pPr>
            <a:r>
              <a:t/>
            </a:r>
            <a:endParaRPr/>
          </a:p>
        </p:txBody>
      </p:sp>
      <p:graphicFrame>
        <p:nvGraphicFramePr>
          <p:cNvPr id="375" name="Google Shape;375;p39"/>
          <p:cNvGraphicFramePr/>
          <p:nvPr/>
        </p:nvGraphicFramePr>
        <p:xfrm>
          <a:off x="502920" y="1417320"/>
          <a:ext cx="3000000" cy="3000000"/>
        </p:xfrm>
        <a:graphic>
          <a:graphicData uri="http://schemas.openxmlformats.org/drawingml/2006/table">
            <a:tbl>
              <a:tblPr bandRow="1" firstRow="1">
                <a:noFill/>
                <a:tableStyleId>{034895A6-C1AE-4BC2-889E-3C33AFCB4900}</a:tableStyleId>
              </a:tblPr>
              <a:tblGrid>
                <a:gridCol w="7467600"/>
                <a:gridCol w="3733800"/>
              </a:tblGrid>
              <a:tr h="457200">
                <a:tc>
                  <a:txBody>
                    <a:bodyPr/>
                    <a:lstStyle/>
                    <a:p>
                      <a:pPr indent="0" lvl="0" marL="0" marR="0" rtl="0" algn="ctr">
                        <a:spcBef>
                          <a:spcPts val="0"/>
                        </a:spcBef>
                        <a:spcAft>
                          <a:spcPts val="0"/>
                        </a:spcAft>
                        <a:buNone/>
                      </a:pPr>
                      <a:r>
                        <a:rPr b="1" lang="vi-VN" sz="1700">
                          <a:solidFill>
                            <a:srgbClr val="FFFFFF"/>
                          </a:solidFill>
                        </a:rPr>
                        <a:t>Hình thức đánh giá</a:t>
                      </a:r>
                      <a:endParaRPr/>
                    </a:p>
                  </a:txBody>
                  <a:tcPr marT="45725" marB="45725" marR="91450" marL="91450" anchor="ctr">
                    <a:solidFill>
                      <a:srgbClr val="1F4E79"/>
                    </a:solidFill>
                  </a:tcPr>
                </a:tc>
                <a:tc>
                  <a:txBody>
                    <a:bodyPr/>
                    <a:lstStyle/>
                    <a:p>
                      <a:pPr indent="0" lvl="0" marL="0" marR="0" rtl="0" algn="ctr">
                        <a:spcBef>
                          <a:spcPts val="0"/>
                        </a:spcBef>
                        <a:spcAft>
                          <a:spcPts val="0"/>
                        </a:spcAft>
                        <a:buNone/>
                      </a:pPr>
                      <a:r>
                        <a:rPr b="1" lang="vi-VN" sz="1700">
                          <a:solidFill>
                            <a:srgbClr val="FFFFFF"/>
                          </a:solidFill>
                        </a:rPr>
                        <a:t>Tỉ trọng</a:t>
                      </a:r>
                      <a:endParaRPr/>
                    </a:p>
                  </a:txBody>
                  <a:tcPr marT="45725" marB="45725" marR="91450" marL="91450" anchor="ctr">
                    <a:solidFill>
                      <a:srgbClr val="1F4E79"/>
                    </a:solidFill>
                  </a:tcPr>
                </a:tc>
              </a:tr>
              <a:tr h="457200">
                <a:tc>
                  <a:txBody>
                    <a:bodyPr/>
                    <a:lstStyle/>
                    <a:p>
                      <a:pPr indent="0" lvl="0" marL="0" marR="0" rtl="0" algn="l">
                        <a:spcBef>
                          <a:spcPts val="0"/>
                        </a:spcBef>
                        <a:spcAft>
                          <a:spcPts val="0"/>
                        </a:spcAft>
                        <a:buNone/>
                      </a:pPr>
                      <a:r>
                        <a:rPr lang="vi-VN" sz="1600">
                          <a:solidFill>
                            <a:srgbClr val="26313B"/>
                          </a:solidFill>
                        </a:rPr>
                        <a:t>Kiểm tra giữa kỳ (Mid-Semester Exam)</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vi-VN" sz="1600">
                          <a:solidFill>
                            <a:srgbClr val="26313B"/>
                          </a:solidFill>
                        </a:rPr>
                        <a:t>30%</a:t>
                      </a:r>
                      <a:endParaRPr/>
                    </a:p>
                  </a:txBody>
                  <a:tcPr marT="45725" marB="45725" marR="91450" marL="91450">
                    <a:solidFill>
                      <a:srgbClr val="FFFFFF"/>
                    </a:solidFill>
                  </a:tcPr>
                </a:tc>
              </a:tr>
              <a:tr h="457200">
                <a:tc>
                  <a:txBody>
                    <a:bodyPr/>
                    <a:lstStyle/>
                    <a:p>
                      <a:pPr indent="0" lvl="0" marL="0" marR="0" rtl="0" algn="l">
                        <a:spcBef>
                          <a:spcPts val="0"/>
                        </a:spcBef>
                        <a:spcAft>
                          <a:spcPts val="0"/>
                        </a:spcAft>
                        <a:buNone/>
                      </a:pPr>
                      <a:r>
                        <a:rPr lang="vi-VN" sz="1600">
                          <a:solidFill>
                            <a:srgbClr val="26313B"/>
                          </a:solidFill>
                        </a:rPr>
                        <a:t>Thi cuối kỳ (Final Exam)</a:t>
                      </a:r>
                      <a:endParaRPr/>
                    </a:p>
                  </a:txBody>
                  <a:tcPr marT="45725" marB="45725" marR="91450" marL="91450">
                    <a:solidFill>
                      <a:srgbClr val="E9F1F8"/>
                    </a:solidFill>
                  </a:tcPr>
                </a:tc>
                <a:tc>
                  <a:txBody>
                    <a:bodyPr/>
                    <a:lstStyle/>
                    <a:p>
                      <a:pPr indent="0" lvl="0" marL="0" marR="0" rtl="0" algn="l">
                        <a:spcBef>
                          <a:spcPts val="0"/>
                        </a:spcBef>
                        <a:spcAft>
                          <a:spcPts val="0"/>
                        </a:spcAft>
                        <a:buNone/>
                      </a:pPr>
                      <a:r>
                        <a:rPr lang="vi-VN" sz="1600">
                          <a:solidFill>
                            <a:srgbClr val="26313B"/>
                          </a:solidFill>
                        </a:rPr>
                        <a:t>40%</a:t>
                      </a:r>
                      <a:endParaRPr/>
                    </a:p>
                  </a:txBody>
                  <a:tcPr marT="45725" marB="45725" marR="91450" marL="91450">
                    <a:solidFill>
                      <a:srgbClr val="E9F1F8"/>
                    </a:solidFill>
                  </a:tcPr>
                </a:tc>
              </a:tr>
              <a:tr h="457200">
                <a:tc>
                  <a:txBody>
                    <a:bodyPr/>
                    <a:lstStyle/>
                    <a:p>
                      <a:pPr indent="0" lvl="0" marL="0" marR="0" rtl="0" algn="l">
                        <a:spcBef>
                          <a:spcPts val="0"/>
                        </a:spcBef>
                        <a:spcAft>
                          <a:spcPts val="0"/>
                        </a:spcAft>
                        <a:buNone/>
                      </a:pPr>
                      <a:r>
                        <a:rPr lang="vi-VN" sz="1600">
                          <a:solidFill>
                            <a:srgbClr val="26313B"/>
                          </a:solidFill>
                        </a:rPr>
                        <a:t>Bài tập (Homework)</a:t>
                      </a:r>
                      <a:endParaRPr/>
                    </a:p>
                  </a:txBody>
                  <a:tcPr marT="45725" marB="45725" marR="91450" marL="91450">
                    <a:solidFill>
                      <a:srgbClr val="FFFFFF"/>
                    </a:solidFill>
                  </a:tcPr>
                </a:tc>
                <a:tc>
                  <a:txBody>
                    <a:bodyPr/>
                    <a:lstStyle/>
                    <a:p>
                      <a:pPr indent="0" lvl="0" marL="0" marR="0" rtl="0" algn="l">
                        <a:spcBef>
                          <a:spcPts val="0"/>
                        </a:spcBef>
                        <a:spcAft>
                          <a:spcPts val="0"/>
                        </a:spcAft>
                        <a:buNone/>
                      </a:pPr>
                      <a:r>
                        <a:rPr lang="vi-VN" sz="1600">
                          <a:solidFill>
                            <a:srgbClr val="26313B"/>
                          </a:solidFill>
                        </a:rPr>
                        <a:t>20%</a:t>
                      </a:r>
                      <a:endParaRPr/>
                    </a:p>
                  </a:txBody>
                  <a:tcPr marT="45725" marB="45725" marR="91450" marL="91450">
                    <a:solidFill>
                      <a:srgbClr val="FFFFFF"/>
                    </a:solidFill>
                  </a:tcPr>
                </a:tc>
              </a:tr>
              <a:tr h="457200">
                <a:tc>
                  <a:txBody>
                    <a:bodyPr/>
                    <a:lstStyle/>
                    <a:p>
                      <a:pPr indent="0" lvl="0" marL="0" marR="0" rtl="0" algn="l">
                        <a:spcBef>
                          <a:spcPts val="0"/>
                        </a:spcBef>
                        <a:spcAft>
                          <a:spcPts val="0"/>
                        </a:spcAft>
                        <a:buNone/>
                      </a:pPr>
                      <a:r>
                        <a:rPr lang="vi-VN" sz="1600">
                          <a:solidFill>
                            <a:srgbClr val="26313B"/>
                          </a:solidFill>
                        </a:rPr>
                        <a:t>Đồ án &amp; thuyết trình (Project and presentation)</a:t>
                      </a:r>
                      <a:endParaRPr/>
                    </a:p>
                  </a:txBody>
                  <a:tcPr marT="45725" marB="45725" marR="91450" marL="91450">
                    <a:solidFill>
                      <a:srgbClr val="E9F1F8"/>
                    </a:solidFill>
                  </a:tcPr>
                </a:tc>
                <a:tc>
                  <a:txBody>
                    <a:bodyPr/>
                    <a:lstStyle/>
                    <a:p>
                      <a:pPr indent="0" lvl="0" marL="0" marR="0" rtl="0" algn="l">
                        <a:spcBef>
                          <a:spcPts val="0"/>
                        </a:spcBef>
                        <a:spcAft>
                          <a:spcPts val="0"/>
                        </a:spcAft>
                        <a:buNone/>
                      </a:pPr>
                      <a:r>
                        <a:rPr lang="vi-VN" sz="1600">
                          <a:solidFill>
                            <a:srgbClr val="26313B"/>
                          </a:solidFill>
                        </a:rPr>
                        <a:t>10%</a:t>
                      </a:r>
                      <a:endParaRPr/>
                    </a:p>
                  </a:txBody>
                  <a:tcPr marT="45725" marB="45725" marR="91450" marL="91450">
                    <a:solidFill>
                      <a:srgbClr val="E9F1F8"/>
                    </a:solidFill>
                  </a:tcPr>
                </a:tc>
              </a:tr>
            </a:tbl>
          </a:graphicData>
        </a:graphic>
      </p:graphicFrame>
      <p:sp>
        <p:nvSpPr>
          <p:cNvPr id="376" name="Google Shape;376;p39"/>
          <p:cNvSpPr txBox="1"/>
          <p:nvPr/>
        </p:nvSpPr>
        <p:spPr>
          <a:xfrm>
            <a:off x="502920" y="3840480"/>
            <a:ext cx="112014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vi-VN" sz="1150">
                <a:solidFill>
                  <a:srgbClr val="002060"/>
                </a:solidFill>
                <a:latin typeface="Arial"/>
                <a:ea typeface="Arial"/>
                <a:cs typeface="Arial"/>
                <a:sym typeface="Arial"/>
              </a:rPr>
              <a:t>Hình thức thi: thi đóng sách (Closed-book exam)</a:t>
            </a:r>
            <a:endParaRPr/>
          </a:p>
        </p:txBody>
      </p:sp>
      <p:sp>
        <p:nvSpPr>
          <p:cNvPr id="377" name="Google Shape;377;p39"/>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0"/>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400"/>
              <a:t>GIÁO TRÌNH CHÍNH (TEXTBOOKS)</a:t>
            </a:r>
            <a:endParaRPr/>
          </a:p>
        </p:txBody>
      </p:sp>
      <p:sp>
        <p:nvSpPr>
          <p:cNvPr id="383" name="Google Shape;383;p40"/>
          <p:cNvSpPr txBox="1"/>
          <p:nvPr>
            <p:ph idx="1" type="body"/>
          </p:nvPr>
        </p:nvSpPr>
        <p:spPr>
          <a:xfrm>
            <a:off x="594360" y="1298448"/>
            <a:ext cx="10972800" cy="5193792"/>
          </a:xfrm>
          <a:prstGeom prst="rect">
            <a:avLst/>
          </a:prstGeom>
          <a:noFill/>
          <a:ln>
            <a:noFill/>
          </a:ln>
        </p:spPr>
        <p:txBody>
          <a:bodyPr anchorCtr="0" anchor="t" bIns="46025" lIns="0" spcFirstLastPara="1" rIns="0" wrap="square" tIns="46025">
            <a:noAutofit/>
          </a:bodyPr>
          <a:lstStyle/>
          <a:p>
            <a:pPr indent="-347663" lvl="0" marL="347663" rtl="0" algn="l">
              <a:lnSpc>
                <a:spcPct val="120000"/>
              </a:lnSpc>
              <a:spcBef>
                <a:spcPts val="0"/>
              </a:spcBef>
              <a:spcAft>
                <a:spcPts val="0"/>
              </a:spcAft>
              <a:buSzPts val="1800"/>
              <a:buChar char="❖"/>
            </a:pPr>
            <a:r>
              <a:rPr b="0" lang="vi-VN" sz="2000"/>
              <a:t>Giao P. H. (2025), Lecture notes of Applied Geophysics, PetroVietnam University (PVU), HCM City, Vietnam.</a:t>
            </a:r>
            <a:endParaRPr/>
          </a:p>
          <a:p>
            <a:pPr indent="-347663" lvl="0" marL="347663" rtl="0" algn="l">
              <a:lnSpc>
                <a:spcPct val="120000"/>
              </a:lnSpc>
              <a:spcBef>
                <a:spcPts val="800"/>
              </a:spcBef>
              <a:spcAft>
                <a:spcPts val="0"/>
              </a:spcAft>
              <a:buSzPts val="1800"/>
              <a:buChar char="❖"/>
            </a:pPr>
            <a:r>
              <a:rPr b="0" lang="vi-VN" sz="2000"/>
              <a:t>Burger H. R., Sheehan A. F. and Jones C. H. (2004), Introduction to Applied Geophysics — Exploring the Shallow Subsurface, W. W. Norton &amp; Company, 554 p.</a:t>
            </a:r>
            <a:endParaRPr/>
          </a:p>
          <a:p>
            <a:pPr indent="-347663" lvl="0" marL="347663" rtl="0" algn="l">
              <a:lnSpc>
                <a:spcPct val="120000"/>
              </a:lnSpc>
              <a:spcBef>
                <a:spcPts val="800"/>
              </a:spcBef>
              <a:spcAft>
                <a:spcPts val="0"/>
              </a:spcAft>
              <a:buSzPts val="1800"/>
              <a:buChar char="❖"/>
            </a:pPr>
            <a:r>
              <a:rPr b="0" lang="vi-VN" sz="2000"/>
              <a:t>SEGJ (2014), Application Manual of Geophysical Methods to Engineering and Environmental Problems, Ed. by the Society of Exploration Geophysicists of Japan (SEGJ), 661 p., EAGE.</a:t>
            </a:r>
            <a:endParaRPr/>
          </a:p>
        </p:txBody>
      </p:sp>
      <p:sp>
        <p:nvSpPr>
          <p:cNvPr id="384" name="Google Shape;384;p40"/>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1"/>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400"/>
              <a:t>TÀI LIỆU THAM KHẢO — PHẦN 1</a:t>
            </a:r>
            <a:endParaRPr/>
          </a:p>
        </p:txBody>
      </p:sp>
      <p:sp>
        <p:nvSpPr>
          <p:cNvPr id="390" name="Google Shape;390;p41"/>
          <p:cNvSpPr txBox="1"/>
          <p:nvPr>
            <p:ph idx="1" type="body"/>
          </p:nvPr>
        </p:nvSpPr>
        <p:spPr>
          <a:xfrm>
            <a:off x="594360" y="1298448"/>
            <a:ext cx="10972800" cy="5193792"/>
          </a:xfrm>
          <a:prstGeom prst="rect">
            <a:avLst/>
          </a:prstGeom>
          <a:noFill/>
          <a:ln>
            <a:noFill/>
          </a:ln>
        </p:spPr>
        <p:txBody>
          <a:bodyPr anchorCtr="0" anchor="t" bIns="46025" lIns="0" spcFirstLastPara="1" rIns="0" wrap="square" tIns="46025">
            <a:noAutofit/>
          </a:bodyPr>
          <a:lstStyle/>
          <a:p>
            <a:pPr indent="0" lvl="0" marL="0" rtl="0" algn="l">
              <a:lnSpc>
                <a:spcPct val="120000"/>
              </a:lnSpc>
              <a:spcBef>
                <a:spcPts val="0"/>
              </a:spcBef>
              <a:spcAft>
                <a:spcPts val="0"/>
              </a:spcAft>
              <a:buSzPts val="1530"/>
              <a:buNone/>
            </a:pPr>
            <a:r>
              <a:rPr b="0" lang="vi-VN" sz="1700"/>
              <a:t>[1] Ellis D. V. (1987), Well Logging for Earth Scientists, New York, Elsevier, 532 p.</a:t>
            </a:r>
            <a:endParaRPr/>
          </a:p>
          <a:p>
            <a:pPr indent="0" lvl="0" marL="0" rtl="0" algn="l">
              <a:lnSpc>
                <a:spcPct val="120000"/>
              </a:lnSpc>
              <a:spcBef>
                <a:spcPts val="800"/>
              </a:spcBef>
              <a:spcAft>
                <a:spcPts val="0"/>
              </a:spcAft>
              <a:buSzPts val="1530"/>
              <a:buNone/>
            </a:pPr>
            <a:r>
              <a:rPr b="0" lang="vi-VN" sz="1700"/>
              <a:t>[2] Eskola L. (1992), Geophysical Interpretation Using Integral Equations, London, 191 p.</a:t>
            </a:r>
            <a:endParaRPr b="0" sz="1700"/>
          </a:p>
          <a:p>
            <a:pPr indent="0" lvl="0" marL="0" rtl="0" algn="l">
              <a:lnSpc>
                <a:spcPct val="120000"/>
              </a:lnSpc>
              <a:spcBef>
                <a:spcPts val="800"/>
              </a:spcBef>
              <a:spcAft>
                <a:spcPts val="0"/>
              </a:spcAft>
              <a:buSzPts val="1530"/>
              <a:buNone/>
            </a:pPr>
            <a:r>
              <a:rPr b="0" lang="vi-VN" sz="1700"/>
              <a:t>[3] Heiland C. A. (1963), Geophysical Exploration, Hafner Publishing Company, 1013 p.</a:t>
            </a:r>
            <a:endParaRPr b="0" sz="1700"/>
          </a:p>
          <a:p>
            <a:pPr indent="0" lvl="0" marL="0" rtl="0" algn="l">
              <a:lnSpc>
                <a:spcPct val="120000"/>
              </a:lnSpc>
              <a:spcBef>
                <a:spcPts val="800"/>
              </a:spcBef>
              <a:spcAft>
                <a:spcPts val="0"/>
              </a:spcAft>
              <a:buSzPts val="1530"/>
              <a:buNone/>
            </a:pPr>
            <a:r>
              <a:rPr b="0" lang="vi-VN" sz="1700"/>
              <a:t>[4] Jahn F., Cook M. and Graham M. (2003), Hydrocarbon Exploration and Production, Elsevier.</a:t>
            </a:r>
            <a:endParaRPr b="0" sz="1700"/>
          </a:p>
          <a:p>
            <a:pPr indent="0" lvl="0" marL="0" rtl="0" algn="l">
              <a:lnSpc>
                <a:spcPct val="120000"/>
              </a:lnSpc>
              <a:spcBef>
                <a:spcPts val="800"/>
              </a:spcBef>
              <a:spcAft>
                <a:spcPts val="0"/>
              </a:spcAft>
              <a:buSzPts val="1530"/>
              <a:buNone/>
            </a:pPr>
            <a:r>
              <a:rPr b="0" lang="vi-VN" sz="1700"/>
              <a:t>[5] Liner C. L. (2004), Elements of 3D Seismology, 2nd Edition, PennWell, 608 p.</a:t>
            </a:r>
            <a:endParaRPr b="0" sz="1700"/>
          </a:p>
          <a:p>
            <a:pPr indent="0" lvl="0" marL="0" rtl="0" algn="l">
              <a:lnSpc>
                <a:spcPct val="120000"/>
              </a:lnSpc>
              <a:spcBef>
                <a:spcPts val="800"/>
              </a:spcBef>
              <a:spcAft>
                <a:spcPts val="0"/>
              </a:spcAft>
              <a:buSzPts val="1530"/>
              <a:buNone/>
            </a:pPr>
            <a:r>
              <a:rPr b="0" lang="vi-VN" sz="1700"/>
              <a:t>[6] Telford W. M., Geldart L. P., Sheriff R. E., and Keys D. A. (1976), Applied Geophysics, Cambridge University Press, 860 p.</a:t>
            </a:r>
            <a:endParaRPr b="0" sz="1700"/>
          </a:p>
          <a:p>
            <a:pPr indent="0" lvl="0" marL="0" rtl="0" algn="l">
              <a:lnSpc>
                <a:spcPct val="120000"/>
              </a:lnSpc>
              <a:spcBef>
                <a:spcPts val="800"/>
              </a:spcBef>
              <a:spcAft>
                <a:spcPts val="0"/>
              </a:spcAft>
              <a:buSzPts val="1530"/>
              <a:buNone/>
            </a:pPr>
            <a:r>
              <a:rPr b="0" lang="vi-VN" sz="1700"/>
              <a:t>7] Young R. A. (2006), A Lab Manual of Seismic Reflection Processing, EAGE Publications.</a:t>
            </a:r>
            <a:endParaRPr b="0" sz="1700"/>
          </a:p>
        </p:txBody>
      </p:sp>
      <p:sp>
        <p:nvSpPr>
          <p:cNvPr id="391" name="Google Shape;391;p41"/>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2"/>
          <p:cNvSpPr txBox="1"/>
          <p:nvPr>
            <p:ph type="title"/>
          </p:nvPr>
        </p:nvSpPr>
        <p:spPr>
          <a:xfrm>
            <a:off x="1965960" y="73152"/>
            <a:ext cx="10012680" cy="1097280"/>
          </a:xfrm>
          <a:prstGeom prst="rect">
            <a:avLst/>
          </a:prstGeom>
          <a:noFill/>
          <a:ln>
            <a:noFill/>
          </a:ln>
        </p:spPr>
        <p:txBody>
          <a:bodyPr anchorCtr="0" anchor="t" bIns="46025" lIns="92075" spcFirstLastPara="1" rIns="92075" wrap="square" tIns="46025">
            <a:normAutofit/>
          </a:bodyPr>
          <a:lstStyle/>
          <a:p>
            <a:pPr indent="0" lvl="0" marL="0" rtl="0" algn="r">
              <a:spcBef>
                <a:spcPts val="0"/>
              </a:spcBef>
              <a:spcAft>
                <a:spcPts val="0"/>
              </a:spcAft>
              <a:buNone/>
            </a:pPr>
            <a:r>
              <a:rPr lang="vi-VN" sz="3400"/>
              <a:t>TÀI LIỆU THAM KHẢO — PHẦN 2</a:t>
            </a:r>
            <a:endParaRPr/>
          </a:p>
        </p:txBody>
      </p:sp>
      <p:sp>
        <p:nvSpPr>
          <p:cNvPr id="397" name="Google Shape;397;p42"/>
          <p:cNvSpPr txBox="1"/>
          <p:nvPr>
            <p:ph idx="1" type="body"/>
          </p:nvPr>
        </p:nvSpPr>
        <p:spPr>
          <a:xfrm>
            <a:off x="594360" y="1298448"/>
            <a:ext cx="10972800" cy="5193792"/>
          </a:xfrm>
          <a:prstGeom prst="rect">
            <a:avLst/>
          </a:prstGeom>
          <a:noFill/>
          <a:ln>
            <a:noFill/>
          </a:ln>
        </p:spPr>
        <p:txBody>
          <a:bodyPr anchorCtr="0" anchor="t" bIns="46025" lIns="0" spcFirstLastPara="1" rIns="0" wrap="square" tIns="46025">
            <a:noAutofit/>
          </a:bodyPr>
          <a:lstStyle/>
          <a:p>
            <a:pPr indent="-347345" lvl="0" marL="347345" rtl="0" algn="l">
              <a:lnSpc>
                <a:spcPct val="120000"/>
              </a:lnSpc>
              <a:spcBef>
                <a:spcPts val="0"/>
              </a:spcBef>
              <a:spcAft>
                <a:spcPts val="0"/>
              </a:spcAft>
              <a:buSzPts val="1800"/>
              <a:buChar char="❖"/>
            </a:pPr>
            <a:r>
              <a:rPr b="1" lang="vi-VN" sz="2000"/>
              <a:t>Tạp chí chuyên ngành (Journals and Magazines)</a:t>
            </a:r>
            <a:endParaRPr/>
          </a:p>
          <a:p>
            <a:pPr indent="0" lvl="1" marL="462280" rtl="0" algn="just">
              <a:lnSpc>
                <a:spcPct val="120000"/>
              </a:lnSpc>
              <a:spcBef>
                <a:spcPts val="800"/>
              </a:spcBef>
              <a:spcAft>
                <a:spcPts val="0"/>
              </a:spcAft>
              <a:buSzPts val="1700"/>
              <a:buNone/>
            </a:pPr>
            <a:r>
              <a:rPr b="0" lang="vi-VN" sz="1700"/>
              <a:t>Applied Geophysics · Geophysical Prospecting · Geophysics · Geophysical Surveys · Near-Surface Geophysics · Groundwater · Engineering Geology</a:t>
            </a:r>
            <a:endParaRPr b="0" sz="1700"/>
          </a:p>
          <a:p>
            <a:pPr indent="-347345" lvl="0" marL="347345" rtl="0" algn="l">
              <a:lnSpc>
                <a:spcPct val="120000"/>
              </a:lnSpc>
              <a:spcBef>
                <a:spcPts val="400"/>
              </a:spcBef>
              <a:spcAft>
                <a:spcPts val="0"/>
              </a:spcAft>
              <a:buSzPts val="1800"/>
              <a:buChar char="❖"/>
            </a:pPr>
            <a:r>
              <a:rPr b="1" lang="vi-VN" sz="2000"/>
              <a:t>Phần mềm chuyên dụng (Software)</a:t>
            </a:r>
            <a:endParaRPr b="1" sz="2000"/>
          </a:p>
          <a:p>
            <a:pPr indent="0" lvl="1" marL="462280" rtl="0" algn="just">
              <a:lnSpc>
                <a:spcPct val="120000"/>
              </a:lnSpc>
              <a:spcBef>
                <a:spcPts val="800"/>
              </a:spcBef>
              <a:spcAft>
                <a:spcPts val="0"/>
              </a:spcAft>
              <a:buSzPts val="1700"/>
              <a:buNone/>
            </a:pPr>
            <a:r>
              <a:rPr b="0" lang="vi-VN" sz="1700"/>
              <a:t>Seismic Unix (SU) — xử lý dữ liệu địa chấn mã nguồn mở</a:t>
            </a:r>
            <a:endParaRPr b="0" sz="1700"/>
          </a:p>
          <a:p>
            <a:pPr indent="0" lvl="1" marL="462280" rtl="0" algn="just">
              <a:lnSpc>
                <a:spcPct val="120000"/>
              </a:lnSpc>
              <a:spcBef>
                <a:spcPts val="400"/>
              </a:spcBef>
              <a:spcAft>
                <a:spcPts val="0"/>
              </a:spcAft>
              <a:buSzPts val="1700"/>
              <a:buNone/>
            </a:pPr>
            <a:r>
              <a:rPr b="0" lang="vi-VN" sz="1700"/>
              <a:t>OpendTect của dGB Earth Sciences — minh giải địa chấn</a:t>
            </a:r>
            <a:endParaRPr b="0" sz="1700"/>
          </a:p>
          <a:p>
            <a:pPr indent="0" lvl="1" marL="462280" rtl="0" algn="just">
              <a:lnSpc>
                <a:spcPct val="120000"/>
              </a:lnSpc>
              <a:spcBef>
                <a:spcPts val="400"/>
              </a:spcBef>
              <a:spcAft>
                <a:spcPts val="0"/>
              </a:spcAft>
              <a:buSzPts val="1700"/>
              <a:buNone/>
            </a:pPr>
            <a:r>
              <a:rPr b="0" lang="vi-VN" sz="1700"/>
              <a:t>Petrel (Schlumberger) — mô hình hóa và minh giải tích hợp</a:t>
            </a:r>
            <a:endParaRPr b="0" sz="1700"/>
          </a:p>
        </p:txBody>
      </p:sp>
      <p:sp>
        <p:nvSpPr>
          <p:cNvPr id="398" name="Google Shape;398;p42"/>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1" lang="vi-VN" sz="1400">
                <a:solidFill>
                  <a:srgbClr val="336699"/>
                </a:solidFill>
              </a:rPr>
              <a:t>‹#›</a:t>
            </a:fld>
            <a:endParaRPr sz="14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3"/>
          <p:cNvSpPr txBox="1"/>
          <p:nvPr/>
        </p:nvSpPr>
        <p:spPr>
          <a:xfrm>
            <a:off x="914400" y="2743200"/>
            <a:ext cx="10360152" cy="1371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vi-VN" sz="4000">
                <a:solidFill>
                  <a:srgbClr val="1F4E79"/>
                </a:solidFill>
                <a:latin typeface="Arial"/>
                <a:ea typeface="Arial"/>
                <a:cs typeface="Arial"/>
                <a:sym typeface="Arial"/>
              </a:rPr>
              <a:t>Cảm ơn thầy cô và các bạn đã lắng nghe!</a:t>
            </a:r>
            <a:endParaRPr/>
          </a:p>
        </p:txBody>
      </p:sp>
      <p:sp>
        <p:nvSpPr>
          <p:cNvPr id="404" name="Google Shape;404;p43"/>
          <p:cNvSpPr txBox="1"/>
          <p:nvPr>
            <p:ph idx="12" type="sldNum"/>
          </p:nvPr>
        </p:nvSpPr>
        <p:spPr>
          <a:xfrm>
            <a:off x="11231857" y="6515100"/>
            <a:ext cx="806451" cy="31114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1" lang="vi-VN" sz="1400">
                <a:solidFill>
                  <a:srgbClr val="336699"/>
                </a:solidFill>
                <a:latin typeface="Arial"/>
                <a:ea typeface="Arial"/>
                <a:cs typeface="Arial"/>
                <a:sym typeface="Arial"/>
              </a:rPr>
              <a:t>‹#›</a:t>
            </a:fld>
            <a:endParaRPr sz="14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03.1. Mau template-PVU">
  <a:themeElements>
    <a:clrScheme name="Template 5">
      <a:dk1>
        <a:srgbClr val="336699"/>
      </a:dk1>
      <a:lt1>
        <a:srgbClr val="FFFFFF"/>
      </a:lt1>
      <a:dk2>
        <a:srgbClr val="0066FF"/>
      </a:dk2>
      <a:lt2>
        <a:srgbClr val="AFB5D2"/>
      </a:lt2>
      <a:accent1>
        <a:srgbClr val="66CCFF"/>
      </a:accent1>
      <a:accent2>
        <a:srgbClr val="99FFCC"/>
      </a:accent2>
      <a:accent3>
        <a:srgbClr val="FFFFFF"/>
      </a:accent3>
      <a:accent4>
        <a:srgbClr val="2A5682"/>
      </a:accent4>
      <a:accent5>
        <a:srgbClr val="B8E2FF"/>
      </a:accent5>
      <a:accent6>
        <a:srgbClr val="8AE7B9"/>
      </a:accent6>
      <a:hlink>
        <a:srgbClr val="000000"/>
      </a:hlink>
      <a:folHlink>
        <a:srgbClr val="77777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